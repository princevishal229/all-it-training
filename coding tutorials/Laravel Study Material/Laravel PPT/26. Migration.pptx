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6" r:id="rId2"/>
    <p:sldId id="277" r:id="rId3"/>
    <p:sldId id="308" r:id="rId4"/>
    <p:sldId id="278" r:id="rId5"/>
    <p:sldId id="279" r:id="rId6"/>
    <p:sldId id="280" r:id="rId7"/>
    <p:sldId id="281" r:id="rId8"/>
    <p:sldId id="282" r:id="rId9"/>
    <p:sldId id="309" r:id="rId10"/>
    <p:sldId id="283" r:id="rId11"/>
    <p:sldId id="285" r:id="rId12"/>
    <p:sldId id="286" r:id="rId13"/>
    <p:sldId id="289" r:id="rId14"/>
    <p:sldId id="290" r:id="rId15"/>
    <p:sldId id="291" r:id="rId16"/>
    <p:sldId id="292" r:id="rId17"/>
    <p:sldId id="287" r:id="rId18"/>
    <p:sldId id="288" r:id="rId19"/>
    <p:sldId id="284" r:id="rId20"/>
    <p:sldId id="299" r:id="rId21"/>
    <p:sldId id="293" r:id="rId22"/>
    <p:sldId id="294" r:id="rId23"/>
    <p:sldId id="295" r:id="rId24"/>
    <p:sldId id="296" r:id="rId25"/>
    <p:sldId id="297" r:id="rId26"/>
    <p:sldId id="298" r:id="rId27"/>
    <p:sldId id="300" r:id="rId28"/>
    <p:sldId id="301" r:id="rId29"/>
    <p:sldId id="302" r:id="rId30"/>
    <p:sldId id="303" r:id="rId31"/>
    <p:sldId id="304" r:id="rId32"/>
    <p:sldId id="305" r:id="rId33"/>
    <p:sldId id="306" r:id="rId34"/>
    <p:sldId id="307"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51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C3F35-3C31-4FCC-B762-8FA83DB948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C11F85-AF32-484E-B7DE-BAD2167DF4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17C33E-110C-43CE-8805-5FD96AF6EB41}"/>
              </a:ext>
            </a:extLst>
          </p:cNvPr>
          <p:cNvSpPr>
            <a:spLocks noGrp="1"/>
          </p:cNvSpPr>
          <p:nvPr>
            <p:ph type="dt" sz="half" idx="10"/>
          </p:nvPr>
        </p:nvSpPr>
        <p:spPr/>
        <p:txBody>
          <a:bodyPr/>
          <a:lstStyle/>
          <a:p>
            <a:fld id="{D6424074-C14C-4063-9727-25396F45EE8B}" type="datetimeFigureOut">
              <a:rPr lang="en-US" smtClean="0"/>
              <a:t>4/6/2021</a:t>
            </a:fld>
            <a:endParaRPr lang="en-US"/>
          </a:p>
        </p:txBody>
      </p:sp>
      <p:sp>
        <p:nvSpPr>
          <p:cNvPr id="5" name="Footer Placeholder 4">
            <a:extLst>
              <a:ext uri="{FF2B5EF4-FFF2-40B4-BE49-F238E27FC236}">
                <a16:creationId xmlns:a16="http://schemas.microsoft.com/office/drawing/2014/main" id="{C41E970A-36AA-461D-BFF5-A7073A89A8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824AC1-CF3D-4264-B44C-4AC3694EAFFB}"/>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786153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D500-4B8D-424C-8E02-B591E74EC5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EC130C-93BE-4086-A02D-A4D7DF5A46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B33FFA-4982-4138-A83F-360E42BC9F3D}"/>
              </a:ext>
            </a:extLst>
          </p:cNvPr>
          <p:cNvSpPr>
            <a:spLocks noGrp="1"/>
          </p:cNvSpPr>
          <p:nvPr>
            <p:ph type="dt" sz="half" idx="10"/>
          </p:nvPr>
        </p:nvSpPr>
        <p:spPr/>
        <p:txBody>
          <a:bodyPr/>
          <a:lstStyle/>
          <a:p>
            <a:fld id="{D6424074-C14C-4063-9727-25396F45EE8B}" type="datetimeFigureOut">
              <a:rPr lang="en-US" smtClean="0"/>
              <a:t>4/6/2021</a:t>
            </a:fld>
            <a:endParaRPr lang="en-US"/>
          </a:p>
        </p:txBody>
      </p:sp>
      <p:sp>
        <p:nvSpPr>
          <p:cNvPr id="5" name="Footer Placeholder 4">
            <a:extLst>
              <a:ext uri="{FF2B5EF4-FFF2-40B4-BE49-F238E27FC236}">
                <a16:creationId xmlns:a16="http://schemas.microsoft.com/office/drawing/2014/main" id="{F6E70961-FF6B-4014-ABD0-D52345560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84993-0B9F-4D18-A786-A001E4813A34}"/>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01319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9AFEF-9148-490C-A07D-66025A3890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F19A05-8FC1-4F08-A6DF-48B5588EC6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06C234-7D79-4017-A28E-009351AFBF7A}"/>
              </a:ext>
            </a:extLst>
          </p:cNvPr>
          <p:cNvSpPr>
            <a:spLocks noGrp="1"/>
          </p:cNvSpPr>
          <p:nvPr>
            <p:ph type="dt" sz="half" idx="10"/>
          </p:nvPr>
        </p:nvSpPr>
        <p:spPr/>
        <p:txBody>
          <a:bodyPr/>
          <a:lstStyle/>
          <a:p>
            <a:fld id="{D6424074-C14C-4063-9727-25396F45EE8B}" type="datetimeFigureOut">
              <a:rPr lang="en-US" smtClean="0"/>
              <a:t>4/6/2021</a:t>
            </a:fld>
            <a:endParaRPr lang="en-US"/>
          </a:p>
        </p:txBody>
      </p:sp>
      <p:sp>
        <p:nvSpPr>
          <p:cNvPr id="5" name="Footer Placeholder 4">
            <a:extLst>
              <a:ext uri="{FF2B5EF4-FFF2-40B4-BE49-F238E27FC236}">
                <a16:creationId xmlns:a16="http://schemas.microsoft.com/office/drawing/2014/main" id="{24E09164-4C4A-4127-B3F2-BB08C8341E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D9619-5D24-4157-A6FD-5834D0A22E4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269312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FB17-9AD1-4F3B-AA4E-56593842DE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C4D886-9A3F-42F3-AB90-9B4FCED533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D4B41A-A242-49E8-8BC4-FCD743948B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2A4D90-D5C8-487E-B4C9-B9DE8D5915F6}"/>
              </a:ext>
            </a:extLst>
          </p:cNvPr>
          <p:cNvSpPr>
            <a:spLocks noGrp="1"/>
          </p:cNvSpPr>
          <p:nvPr>
            <p:ph type="dt" sz="half" idx="10"/>
          </p:nvPr>
        </p:nvSpPr>
        <p:spPr/>
        <p:txBody>
          <a:bodyPr/>
          <a:lstStyle/>
          <a:p>
            <a:fld id="{D6424074-C14C-4063-9727-25396F45EE8B}" type="datetimeFigureOut">
              <a:rPr lang="en-US" smtClean="0"/>
              <a:t>4/6/2021</a:t>
            </a:fld>
            <a:endParaRPr lang="en-US"/>
          </a:p>
        </p:txBody>
      </p:sp>
      <p:sp>
        <p:nvSpPr>
          <p:cNvPr id="6" name="Footer Placeholder 5">
            <a:extLst>
              <a:ext uri="{FF2B5EF4-FFF2-40B4-BE49-F238E27FC236}">
                <a16:creationId xmlns:a16="http://schemas.microsoft.com/office/drawing/2014/main" id="{596AE19E-19C8-4D55-9148-C3B99134A6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966303-18AD-4792-A099-E495F2C519C3}"/>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304587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7564-7E6D-44C1-8EAE-6A4E965C25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E3F7CD-9F80-48DE-AC2D-8C68C18BCC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0FAB47-FABF-4808-B75D-EE89F7DDCE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A02129-2ED0-4522-9D50-7E1E317320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1CDBFA-5E0F-4440-971C-EA63B08383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005AA4-F250-48C7-A79B-B9159994BE7C}"/>
              </a:ext>
            </a:extLst>
          </p:cNvPr>
          <p:cNvSpPr>
            <a:spLocks noGrp="1"/>
          </p:cNvSpPr>
          <p:nvPr>
            <p:ph type="dt" sz="half" idx="10"/>
          </p:nvPr>
        </p:nvSpPr>
        <p:spPr/>
        <p:txBody>
          <a:bodyPr/>
          <a:lstStyle/>
          <a:p>
            <a:fld id="{D6424074-C14C-4063-9727-25396F45EE8B}" type="datetimeFigureOut">
              <a:rPr lang="en-US" smtClean="0"/>
              <a:t>4/6/2021</a:t>
            </a:fld>
            <a:endParaRPr lang="en-US"/>
          </a:p>
        </p:txBody>
      </p:sp>
      <p:sp>
        <p:nvSpPr>
          <p:cNvPr id="8" name="Footer Placeholder 7">
            <a:extLst>
              <a:ext uri="{FF2B5EF4-FFF2-40B4-BE49-F238E27FC236}">
                <a16:creationId xmlns:a16="http://schemas.microsoft.com/office/drawing/2014/main" id="{A32781D2-D5BD-480F-BB83-53C263FB8D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C12F3E-3AE8-47A7-BA0C-210DE2BE59AE}"/>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437172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CDEC-80DD-44FD-87ED-767C2FA308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292CCD-4B75-45FB-98A6-7358737527E3}"/>
              </a:ext>
            </a:extLst>
          </p:cNvPr>
          <p:cNvSpPr>
            <a:spLocks noGrp="1"/>
          </p:cNvSpPr>
          <p:nvPr>
            <p:ph type="dt" sz="half" idx="10"/>
          </p:nvPr>
        </p:nvSpPr>
        <p:spPr/>
        <p:txBody>
          <a:bodyPr/>
          <a:lstStyle/>
          <a:p>
            <a:fld id="{D6424074-C14C-4063-9727-25396F45EE8B}" type="datetimeFigureOut">
              <a:rPr lang="en-US" smtClean="0"/>
              <a:t>4/6/2021</a:t>
            </a:fld>
            <a:endParaRPr lang="en-US"/>
          </a:p>
        </p:txBody>
      </p:sp>
      <p:sp>
        <p:nvSpPr>
          <p:cNvPr id="4" name="Footer Placeholder 3">
            <a:extLst>
              <a:ext uri="{FF2B5EF4-FFF2-40B4-BE49-F238E27FC236}">
                <a16:creationId xmlns:a16="http://schemas.microsoft.com/office/drawing/2014/main" id="{8C9243F9-A523-4595-950A-A86EFB8DA9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68C2E0-2E4D-4B36-979D-F2375420BBBA}"/>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041280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E46FD8-EC6C-42A7-98E1-FC56EEE826C4}"/>
              </a:ext>
            </a:extLst>
          </p:cNvPr>
          <p:cNvSpPr>
            <a:spLocks noGrp="1"/>
          </p:cNvSpPr>
          <p:nvPr>
            <p:ph type="dt" sz="half" idx="10"/>
          </p:nvPr>
        </p:nvSpPr>
        <p:spPr/>
        <p:txBody>
          <a:bodyPr/>
          <a:lstStyle/>
          <a:p>
            <a:fld id="{D6424074-C14C-4063-9727-25396F45EE8B}" type="datetimeFigureOut">
              <a:rPr lang="en-US" smtClean="0"/>
              <a:t>4/6/2021</a:t>
            </a:fld>
            <a:endParaRPr lang="en-US"/>
          </a:p>
        </p:txBody>
      </p:sp>
      <p:sp>
        <p:nvSpPr>
          <p:cNvPr id="3" name="Footer Placeholder 2">
            <a:extLst>
              <a:ext uri="{FF2B5EF4-FFF2-40B4-BE49-F238E27FC236}">
                <a16:creationId xmlns:a16="http://schemas.microsoft.com/office/drawing/2014/main" id="{B9E0800C-B826-41B4-A243-B36296B649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E187CB-862A-46BE-A68E-D4A82FE94C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146676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8E107-3892-4E64-BDDA-CDF25A25C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4A345D-808F-4F5C-A693-EE1BD803D6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EB5494-E2C2-4E1A-A55C-B6F965B43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032549-0479-4245-9491-0EDF264A8EFC}"/>
              </a:ext>
            </a:extLst>
          </p:cNvPr>
          <p:cNvSpPr>
            <a:spLocks noGrp="1"/>
          </p:cNvSpPr>
          <p:nvPr>
            <p:ph type="dt" sz="half" idx="10"/>
          </p:nvPr>
        </p:nvSpPr>
        <p:spPr/>
        <p:txBody>
          <a:bodyPr/>
          <a:lstStyle/>
          <a:p>
            <a:fld id="{D6424074-C14C-4063-9727-25396F45EE8B}" type="datetimeFigureOut">
              <a:rPr lang="en-US" smtClean="0"/>
              <a:t>4/6/2021</a:t>
            </a:fld>
            <a:endParaRPr lang="en-US"/>
          </a:p>
        </p:txBody>
      </p:sp>
      <p:sp>
        <p:nvSpPr>
          <p:cNvPr id="6" name="Footer Placeholder 5">
            <a:extLst>
              <a:ext uri="{FF2B5EF4-FFF2-40B4-BE49-F238E27FC236}">
                <a16:creationId xmlns:a16="http://schemas.microsoft.com/office/drawing/2014/main" id="{F42DB5CF-F4F7-4439-AE72-E5E794AF62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4244DC-B202-469A-AC18-C6FBC47C059C}"/>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47530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2DE7F-8D96-4394-B3C4-E90625F4DC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B5D2BA-AFFA-4D89-A128-DCEE73ADC9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2A3167-3ED5-4E1C-95CA-2C0DA32931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F1B83-D833-46FB-B8F9-FA04CBF20F50}"/>
              </a:ext>
            </a:extLst>
          </p:cNvPr>
          <p:cNvSpPr>
            <a:spLocks noGrp="1"/>
          </p:cNvSpPr>
          <p:nvPr>
            <p:ph type="dt" sz="half" idx="10"/>
          </p:nvPr>
        </p:nvSpPr>
        <p:spPr/>
        <p:txBody>
          <a:bodyPr/>
          <a:lstStyle/>
          <a:p>
            <a:fld id="{D6424074-C14C-4063-9727-25396F45EE8B}" type="datetimeFigureOut">
              <a:rPr lang="en-US" smtClean="0"/>
              <a:t>4/6/2021</a:t>
            </a:fld>
            <a:endParaRPr lang="en-US"/>
          </a:p>
        </p:txBody>
      </p:sp>
      <p:sp>
        <p:nvSpPr>
          <p:cNvPr id="6" name="Footer Placeholder 5">
            <a:extLst>
              <a:ext uri="{FF2B5EF4-FFF2-40B4-BE49-F238E27FC236}">
                <a16:creationId xmlns:a16="http://schemas.microsoft.com/office/drawing/2014/main" id="{76C36967-54F8-4897-9D64-D7332874BE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926CB3-4534-4D33-B3B6-4717B20F3ADD}"/>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480921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0591D-71AB-44B0-A8FF-8DA89DF43B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99BF31-FDD0-4B03-9E4C-18FA15FB82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535DB6-B91A-42DA-8722-A16D02B6CBE5}"/>
              </a:ext>
            </a:extLst>
          </p:cNvPr>
          <p:cNvSpPr>
            <a:spLocks noGrp="1"/>
          </p:cNvSpPr>
          <p:nvPr>
            <p:ph type="dt" sz="half" idx="10"/>
          </p:nvPr>
        </p:nvSpPr>
        <p:spPr/>
        <p:txBody>
          <a:bodyPr/>
          <a:lstStyle/>
          <a:p>
            <a:fld id="{D6424074-C14C-4063-9727-25396F45EE8B}" type="datetimeFigureOut">
              <a:rPr lang="en-US" smtClean="0"/>
              <a:t>4/6/2021</a:t>
            </a:fld>
            <a:endParaRPr lang="en-US"/>
          </a:p>
        </p:txBody>
      </p:sp>
      <p:sp>
        <p:nvSpPr>
          <p:cNvPr id="5" name="Footer Placeholder 4">
            <a:extLst>
              <a:ext uri="{FF2B5EF4-FFF2-40B4-BE49-F238E27FC236}">
                <a16:creationId xmlns:a16="http://schemas.microsoft.com/office/drawing/2014/main" id="{8F704C1A-3BFB-4306-8451-0366BAB2FA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E47995-D404-46E1-B86F-17C3C8B09E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72496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B0D8ED-73E1-4FE3-BF6D-5D9C5BAF4C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F26129-7B22-402F-AFC8-1067547D08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2C7EC3-A12B-4D69-A61D-07E268ECD2FC}"/>
              </a:ext>
            </a:extLst>
          </p:cNvPr>
          <p:cNvSpPr>
            <a:spLocks noGrp="1"/>
          </p:cNvSpPr>
          <p:nvPr>
            <p:ph type="dt" sz="half" idx="10"/>
          </p:nvPr>
        </p:nvSpPr>
        <p:spPr/>
        <p:txBody>
          <a:bodyPr/>
          <a:lstStyle/>
          <a:p>
            <a:fld id="{D6424074-C14C-4063-9727-25396F45EE8B}" type="datetimeFigureOut">
              <a:rPr lang="en-US" smtClean="0"/>
              <a:t>4/6/2021</a:t>
            </a:fld>
            <a:endParaRPr lang="en-US"/>
          </a:p>
        </p:txBody>
      </p:sp>
      <p:sp>
        <p:nvSpPr>
          <p:cNvPr id="5" name="Footer Placeholder 4">
            <a:extLst>
              <a:ext uri="{FF2B5EF4-FFF2-40B4-BE49-F238E27FC236}">
                <a16:creationId xmlns:a16="http://schemas.microsoft.com/office/drawing/2014/main" id="{06BABADA-90D3-48E7-B44C-D632B1A8F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B1A7B-8555-421A-99B8-5ADAA6942206}"/>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136660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4AD56-CD23-40BA-A489-EAD1F37F48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3F5D0B-5BF7-4414-99DD-09FA3E5D69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B946D8-FBAF-4329-8716-8812B9BA77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424074-C14C-4063-9727-25396F45EE8B}" type="datetimeFigureOut">
              <a:rPr lang="en-US" smtClean="0"/>
              <a:t>4/6/2021</a:t>
            </a:fld>
            <a:endParaRPr lang="en-US"/>
          </a:p>
        </p:txBody>
      </p:sp>
      <p:sp>
        <p:nvSpPr>
          <p:cNvPr id="5" name="Footer Placeholder 4">
            <a:extLst>
              <a:ext uri="{FF2B5EF4-FFF2-40B4-BE49-F238E27FC236}">
                <a16:creationId xmlns:a16="http://schemas.microsoft.com/office/drawing/2014/main" id="{8AE5A8AF-D0BF-43C3-8DA2-2C1303E88F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43433D-FDF1-4749-8452-EE98C7655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727D84-FC1B-473D-99C4-9E18DD8D8E63}" type="slidenum">
              <a:rPr lang="en-US" smtClean="0"/>
              <a:t>‹#›</a:t>
            </a:fld>
            <a:endParaRPr lang="en-US"/>
          </a:p>
        </p:txBody>
      </p:sp>
    </p:spTree>
    <p:extLst>
      <p:ext uri="{BB962C8B-B14F-4D97-AF65-F5344CB8AC3E}">
        <p14:creationId xmlns:p14="http://schemas.microsoft.com/office/powerpoint/2010/main" val="1921063491"/>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Migrations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Migrations are like version control for your database, allowing your team to define and share the application's database schema definition. </a:t>
            </a:r>
          </a:p>
          <a:p>
            <a:pPr marL="0" indent="0">
              <a:buNone/>
            </a:pPr>
            <a:r>
              <a:rPr lang="en-US" sz="2400" dirty="0">
                <a:latin typeface="Times New Roman" panose="02020603050405020304" pitchFamily="18" charset="0"/>
                <a:cs typeface="Times New Roman" panose="02020603050405020304" pitchFamily="18" charset="0"/>
              </a:rPr>
              <a:t>The Laravel Schema facade provides database agnostic support for creating and manipulating tables across all of Laravel's supported database systems. Typically, migrations will use this facade to create and modify database tables and columns.</a:t>
            </a:r>
          </a:p>
        </p:txBody>
      </p:sp>
    </p:spTree>
    <p:extLst>
      <p:ext uri="{BB962C8B-B14F-4D97-AF65-F5344CB8AC3E}">
        <p14:creationId xmlns:p14="http://schemas.microsoft.com/office/powerpoint/2010/main" val="1577048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Generating Migrations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You may use the </a:t>
            </a:r>
            <a:r>
              <a:rPr lang="en-US" sz="2400" dirty="0" err="1">
                <a:latin typeface="Times New Roman" panose="02020603050405020304" pitchFamily="18" charset="0"/>
                <a:cs typeface="Times New Roman" panose="02020603050405020304" pitchFamily="18" charset="0"/>
              </a:rPr>
              <a:t>make:migration</a:t>
            </a:r>
            <a:r>
              <a:rPr lang="en-US" sz="2400" dirty="0">
                <a:latin typeface="Times New Roman" panose="02020603050405020304" pitchFamily="18" charset="0"/>
                <a:cs typeface="Times New Roman" panose="02020603050405020304" pitchFamily="18" charset="0"/>
              </a:rPr>
              <a:t> Artisan command to generate a database migration. </a:t>
            </a:r>
          </a:p>
          <a:p>
            <a:pPr marL="0" indent="0">
              <a:buNone/>
            </a:pPr>
            <a:r>
              <a:rPr lang="en-US" sz="2400" dirty="0">
                <a:latin typeface="Times New Roman" panose="02020603050405020304" pitchFamily="18" charset="0"/>
                <a:cs typeface="Times New Roman" panose="02020603050405020304" pitchFamily="18" charset="0"/>
              </a:rPr>
              <a:t>The new migration will be placed in your </a:t>
            </a:r>
            <a:r>
              <a:rPr lang="en-US" sz="2400" i="1" dirty="0">
                <a:latin typeface="Times New Roman" panose="02020603050405020304" pitchFamily="18" charset="0"/>
                <a:cs typeface="Times New Roman" panose="02020603050405020304" pitchFamily="18" charset="0"/>
              </a:rPr>
              <a:t>database/migrations </a:t>
            </a:r>
            <a:r>
              <a:rPr lang="en-US" sz="2400" dirty="0">
                <a:latin typeface="Times New Roman" panose="02020603050405020304" pitchFamily="18" charset="0"/>
                <a:cs typeface="Times New Roman" panose="02020603050405020304" pitchFamily="18" charset="0"/>
              </a:rPr>
              <a:t>directory. </a:t>
            </a:r>
          </a:p>
          <a:p>
            <a:pPr marL="0" indent="0">
              <a:buNone/>
            </a:pPr>
            <a:r>
              <a:rPr lang="en-US" sz="2400" dirty="0">
                <a:latin typeface="Times New Roman" panose="02020603050405020304" pitchFamily="18" charset="0"/>
                <a:cs typeface="Times New Roman" panose="02020603050405020304" pitchFamily="18" charset="0"/>
              </a:rPr>
              <a:t>Each migration filename contains a timestamp that allows Laravel to determine the order of the migrations.</a:t>
            </a:r>
          </a:p>
          <a:p>
            <a:pPr marL="0" indent="0">
              <a:buNone/>
            </a:pPr>
            <a:r>
              <a:rPr lang="en-US" sz="2400" dirty="0">
                <a:latin typeface="Times New Roman" panose="02020603050405020304" pitchFamily="18" charset="0"/>
                <a:cs typeface="Times New Roman" panose="02020603050405020304" pitchFamily="18" charset="0"/>
              </a:rPr>
              <a:t>Laravel will use the name of the migration to attempt to guess the name of the table and whether or not the migration will be creating a new table. </a:t>
            </a:r>
          </a:p>
          <a:p>
            <a:pPr marL="0" indent="0">
              <a:buNone/>
            </a:pPr>
            <a:r>
              <a:rPr lang="en-US" sz="2400" dirty="0">
                <a:latin typeface="Times New Roman" panose="02020603050405020304" pitchFamily="18" charset="0"/>
                <a:cs typeface="Times New Roman" panose="02020603050405020304" pitchFamily="18" charset="0"/>
              </a:rPr>
              <a:t>If Laravel is able to determine the table name from the migration name, Laravel will pre-fill the generated migration file with the specified table. </a:t>
            </a:r>
          </a:p>
          <a:p>
            <a:pPr marL="0" indent="0">
              <a:buNone/>
            </a:pPr>
            <a:r>
              <a:rPr lang="en-US" sz="2400" dirty="0">
                <a:latin typeface="Times New Roman" panose="02020603050405020304" pitchFamily="18" charset="0"/>
                <a:cs typeface="Times New Roman" panose="02020603050405020304" pitchFamily="18" charset="0"/>
              </a:rPr>
              <a:t>Otherwise, you may simply specify the table in the migration file manually.</a:t>
            </a:r>
          </a:p>
          <a:p>
            <a:pPr marL="0" indent="0">
              <a:buNone/>
            </a:pPr>
            <a:r>
              <a:rPr lang="en-US" sz="2400" b="1" dirty="0">
                <a:latin typeface="Times New Roman" panose="02020603050405020304" pitchFamily="18" charset="0"/>
                <a:cs typeface="Times New Roman" panose="02020603050405020304" pitchFamily="18" charset="0"/>
              </a:rPr>
              <a:t>php artisan </a:t>
            </a:r>
            <a:r>
              <a:rPr lang="en-US" sz="2400" b="1" dirty="0" err="1">
                <a:latin typeface="Times New Roman" panose="02020603050405020304" pitchFamily="18" charset="0"/>
                <a:cs typeface="Times New Roman" panose="02020603050405020304" pitchFamily="18" charset="0"/>
              </a:rPr>
              <a:t>make:migration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create_students_table</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5309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Migrations Class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class </a:t>
            </a:r>
            <a:r>
              <a:rPr lang="en-US" sz="2400" dirty="0" err="1">
                <a:latin typeface="Times New Roman" panose="02020603050405020304" pitchFamily="18" charset="0"/>
                <a:cs typeface="Times New Roman" panose="02020603050405020304" pitchFamily="18" charset="0"/>
              </a:rPr>
              <a:t>CreateStudentTable</a:t>
            </a:r>
            <a:r>
              <a:rPr lang="en-US" sz="2400" dirty="0">
                <a:latin typeface="Times New Roman" panose="02020603050405020304" pitchFamily="18" charset="0"/>
                <a:cs typeface="Times New Roman" panose="02020603050405020304" pitchFamily="18" charset="0"/>
              </a:rPr>
              <a:t> extends Migration {</a:t>
            </a:r>
          </a:p>
          <a:p>
            <a:pPr marL="0" indent="0">
              <a:buNone/>
            </a:pPr>
            <a:r>
              <a:rPr lang="en-US" sz="2400" dirty="0">
                <a:latin typeface="Times New Roman" panose="02020603050405020304" pitchFamily="18" charset="0"/>
                <a:cs typeface="Times New Roman" panose="02020603050405020304" pitchFamily="18" charset="0"/>
              </a:rPr>
              <a:t>    public function up(){</a:t>
            </a:r>
          </a:p>
          <a:p>
            <a:pPr marL="0" indent="0">
              <a:buNone/>
            </a:pPr>
            <a:r>
              <a:rPr lang="en-US" sz="2400" dirty="0">
                <a:latin typeface="Times New Roman" panose="02020603050405020304" pitchFamily="18" charset="0"/>
                <a:cs typeface="Times New Roman" panose="02020603050405020304" pitchFamily="18" charset="0"/>
              </a:rPr>
              <a:t>        Schema::create('student', function (Blueprint $table) {</a:t>
            </a:r>
          </a:p>
          <a:p>
            <a:pPr marL="0" indent="0">
              <a:buNone/>
            </a:pPr>
            <a:r>
              <a:rPr lang="en-US" sz="2400" dirty="0">
                <a:latin typeface="Times New Roman" panose="02020603050405020304" pitchFamily="18" charset="0"/>
                <a:cs typeface="Times New Roman" panose="02020603050405020304" pitchFamily="18" charset="0"/>
              </a:rPr>
              <a:t>            $table-&gt;id();</a:t>
            </a:r>
          </a:p>
          <a:p>
            <a:pPr marL="0" indent="0">
              <a:buNone/>
            </a:pPr>
            <a:r>
              <a:rPr lang="en-US" sz="2400" dirty="0">
                <a:latin typeface="Times New Roman" panose="02020603050405020304" pitchFamily="18" charset="0"/>
                <a:cs typeface="Times New Roman" panose="02020603050405020304" pitchFamily="18" charset="0"/>
              </a:rPr>
              <a:t>            $table-&gt;timestamps();</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public function down(){</a:t>
            </a:r>
          </a:p>
          <a:p>
            <a:pPr marL="0" indent="0">
              <a:buNone/>
            </a:pPr>
            <a:r>
              <a:rPr lang="en-US" sz="2400" dirty="0">
                <a:latin typeface="Times New Roman" panose="02020603050405020304" pitchFamily="18" charset="0"/>
                <a:cs typeface="Times New Roman" panose="02020603050405020304" pitchFamily="18" charset="0"/>
              </a:rPr>
              <a:t>        Schema::</a:t>
            </a:r>
            <a:r>
              <a:rPr lang="en-US" sz="2400" dirty="0" err="1">
                <a:latin typeface="Times New Roman" panose="02020603050405020304" pitchFamily="18" charset="0"/>
                <a:cs typeface="Times New Roman" panose="02020603050405020304" pitchFamily="18" charset="0"/>
              </a:rPr>
              <a:t>dropIfExists</a:t>
            </a:r>
            <a:r>
              <a:rPr lang="en-US" sz="2400" dirty="0">
                <a:latin typeface="Times New Roman" panose="02020603050405020304" pitchFamily="18" charset="0"/>
                <a:cs typeface="Times New Roman" panose="02020603050405020304" pitchFamily="18" charset="0"/>
              </a:rPr>
              <a:t>('student');</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a:t>
            </a:r>
          </a:p>
        </p:txBody>
      </p:sp>
      <p:sp>
        <p:nvSpPr>
          <p:cNvPr id="4" name="Rectangle 3">
            <a:extLst>
              <a:ext uri="{FF2B5EF4-FFF2-40B4-BE49-F238E27FC236}">
                <a16:creationId xmlns:a16="http://schemas.microsoft.com/office/drawing/2014/main" id="{B509C1D8-F11D-4A31-B767-5B87CE93C809}"/>
              </a:ext>
            </a:extLst>
          </p:cNvPr>
          <p:cNvSpPr/>
          <p:nvPr/>
        </p:nvSpPr>
        <p:spPr>
          <a:xfrm>
            <a:off x="5394036" y="3981080"/>
            <a:ext cx="6096000" cy="646331"/>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a:spAutoFit/>
          </a:bodyPr>
          <a:lstStyle/>
          <a:p>
            <a:r>
              <a:rPr lang="en-US" dirty="0">
                <a:latin typeface="Times New Roman" panose="02020603050405020304" pitchFamily="18" charset="0"/>
                <a:cs typeface="Times New Roman" panose="02020603050405020304" pitchFamily="18" charset="0"/>
              </a:rPr>
              <a:t>The down method should reverse the operations performed by the up method.</a:t>
            </a:r>
          </a:p>
        </p:txBody>
      </p:sp>
      <p:sp>
        <p:nvSpPr>
          <p:cNvPr id="5" name="Rectangle 4">
            <a:extLst>
              <a:ext uri="{FF2B5EF4-FFF2-40B4-BE49-F238E27FC236}">
                <a16:creationId xmlns:a16="http://schemas.microsoft.com/office/drawing/2014/main" id="{1ED8B610-783F-4617-A377-B9F2DED91C1B}"/>
              </a:ext>
            </a:extLst>
          </p:cNvPr>
          <p:cNvSpPr/>
          <p:nvPr/>
        </p:nvSpPr>
        <p:spPr>
          <a:xfrm>
            <a:off x="7038110" y="1292113"/>
            <a:ext cx="4451926" cy="707886"/>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r>
              <a:rPr lang="en-US" sz="2000" dirty="0">
                <a:latin typeface="Times New Roman" panose="02020603050405020304" pitchFamily="18" charset="0"/>
                <a:cs typeface="Times New Roman" panose="02020603050405020304" pitchFamily="18" charset="0"/>
              </a:rPr>
              <a:t>The up method is used to add new tables, columns, or indexes to your database</a:t>
            </a:r>
            <a:endParaRPr lang="en-US" sz="2000" dirty="0"/>
          </a:p>
        </p:txBody>
      </p:sp>
      <p:cxnSp>
        <p:nvCxnSpPr>
          <p:cNvPr id="7" name="Straight Arrow Connector 6">
            <a:extLst>
              <a:ext uri="{FF2B5EF4-FFF2-40B4-BE49-F238E27FC236}">
                <a16:creationId xmlns:a16="http://schemas.microsoft.com/office/drawing/2014/main" id="{36CA28B1-FBAF-4D30-BB38-6EF73C7F43BC}"/>
              </a:ext>
            </a:extLst>
          </p:cNvPr>
          <p:cNvCxnSpPr>
            <a:stCxn id="5" idx="1"/>
          </p:cNvCxnSpPr>
          <p:nvPr/>
        </p:nvCxnSpPr>
        <p:spPr>
          <a:xfrm flipH="1">
            <a:off x="3842327" y="1646056"/>
            <a:ext cx="3195783" cy="353943"/>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9" name="Straight Arrow Connector 8">
            <a:extLst>
              <a:ext uri="{FF2B5EF4-FFF2-40B4-BE49-F238E27FC236}">
                <a16:creationId xmlns:a16="http://schemas.microsoft.com/office/drawing/2014/main" id="{F1177D2C-8D52-40D2-98AF-20999F41D208}"/>
              </a:ext>
            </a:extLst>
          </p:cNvPr>
          <p:cNvCxnSpPr>
            <a:stCxn id="4" idx="1"/>
          </p:cNvCxnSpPr>
          <p:nvPr/>
        </p:nvCxnSpPr>
        <p:spPr>
          <a:xfrm flipH="1">
            <a:off x="4156364" y="4304246"/>
            <a:ext cx="1237672" cy="381433"/>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548511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fade">
                                      <p:cBhvr>
                                        <p:cTn id="62" dur="500"/>
                                        <p:tgtEl>
                                          <p:spTgt spid="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fade">
                                      <p:cBhvr>
                                        <p:cTn id="65" dur="500"/>
                                        <p:tgtEl>
                                          <p:spTgt spid="5"/>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9"/>
                                        </p:tgtEl>
                                        <p:attrNameLst>
                                          <p:attrName>style.visibility</p:attrName>
                                        </p:attrNameLst>
                                      </p:cBhvr>
                                      <p:to>
                                        <p:strVal val="visible"/>
                                      </p:to>
                                    </p:set>
                                    <p:animEffect transition="in" filter="fade">
                                      <p:cBhvr>
                                        <p:cTn id="70" dur="500"/>
                                        <p:tgtEl>
                                          <p:spTgt spid="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
                                        </p:tgtEl>
                                        <p:attrNameLst>
                                          <p:attrName>style.visibility</p:attrName>
                                        </p:attrNameLst>
                                      </p:cBhvr>
                                      <p:to>
                                        <p:strVal val="visible"/>
                                      </p:to>
                                    </p:set>
                                    <p:animEffect transition="in" filter="fade">
                                      <p:cBhvr>
                                        <p:cTn id="7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Running Migrations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To run all of your outstanding migrations, execute the migrate Artisan command:</a:t>
            </a:r>
          </a:p>
          <a:p>
            <a:pPr marL="0" indent="0">
              <a:buNone/>
            </a:pPr>
            <a:r>
              <a:rPr lang="en-US" sz="2400" dirty="0">
                <a:latin typeface="Times New Roman" panose="02020603050405020304" pitchFamily="18" charset="0"/>
                <a:cs typeface="Times New Roman" panose="02020603050405020304" pitchFamily="18" charset="0"/>
              </a:rPr>
              <a:t>php artisan migrate</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If you would like to see which migrations have run thus far, you may use the </a:t>
            </a:r>
            <a:r>
              <a:rPr lang="en-US" sz="2400" dirty="0" err="1">
                <a:latin typeface="Times New Roman" panose="02020603050405020304" pitchFamily="18" charset="0"/>
                <a:cs typeface="Times New Roman" panose="02020603050405020304" pitchFamily="18" charset="0"/>
              </a:rPr>
              <a:t>migrate:status</a:t>
            </a:r>
            <a:r>
              <a:rPr lang="en-US" sz="2400" dirty="0">
                <a:latin typeface="Times New Roman" panose="02020603050405020304" pitchFamily="18" charset="0"/>
                <a:cs typeface="Times New Roman" panose="02020603050405020304" pitchFamily="18" charset="0"/>
              </a:rPr>
              <a:t> Artisan command:</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migrate:status</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9962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Rolling Back Migrations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To roll back the latest migration operation, you may use the rollback Artisan command. This command rolls back the last "batch" of migrations, which may include multiple migration files:</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migrate:rollback</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You may roll back a limited number of migrations by providing the step option to the rollback command. For example, the following command will roll back the last five migrations:</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migrate:rollback</a:t>
            </a:r>
            <a:r>
              <a:rPr lang="en-US" sz="2400" dirty="0">
                <a:latin typeface="Times New Roman" panose="02020603050405020304" pitchFamily="18" charset="0"/>
                <a:cs typeface="Times New Roman" panose="02020603050405020304" pitchFamily="18" charset="0"/>
              </a:rPr>
              <a:t> --step=5</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migrate:reset</a:t>
            </a:r>
            <a:r>
              <a:rPr lang="en-US" sz="2400" dirty="0">
                <a:latin typeface="Times New Roman" panose="02020603050405020304" pitchFamily="18" charset="0"/>
                <a:cs typeface="Times New Roman" panose="02020603050405020304" pitchFamily="18" charset="0"/>
              </a:rPr>
              <a:t> command will roll back all of your application's migrations:</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migrate:reset</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3084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Rolling Back &amp; Migrate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migrate:refresh</a:t>
            </a:r>
            <a:r>
              <a:rPr lang="en-US" sz="2400" dirty="0">
                <a:latin typeface="Times New Roman" panose="02020603050405020304" pitchFamily="18" charset="0"/>
                <a:cs typeface="Times New Roman" panose="02020603050405020304" pitchFamily="18" charset="0"/>
              </a:rPr>
              <a:t> command will roll back all of your migrations and then execute the migrate command. This command effectively re-creates your entire database:</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migrate:refresh</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You may roll back and re-migrate a limited number of migrations by providing the step option to the refresh command. For example, the following command will roll back and re-migrate the last five migrations:</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migrate:refresh</a:t>
            </a:r>
            <a:r>
              <a:rPr lang="en-US" sz="2400" dirty="0">
                <a:latin typeface="Times New Roman" panose="02020603050405020304" pitchFamily="18" charset="0"/>
                <a:cs typeface="Times New Roman" panose="02020603050405020304" pitchFamily="18" charset="0"/>
              </a:rPr>
              <a:t> --step=5</a:t>
            </a:r>
          </a:p>
        </p:txBody>
      </p:sp>
    </p:spTree>
    <p:extLst>
      <p:ext uri="{BB962C8B-B14F-4D97-AF65-F5344CB8AC3E}">
        <p14:creationId xmlns:p14="http://schemas.microsoft.com/office/powerpoint/2010/main" val="4221302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Drop All Tables &amp; Migrate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migrate:fresh</a:t>
            </a:r>
            <a:r>
              <a:rPr lang="en-US" sz="2400" dirty="0">
                <a:latin typeface="Times New Roman" panose="02020603050405020304" pitchFamily="18" charset="0"/>
                <a:cs typeface="Times New Roman" panose="02020603050405020304" pitchFamily="18" charset="0"/>
              </a:rPr>
              <a:t> command will drop all tables from the database and then execute the migrate command:</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migrate:fresh</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7635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Creating Table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To create a new database table, use the create method on the Schema facade. The create method accepts two arguments: the first is the name of the table, while the second is a closure which receives a Blueprint object that may be used to define the new table.</a:t>
            </a:r>
          </a:p>
          <a:p>
            <a:pPr marL="0" indent="0">
              <a:buNone/>
            </a:pPr>
            <a:r>
              <a:rPr lang="en-US" sz="2400" dirty="0">
                <a:latin typeface="Times New Roman" panose="02020603050405020304" pitchFamily="18" charset="0"/>
                <a:cs typeface="Times New Roman" panose="02020603050405020304" pitchFamily="18" charset="0"/>
              </a:rPr>
              <a:t>Syntax:-</a:t>
            </a:r>
          </a:p>
          <a:p>
            <a:pPr marL="0" indent="0">
              <a:buNone/>
            </a:pPr>
            <a:r>
              <a:rPr lang="en-US" sz="2400" dirty="0">
                <a:cs typeface="Times New Roman" panose="02020603050405020304" pitchFamily="18" charset="0"/>
              </a:rPr>
              <a:t>Schema::create(‘</a:t>
            </a:r>
            <a:r>
              <a:rPr lang="en-US" sz="2400" dirty="0" err="1">
                <a:cs typeface="Times New Roman" panose="02020603050405020304" pitchFamily="18" charset="0"/>
              </a:rPr>
              <a:t>table_name</a:t>
            </a:r>
            <a:r>
              <a:rPr lang="en-US" sz="2400" dirty="0">
                <a:cs typeface="Times New Roman" panose="02020603050405020304" pitchFamily="18" charset="0"/>
              </a:rPr>
              <a:t>', function (Blueprint $table) {</a:t>
            </a:r>
          </a:p>
          <a:p>
            <a:pPr marL="0" indent="0">
              <a:buNone/>
            </a:pPr>
            <a:r>
              <a:rPr lang="en-US" sz="2400" dirty="0">
                <a:cs typeface="Times New Roman" panose="02020603050405020304" pitchFamily="18" charset="0"/>
              </a:rPr>
              <a:t>	// columns</a:t>
            </a:r>
          </a:p>
          <a:p>
            <a:pPr marL="0" indent="0">
              <a:buNone/>
            </a:pPr>
            <a:r>
              <a:rPr lang="en-US" sz="2400" dirty="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Schema::create(‘student', function (Blueprint $table) {</a:t>
            </a:r>
          </a:p>
          <a:p>
            <a:pPr marL="0" indent="0">
              <a:buNone/>
            </a:pPr>
            <a:r>
              <a:rPr lang="en-US" sz="2400" dirty="0">
                <a:cs typeface="Times New Roman" panose="02020603050405020304" pitchFamily="18" charset="0"/>
              </a:rPr>
              <a:t>	$table-&gt;id();</a:t>
            </a:r>
          </a:p>
          <a:p>
            <a:pPr marL="0" indent="0">
              <a:buNone/>
            </a:pPr>
            <a:r>
              <a:rPr lang="en-US" sz="2400" dirty="0">
                <a:cs typeface="Times New Roman" panose="02020603050405020304" pitchFamily="18" charset="0"/>
              </a:rPr>
              <a:t>	$table-&gt;string(‘name’)</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2176566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4800" b="1" u="sng" dirty="0">
                <a:latin typeface="Times New Roman" panose="02020603050405020304" pitchFamily="18" charset="0"/>
                <a:cs typeface="Times New Roman" panose="02020603050405020304" pitchFamily="18" charset="0"/>
              </a:rPr>
              <a:t>Dropping Table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To drop an existing table, you may use the drop or </a:t>
            </a:r>
            <a:r>
              <a:rPr lang="en-US" sz="2400" dirty="0" err="1">
                <a:latin typeface="Times New Roman" panose="02020603050405020304" pitchFamily="18" charset="0"/>
                <a:cs typeface="Times New Roman" panose="02020603050405020304" pitchFamily="18" charset="0"/>
              </a:rPr>
              <a:t>dropIfExists</a:t>
            </a:r>
            <a:r>
              <a:rPr lang="en-US" sz="2400" dirty="0">
                <a:latin typeface="Times New Roman" panose="02020603050405020304" pitchFamily="18" charset="0"/>
                <a:cs typeface="Times New Roman" panose="02020603050405020304" pitchFamily="18" charset="0"/>
              </a:rPr>
              <a:t> methods:</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make:migration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dropping_student_table</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Schema::drop(‘student’);</a:t>
            </a:r>
          </a:p>
          <a:p>
            <a:pPr marL="0" indent="0">
              <a:buNone/>
            </a:pPr>
            <a:r>
              <a:rPr lang="en-US" sz="2400" dirty="0">
                <a:latin typeface="Times New Roman" panose="02020603050405020304" pitchFamily="18" charset="0"/>
                <a:cs typeface="Times New Roman" panose="02020603050405020304" pitchFamily="18" charset="0"/>
              </a:rPr>
              <a:t>php artisan migrate</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make:migration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dropping_student_table</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Schema::</a:t>
            </a:r>
            <a:r>
              <a:rPr lang="en-US" sz="2400" dirty="0" err="1">
                <a:latin typeface="Times New Roman" panose="02020603050405020304" pitchFamily="18" charset="0"/>
                <a:cs typeface="Times New Roman" panose="02020603050405020304" pitchFamily="18" charset="0"/>
              </a:rPr>
              <a:t>dropIfExists</a:t>
            </a:r>
            <a:r>
              <a:rPr lang="en-US" sz="2400" dirty="0">
                <a:latin typeface="Times New Roman" panose="02020603050405020304" pitchFamily="18" charset="0"/>
                <a:cs typeface="Times New Roman" panose="02020603050405020304" pitchFamily="18" charset="0"/>
              </a:rPr>
              <a:t>(‘student’);</a:t>
            </a:r>
          </a:p>
          <a:p>
            <a:pPr marL="0" indent="0">
              <a:buNone/>
            </a:pPr>
            <a:r>
              <a:rPr lang="en-US" sz="2400" dirty="0">
                <a:latin typeface="Times New Roman" panose="02020603050405020304" pitchFamily="18" charset="0"/>
                <a:cs typeface="Times New Roman" panose="02020603050405020304" pitchFamily="18" charset="0"/>
              </a:rPr>
              <a:t>php artisan migrate</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5773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4800" b="1" u="sng" dirty="0">
                <a:latin typeface="Times New Roman" panose="02020603050405020304" pitchFamily="18" charset="0"/>
                <a:cs typeface="Times New Roman" panose="02020603050405020304" pitchFamily="18" charset="0"/>
              </a:rPr>
              <a:t>Checking for Table/Column Existence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You may check for the existence of a table or column using the </a:t>
            </a:r>
            <a:r>
              <a:rPr lang="en-US" sz="2400" dirty="0" err="1">
                <a:latin typeface="Times New Roman" panose="02020603050405020304" pitchFamily="18" charset="0"/>
                <a:cs typeface="Times New Roman" panose="02020603050405020304" pitchFamily="18" charset="0"/>
              </a:rPr>
              <a:t>hasTable</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hasColumn</a:t>
            </a:r>
            <a:r>
              <a:rPr lang="en-US" sz="2400" dirty="0">
                <a:latin typeface="Times New Roman" panose="02020603050405020304" pitchFamily="18" charset="0"/>
                <a:cs typeface="Times New Roman" panose="02020603050405020304" pitchFamily="18" charset="0"/>
              </a:rPr>
              <a:t> methods:</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latin typeface="Times New Roman" panose="02020603050405020304" pitchFamily="18" charset="0"/>
                <a:cs typeface="Times New Roman" panose="02020603050405020304" pitchFamily="18" charset="0"/>
              </a:rPr>
              <a:t>if (Schema::</a:t>
            </a:r>
            <a:r>
              <a:rPr lang="en-US" sz="2400" dirty="0" err="1">
                <a:latin typeface="Times New Roman" panose="02020603050405020304" pitchFamily="18" charset="0"/>
                <a:cs typeface="Times New Roman" panose="02020603050405020304" pitchFamily="18" charset="0"/>
              </a:rPr>
              <a:t>hasTable</a:t>
            </a:r>
            <a:r>
              <a:rPr lang="en-US" sz="2400" dirty="0">
                <a:latin typeface="Times New Roman" panose="02020603050405020304" pitchFamily="18" charset="0"/>
                <a:cs typeface="Times New Roman" panose="02020603050405020304" pitchFamily="18" charset="0"/>
              </a:rPr>
              <a:t>(‘student')) {</a:t>
            </a:r>
          </a:p>
          <a:p>
            <a:pPr marL="0" indent="0">
              <a:buNone/>
            </a:pPr>
            <a:r>
              <a:rPr lang="en-US" sz="2400" dirty="0">
                <a:latin typeface="Times New Roman" panose="02020603050405020304" pitchFamily="18" charset="0"/>
                <a:cs typeface="Times New Roman" panose="02020603050405020304" pitchFamily="18" charset="0"/>
              </a:rPr>
              <a:t>    // The “student" table exists...</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if (Schema::</a:t>
            </a:r>
            <a:r>
              <a:rPr lang="en-US" sz="2400" dirty="0" err="1">
                <a:latin typeface="Times New Roman" panose="02020603050405020304" pitchFamily="18" charset="0"/>
                <a:cs typeface="Times New Roman" panose="02020603050405020304" pitchFamily="18" charset="0"/>
              </a:rPr>
              <a:t>hasColumn</a:t>
            </a:r>
            <a:r>
              <a:rPr lang="en-US" sz="2400" dirty="0">
                <a:latin typeface="Times New Roman" panose="02020603050405020304" pitchFamily="18" charset="0"/>
                <a:cs typeface="Times New Roman" panose="02020603050405020304" pitchFamily="18" charset="0"/>
              </a:rPr>
              <a:t>(‘student', 'email')) {</a:t>
            </a:r>
          </a:p>
          <a:p>
            <a:pPr marL="0" indent="0">
              <a:buNone/>
            </a:pPr>
            <a:r>
              <a:rPr lang="en-US" sz="2400" dirty="0">
                <a:latin typeface="Times New Roman" panose="02020603050405020304" pitchFamily="18" charset="0"/>
                <a:cs typeface="Times New Roman" panose="02020603050405020304" pitchFamily="18" charset="0"/>
              </a:rPr>
              <a:t>    // The “student" table exists and has an "email" column...</a:t>
            </a:r>
          </a:p>
          <a:p>
            <a:pPr marL="0" indent="0">
              <a:buNone/>
            </a:pP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74755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4800" b="1" u="sng" dirty="0">
                <a:latin typeface="Times New Roman" panose="02020603050405020304" pitchFamily="18" charset="0"/>
                <a:cs typeface="Times New Roman" panose="02020603050405020304" pitchFamily="18" charset="0"/>
              </a:rPr>
              <a:t>Renaming Table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To rename an existing database table, use the rename method.</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make:migration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rename_student_to_employee</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Schema::rename(‘student’, ‘employee’)</a:t>
            </a:r>
          </a:p>
          <a:p>
            <a:pPr marL="0" indent="0">
              <a:buNone/>
            </a:pPr>
            <a:r>
              <a:rPr lang="en-US" sz="2400" dirty="0">
                <a:latin typeface="Times New Roman" panose="02020603050405020304" pitchFamily="18" charset="0"/>
                <a:cs typeface="Times New Roman" panose="02020603050405020304" pitchFamily="18" charset="0"/>
              </a:rPr>
              <a:t>php artisan migrate</a:t>
            </a:r>
          </a:p>
        </p:txBody>
      </p:sp>
    </p:spTree>
    <p:extLst>
      <p:ext uri="{BB962C8B-B14F-4D97-AF65-F5344CB8AC3E}">
        <p14:creationId xmlns:p14="http://schemas.microsoft.com/office/powerpoint/2010/main" val="1244262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Creating Column</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Syntax:-</a:t>
            </a:r>
          </a:p>
          <a:p>
            <a:pPr marL="0" indent="0">
              <a:buNone/>
            </a:pPr>
            <a:r>
              <a:rPr lang="en-US" sz="2400" dirty="0">
                <a:latin typeface="Times New Roman" panose="02020603050405020304" pitchFamily="18" charset="0"/>
                <a:cs typeface="Times New Roman" panose="02020603050405020304" pitchFamily="18" charset="0"/>
              </a:rPr>
              <a:t>Schema::create(‘</a:t>
            </a:r>
            <a:r>
              <a:rPr lang="en-US" sz="2400" dirty="0" err="1">
                <a:latin typeface="Times New Roman" panose="02020603050405020304" pitchFamily="18" charset="0"/>
                <a:cs typeface="Times New Roman" panose="02020603050405020304" pitchFamily="18" charset="0"/>
              </a:rPr>
              <a:t>table_name</a:t>
            </a:r>
            <a:r>
              <a:rPr lang="en-US" sz="2400" dirty="0">
                <a:latin typeface="Times New Roman" panose="02020603050405020304" pitchFamily="18" charset="0"/>
                <a:cs typeface="Times New Roman" panose="02020603050405020304" pitchFamily="18" charset="0"/>
              </a:rPr>
              <a:t>', function (Blueprint $table) {</a:t>
            </a:r>
          </a:p>
          <a:p>
            <a:pPr marL="0" indent="0">
              <a:buNone/>
            </a:pPr>
            <a:r>
              <a:rPr lang="en-US" sz="2400" dirty="0">
                <a:latin typeface="Times New Roman" panose="02020603050405020304" pitchFamily="18" charset="0"/>
                <a:cs typeface="Times New Roman" panose="02020603050405020304" pitchFamily="18" charset="0"/>
              </a:rPr>
              <a:t>	// columns</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latin typeface="Times New Roman" panose="02020603050405020304" pitchFamily="18" charset="0"/>
                <a:cs typeface="Times New Roman" panose="02020603050405020304" pitchFamily="18" charset="0"/>
              </a:rPr>
              <a:t>Schema::create(‘student', function (Blueprint $table) {</a:t>
            </a:r>
          </a:p>
          <a:p>
            <a:pPr marL="0" indent="0">
              <a:buNone/>
            </a:pPr>
            <a:r>
              <a:rPr lang="en-US" sz="2400" dirty="0">
                <a:latin typeface="Times New Roman" panose="02020603050405020304" pitchFamily="18" charset="0"/>
                <a:cs typeface="Times New Roman" panose="02020603050405020304" pitchFamily="18" charset="0"/>
              </a:rPr>
              <a:t>	$table-&gt;id();</a:t>
            </a:r>
          </a:p>
          <a:p>
            <a:pPr marL="0" indent="0">
              <a:buNone/>
            </a:pPr>
            <a:r>
              <a:rPr lang="en-US" sz="2400" dirty="0">
                <a:latin typeface="Times New Roman" panose="02020603050405020304" pitchFamily="18" charset="0"/>
                <a:cs typeface="Times New Roman" panose="02020603050405020304" pitchFamily="18" charset="0"/>
              </a:rPr>
              <a:t>	$table-&gt;string(‘name’)</a:t>
            </a:r>
          </a:p>
          <a:p>
            <a:pPr marL="0" indent="0">
              <a:buNone/>
            </a:pP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539868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Available Column Types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id() - The id method is an alias of the </a:t>
            </a:r>
            <a:r>
              <a:rPr lang="en-US" sz="2000" dirty="0" err="1">
                <a:latin typeface="Times New Roman" panose="02020603050405020304" pitchFamily="18" charset="0"/>
                <a:cs typeface="Times New Roman" panose="02020603050405020304" pitchFamily="18" charset="0"/>
              </a:rPr>
              <a:t>bigIncrements</a:t>
            </a:r>
            <a:r>
              <a:rPr lang="en-US" sz="2000" dirty="0">
                <a:latin typeface="Times New Roman" panose="02020603050405020304" pitchFamily="18" charset="0"/>
                <a:cs typeface="Times New Roman" panose="02020603050405020304" pitchFamily="18" charset="0"/>
              </a:rPr>
              <a:t> method. By default, the method will create an id column; however, you may pass a column name if you would like to assign a different name to the column:</a:t>
            </a:r>
          </a:p>
          <a:p>
            <a:pPr marL="0" indent="0">
              <a:buNone/>
            </a:pPr>
            <a:r>
              <a:rPr lang="en-US" sz="2000" dirty="0">
                <a:latin typeface="Times New Roman" panose="02020603050405020304" pitchFamily="18" charset="0"/>
                <a:cs typeface="Times New Roman" panose="02020603050405020304" pitchFamily="18" charset="0"/>
              </a:rPr>
              <a:t>Example:- $table-&gt;id();</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increments() - The increments method creates an auto-incrementing UNSIGNED INTEGER equivalent column as a primary key:</a:t>
            </a:r>
          </a:p>
          <a:p>
            <a:pPr marL="0" indent="0">
              <a:buNone/>
            </a:pPr>
            <a:r>
              <a:rPr lang="en-US" sz="2000" dirty="0">
                <a:latin typeface="Times New Roman" panose="02020603050405020304" pitchFamily="18" charset="0"/>
                <a:cs typeface="Times New Roman" panose="02020603050405020304" pitchFamily="18" charset="0"/>
              </a:rPr>
              <a:t>Example:- $table-&gt;increments('id’);</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integer() - The integer method creates an INTEGER equivalent column:</a:t>
            </a:r>
          </a:p>
          <a:p>
            <a:pPr marL="0" indent="0">
              <a:buNone/>
            </a:pPr>
            <a:r>
              <a:rPr lang="en-US" sz="2000" dirty="0">
                <a:latin typeface="Times New Roman" panose="02020603050405020304" pitchFamily="18" charset="0"/>
                <a:cs typeface="Times New Roman" panose="02020603050405020304" pitchFamily="18" charset="0"/>
              </a:rPr>
              <a:t>Example:- $table-&gt;integer('votes’);</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char() - The char method creates a CHAR equivalent column with of a given length:</a:t>
            </a:r>
          </a:p>
          <a:p>
            <a:pPr marL="0" indent="0">
              <a:buNone/>
            </a:pPr>
            <a:r>
              <a:rPr lang="en-US" sz="2000" dirty="0">
                <a:latin typeface="Times New Roman" panose="02020603050405020304" pitchFamily="18" charset="0"/>
                <a:cs typeface="Times New Roman" panose="02020603050405020304" pitchFamily="18" charset="0"/>
              </a:rPr>
              <a:t>Example:- $table-&gt;char('name', 100);</a:t>
            </a:r>
          </a:p>
        </p:txBody>
      </p:sp>
    </p:spTree>
    <p:extLst>
      <p:ext uri="{BB962C8B-B14F-4D97-AF65-F5344CB8AC3E}">
        <p14:creationId xmlns:p14="http://schemas.microsoft.com/office/powerpoint/2010/main" val="3398226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Available Column Types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float() - The float method creates a FLOAT equivalent column with the given precision (total digits) and scale (decimal digits):</a:t>
            </a:r>
          </a:p>
          <a:p>
            <a:pPr marL="0" indent="0">
              <a:buNone/>
            </a:pPr>
            <a:r>
              <a:rPr lang="en-US" sz="2000" dirty="0">
                <a:latin typeface="Times New Roman" panose="02020603050405020304" pitchFamily="18" charset="0"/>
                <a:cs typeface="Times New Roman" panose="02020603050405020304" pitchFamily="18" charset="0"/>
              </a:rPr>
              <a:t>Example:- $table-&gt;float('amount', 8, 2);</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double() - The double method creates a DOUBLE equivalent column with the given precision (total digits) and scale (decimal digits):</a:t>
            </a:r>
          </a:p>
          <a:p>
            <a:pPr marL="0" indent="0">
              <a:buNone/>
            </a:pPr>
            <a:r>
              <a:rPr lang="en-US" sz="2000" dirty="0">
                <a:latin typeface="Times New Roman" panose="02020603050405020304" pitchFamily="18" charset="0"/>
                <a:cs typeface="Times New Roman" panose="02020603050405020304" pitchFamily="18" charset="0"/>
              </a:rPr>
              <a:t>Example:- $table-&gt;double('amount', 8, 2);</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decimal() - The decimal method creates a DECIMAL equivalent column with the given precision (total digits) and scale (decimal digits):</a:t>
            </a:r>
          </a:p>
          <a:p>
            <a:pPr marL="0" indent="0">
              <a:buNone/>
            </a:pPr>
            <a:r>
              <a:rPr lang="en-US" sz="2000" dirty="0">
                <a:latin typeface="Times New Roman" panose="02020603050405020304" pitchFamily="18" charset="0"/>
                <a:cs typeface="Times New Roman" panose="02020603050405020304" pitchFamily="18" charset="0"/>
              </a:rPr>
              <a:t>Example:- $table-&gt;decimal('amount', $precision = 8, $scale = 2);</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boolean</a:t>
            </a:r>
            <a:r>
              <a:rPr lang="en-US" sz="2000" dirty="0">
                <a:latin typeface="Times New Roman" panose="02020603050405020304" pitchFamily="18" charset="0"/>
                <a:cs typeface="Times New Roman" panose="02020603050405020304" pitchFamily="18" charset="0"/>
              </a:rPr>
              <a:t>() - The </a:t>
            </a:r>
            <a:r>
              <a:rPr lang="en-US" sz="2000" dirty="0" err="1">
                <a:latin typeface="Times New Roman" panose="02020603050405020304" pitchFamily="18" charset="0"/>
                <a:cs typeface="Times New Roman" panose="02020603050405020304" pitchFamily="18" charset="0"/>
              </a:rPr>
              <a:t>boolean</a:t>
            </a:r>
            <a:r>
              <a:rPr lang="en-US" sz="2000" dirty="0">
                <a:latin typeface="Times New Roman" panose="02020603050405020304" pitchFamily="18" charset="0"/>
                <a:cs typeface="Times New Roman" panose="02020603050405020304" pitchFamily="18" charset="0"/>
              </a:rPr>
              <a:t> method creates a BOOLEAN equivalent column:</a:t>
            </a:r>
          </a:p>
          <a:p>
            <a:pPr marL="0" indent="0">
              <a:buNone/>
            </a:pPr>
            <a:r>
              <a:rPr lang="en-US" sz="2000" dirty="0">
                <a:latin typeface="Times New Roman" panose="02020603050405020304" pitchFamily="18" charset="0"/>
                <a:cs typeface="Times New Roman" panose="02020603050405020304" pitchFamily="18" charset="0"/>
              </a:rPr>
              <a:t>Example:- $table-&gt;</a:t>
            </a:r>
            <a:r>
              <a:rPr lang="en-US" sz="2000" dirty="0" err="1">
                <a:latin typeface="Times New Roman" panose="02020603050405020304" pitchFamily="18" charset="0"/>
                <a:cs typeface="Times New Roman" panose="02020603050405020304" pitchFamily="18" charset="0"/>
              </a:rPr>
              <a:t>boolean</a:t>
            </a:r>
            <a:r>
              <a:rPr lang="en-US" sz="2000" dirty="0">
                <a:latin typeface="Times New Roman" panose="02020603050405020304" pitchFamily="18" charset="0"/>
                <a:cs typeface="Times New Roman" panose="02020603050405020304" pitchFamily="18" charset="0"/>
              </a:rPr>
              <a:t>('confirmed');</a:t>
            </a:r>
          </a:p>
        </p:txBody>
      </p:sp>
    </p:spTree>
    <p:extLst>
      <p:ext uri="{BB962C8B-B14F-4D97-AF65-F5344CB8AC3E}">
        <p14:creationId xmlns:p14="http://schemas.microsoft.com/office/powerpoint/2010/main" val="3431463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Available Column Types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string() - The string method creates a VARCHAR equivalent column of the given length:</a:t>
            </a:r>
          </a:p>
          <a:p>
            <a:pPr marL="0" indent="0">
              <a:buNone/>
            </a:pPr>
            <a:r>
              <a:rPr lang="en-US" sz="2000" dirty="0">
                <a:latin typeface="Times New Roman" panose="02020603050405020304" pitchFamily="18" charset="0"/>
                <a:cs typeface="Times New Roman" panose="02020603050405020304" pitchFamily="18" charset="0"/>
              </a:rPr>
              <a:t>Example:- $table-&gt;string('name', 100);</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text() - The text method creates a TEXT equivalent column:</a:t>
            </a:r>
          </a:p>
          <a:p>
            <a:pPr marL="0" indent="0">
              <a:buNone/>
            </a:pPr>
            <a:r>
              <a:rPr lang="en-US" sz="2000" dirty="0">
                <a:latin typeface="Times New Roman" panose="02020603050405020304" pitchFamily="18" charset="0"/>
                <a:cs typeface="Times New Roman" panose="02020603050405020304" pitchFamily="18" charset="0"/>
              </a:rPr>
              <a:t>Example:- $table-&gt;text('description’);</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date() - The date method creates a DATE equivalent column:</a:t>
            </a:r>
          </a:p>
          <a:p>
            <a:pPr marL="0" indent="0">
              <a:buNone/>
            </a:pPr>
            <a:r>
              <a:rPr lang="en-US" sz="2000" dirty="0">
                <a:latin typeface="Times New Roman" panose="02020603050405020304" pitchFamily="18" charset="0"/>
                <a:cs typeface="Times New Roman" panose="02020603050405020304" pitchFamily="18" charset="0"/>
              </a:rPr>
              <a:t>Example:- $table-&gt;date('</a:t>
            </a:r>
            <a:r>
              <a:rPr lang="en-US" sz="2000" dirty="0" err="1">
                <a:latin typeface="Times New Roman" panose="02020603050405020304" pitchFamily="18" charset="0"/>
                <a:cs typeface="Times New Roman" panose="02020603050405020304" pitchFamily="18" charset="0"/>
              </a:rPr>
              <a:t>created_at</a:t>
            </a: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time() - The time method creates a TIME equivalent column with an optional precision (total digits):</a:t>
            </a:r>
          </a:p>
          <a:p>
            <a:pPr marL="0" indent="0">
              <a:buNone/>
            </a:pPr>
            <a:r>
              <a:rPr lang="en-US" sz="2000" dirty="0">
                <a:latin typeface="Times New Roman" panose="02020603050405020304" pitchFamily="18" charset="0"/>
                <a:cs typeface="Times New Roman" panose="02020603050405020304" pitchFamily="18" charset="0"/>
              </a:rPr>
              <a:t>Example:- $table-&gt;time('sunrise', $precision = 0);</a:t>
            </a:r>
          </a:p>
        </p:txBody>
      </p:sp>
    </p:spTree>
    <p:extLst>
      <p:ext uri="{BB962C8B-B14F-4D97-AF65-F5344CB8AC3E}">
        <p14:creationId xmlns:p14="http://schemas.microsoft.com/office/powerpoint/2010/main" val="1718666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Available Column Types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000" dirty="0" err="1">
                <a:latin typeface="Times New Roman" panose="02020603050405020304" pitchFamily="18" charset="0"/>
                <a:cs typeface="Times New Roman" panose="02020603050405020304" pitchFamily="18" charset="0"/>
              </a:rPr>
              <a:t>dateTime</a:t>
            </a:r>
            <a:r>
              <a:rPr lang="en-US" sz="2000" dirty="0">
                <a:latin typeface="Times New Roman" panose="02020603050405020304" pitchFamily="18" charset="0"/>
                <a:cs typeface="Times New Roman" panose="02020603050405020304" pitchFamily="18" charset="0"/>
              </a:rPr>
              <a:t>() - The </a:t>
            </a:r>
            <a:r>
              <a:rPr lang="en-US" sz="2000" dirty="0" err="1">
                <a:latin typeface="Times New Roman" panose="02020603050405020304" pitchFamily="18" charset="0"/>
                <a:cs typeface="Times New Roman" panose="02020603050405020304" pitchFamily="18" charset="0"/>
              </a:rPr>
              <a:t>dateTime</a:t>
            </a:r>
            <a:r>
              <a:rPr lang="en-US" sz="2000" dirty="0">
                <a:latin typeface="Times New Roman" panose="02020603050405020304" pitchFamily="18" charset="0"/>
                <a:cs typeface="Times New Roman" panose="02020603050405020304" pitchFamily="18" charset="0"/>
              </a:rPr>
              <a:t> method creates a DATETIME equivalent column with an optional precision (total digits):</a:t>
            </a:r>
          </a:p>
          <a:p>
            <a:pPr marL="0" indent="0">
              <a:buNone/>
            </a:pPr>
            <a:r>
              <a:rPr lang="en-US" sz="2000" dirty="0">
                <a:latin typeface="Times New Roman" panose="02020603050405020304" pitchFamily="18" charset="0"/>
                <a:cs typeface="Times New Roman" panose="02020603050405020304" pitchFamily="18" charset="0"/>
              </a:rPr>
              <a:t>Example:- $table-&gt;</a:t>
            </a:r>
            <a:r>
              <a:rPr lang="en-US" sz="2000" dirty="0" err="1">
                <a:latin typeface="Times New Roman" panose="02020603050405020304" pitchFamily="18" charset="0"/>
                <a:cs typeface="Times New Roman" panose="02020603050405020304" pitchFamily="18" charset="0"/>
              </a:rPr>
              <a:t>dateTime</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created_at</a:t>
            </a:r>
            <a:r>
              <a:rPr lang="en-US" sz="2000" dirty="0">
                <a:latin typeface="Times New Roman" panose="02020603050405020304" pitchFamily="18" charset="0"/>
                <a:cs typeface="Times New Roman" panose="02020603050405020304" pitchFamily="18" charset="0"/>
              </a:rPr>
              <a:t>', $precision = 0);</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year() - The year method creates a YEAR equivalent column:</a:t>
            </a:r>
          </a:p>
          <a:p>
            <a:pPr marL="0" indent="0">
              <a:buNone/>
            </a:pPr>
            <a:r>
              <a:rPr lang="en-US" sz="2000" dirty="0">
                <a:latin typeface="Times New Roman" panose="02020603050405020304" pitchFamily="18" charset="0"/>
                <a:cs typeface="Times New Roman" panose="02020603050405020304" pitchFamily="18" charset="0"/>
              </a:rPr>
              <a:t>Example:- $table-&gt;year('</a:t>
            </a:r>
            <a:r>
              <a:rPr lang="en-US" sz="2000" dirty="0" err="1">
                <a:latin typeface="Times New Roman" panose="02020603050405020304" pitchFamily="18" charset="0"/>
                <a:cs typeface="Times New Roman" panose="02020603050405020304" pitchFamily="18" charset="0"/>
              </a:rPr>
              <a:t>birth_year</a:t>
            </a: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timestamps() - The timestamps method creates </a:t>
            </a:r>
            <a:r>
              <a:rPr lang="en-US" sz="2000" dirty="0" err="1">
                <a:latin typeface="Times New Roman" panose="02020603050405020304" pitchFamily="18" charset="0"/>
                <a:cs typeface="Times New Roman" panose="02020603050405020304" pitchFamily="18" charset="0"/>
              </a:rPr>
              <a:t>created_at</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updated_at</a:t>
            </a:r>
            <a:r>
              <a:rPr lang="en-US" sz="2000" dirty="0">
                <a:latin typeface="Times New Roman" panose="02020603050405020304" pitchFamily="18" charset="0"/>
                <a:cs typeface="Times New Roman" panose="02020603050405020304" pitchFamily="18" charset="0"/>
              </a:rPr>
              <a:t> TIMESTAMP equivalent columns with an optional precision (total digits):</a:t>
            </a:r>
          </a:p>
          <a:p>
            <a:pPr marL="0" indent="0">
              <a:buNone/>
            </a:pPr>
            <a:r>
              <a:rPr lang="en-US" sz="2000" dirty="0">
                <a:latin typeface="Times New Roman" panose="02020603050405020304" pitchFamily="18" charset="0"/>
                <a:cs typeface="Times New Roman" panose="02020603050405020304" pitchFamily="18" charset="0"/>
              </a:rPr>
              <a:t>Example:- $table-&gt;timestamps($precision = 0);</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binary() - The binary method creates a BLOB equivalent column:</a:t>
            </a:r>
          </a:p>
          <a:p>
            <a:pPr marL="0" indent="0">
              <a:buNone/>
            </a:pPr>
            <a:r>
              <a:rPr lang="en-US" sz="2000" dirty="0">
                <a:latin typeface="Times New Roman" panose="02020603050405020304" pitchFamily="18" charset="0"/>
                <a:cs typeface="Times New Roman" panose="02020603050405020304" pitchFamily="18" charset="0"/>
              </a:rPr>
              <a:t>Example:- $table-&gt;binary('photo');</a:t>
            </a:r>
          </a:p>
        </p:txBody>
      </p:sp>
    </p:spTree>
    <p:extLst>
      <p:ext uri="{BB962C8B-B14F-4D97-AF65-F5344CB8AC3E}">
        <p14:creationId xmlns:p14="http://schemas.microsoft.com/office/powerpoint/2010/main" val="1239702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Available Column Types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2429164" cy="4978400"/>
          </a:xfrm>
        </p:spPr>
        <p:txBody>
          <a:bodyPr>
            <a:noAutofit/>
          </a:bodyPr>
          <a:lstStyle/>
          <a:p>
            <a:pPr marL="0" indent="0">
              <a:buNone/>
            </a:pPr>
            <a:r>
              <a:rPr lang="en-US" sz="2400" dirty="0" err="1">
                <a:latin typeface="Times New Roman" panose="02020603050405020304" pitchFamily="18" charset="0"/>
                <a:cs typeface="Times New Roman" panose="02020603050405020304" pitchFamily="18" charset="0"/>
              </a:rPr>
              <a:t>bigIncrements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bigInteger</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binary</a:t>
            </a:r>
          </a:p>
          <a:p>
            <a:pPr marL="0" indent="0">
              <a:buNone/>
            </a:pPr>
            <a:r>
              <a:rPr lang="en-US" sz="2400" dirty="0" err="1">
                <a:latin typeface="Times New Roman" panose="02020603050405020304" pitchFamily="18" charset="0"/>
                <a:cs typeface="Times New Roman" panose="02020603050405020304" pitchFamily="18" charset="0"/>
              </a:rPr>
              <a:t>boolean</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char</a:t>
            </a:r>
          </a:p>
          <a:p>
            <a:pPr marL="0" indent="0">
              <a:buNone/>
            </a:pPr>
            <a:r>
              <a:rPr lang="en-US" sz="2400" dirty="0" err="1">
                <a:latin typeface="Times New Roman" panose="02020603050405020304" pitchFamily="18" charset="0"/>
                <a:cs typeface="Times New Roman" panose="02020603050405020304" pitchFamily="18" charset="0"/>
              </a:rPr>
              <a:t>dateTimeTz</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dateTime</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date</a:t>
            </a:r>
          </a:p>
          <a:p>
            <a:pPr marL="0" indent="0">
              <a:buNone/>
            </a:pPr>
            <a:r>
              <a:rPr lang="en-US" sz="2400" dirty="0">
                <a:latin typeface="Times New Roman" panose="02020603050405020304" pitchFamily="18" charset="0"/>
                <a:cs typeface="Times New Roman" panose="02020603050405020304" pitchFamily="18" charset="0"/>
              </a:rPr>
              <a:t>Decimal</a:t>
            </a:r>
          </a:p>
          <a:p>
            <a:pPr marL="0" indent="0">
              <a:buNone/>
            </a:pPr>
            <a:r>
              <a:rPr lang="en-US" sz="2400" dirty="0">
                <a:latin typeface="Times New Roman" panose="02020603050405020304" pitchFamily="18" charset="0"/>
                <a:cs typeface="Times New Roman" panose="02020603050405020304" pitchFamily="18" charset="0"/>
              </a:rPr>
              <a:t>double</a:t>
            </a:r>
          </a:p>
          <a:p>
            <a:pPr marL="0" indent="0">
              <a:buNone/>
            </a:pPr>
            <a:r>
              <a:rPr lang="en-US" sz="2400" dirty="0" err="1">
                <a:latin typeface="Times New Roman" panose="02020603050405020304" pitchFamily="18" charset="0"/>
                <a:cs typeface="Times New Roman" panose="02020603050405020304" pitchFamily="18" charset="0"/>
              </a:rPr>
              <a:t>enum</a:t>
            </a:r>
            <a:endParaRPr lang="en-US" sz="2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DA83F8B0-A8B8-4047-BBE9-AF3859CB2A61}"/>
              </a:ext>
            </a:extLst>
          </p:cNvPr>
          <p:cNvSpPr txBox="1">
            <a:spLocks/>
          </p:cNvSpPr>
          <p:nvPr/>
        </p:nvSpPr>
        <p:spPr>
          <a:xfrm>
            <a:off x="3020288" y="1283855"/>
            <a:ext cx="2429164" cy="4978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Times New Roman" panose="02020603050405020304" pitchFamily="18" charset="0"/>
                <a:cs typeface="Times New Roman" panose="02020603050405020304" pitchFamily="18" charset="0"/>
              </a:rPr>
              <a:t>float</a:t>
            </a:r>
          </a:p>
          <a:p>
            <a:pPr marL="0" indent="0">
              <a:buNone/>
            </a:pPr>
            <a:r>
              <a:rPr lang="en-US" sz="2400" dirty="0" err="1">
                <a:latin typeface="Times New Roman" panose="02020603050405020304" pitchFamily="18" charset="0"/>
                <a:cs typeface="Times New Roman" panose="02020603050405020304" pitchFamily="18" charset="0"/>
              </a:rPr>
              <a:t>foreignId</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geometryCollection</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geometry</a:t>
            </a:r>
          </a:p>
          <a:p>
            <a:pPr marL="0" indent="0">
              <a:buNone/>
            </a:pPr>
            <a:r>
              <a:rPr lang="en-US" sz="2400" dirty="0">
                <a:latin typeface="Times New Roman" panose="02020603050405020304" pitchFamily="18" charset="0"/>
                <a:cs typeface="Times New Roman" panose="02020603050405020304" pitchFamily="18" charset="0"/>
              </a:rPr>
              <a:t>id</a:t>
            </a:r>
          </a:p>
          <a:p>
            <a:pPr marL="0" indent="0">
              <a:buNone/>
            </a:pPr>
            <a:r>
              <a:rPr lang="en-US" sz="2400" dirty="0">
                <a:latin typeface="Times New Roman" panose="02020603050405020304" pitchFamily="18" charset="0"/>
                <a:cs typeface="Times New Roman" panose="02020603050405020304" pitchFamily="18" charset="0"/>
              </a:rPr>
              <a:t>increments</a:t>
            </a:r>
          </a:p>
          <a:p>
            <a:pPr marL="0" indent="0">
              <a:buNone/>
            </a:pPr>
            <a:r>
              <a:rPr lang="en-US" sz="2400" dirty="0">
                <a:latin typeface="Times New Roman" panose="02020603050405020304" pitchFamily="18" charset="0"/>
                <a:cs typeface="Times New Roman" panose="02020603050405020304" pitchFamily="18" charset="0"/>
              </a:rPr>
              <a:t>integer</a:t>
            </a:r>
          </a:p>
          <a:p>
            <a:pPr marL="0" indent="0">
              <a:buNone/>
            </a:pPr>
            <a:r>
              <a:rPr lang="en-US" sz="2400" dirty="0" err="1">
                <a:latin typeface="Times New Roman" panose="02020603050405020304" pitchFamily="18" charset="0"/>
                <a:cs typeface="Times New Roman" panose="02020603050405020304" pitchFamily="18" charset="0"/>
              </a:rPr>
              <a:t>ipAddress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json</a:t>
            </a:r>
          </a:p>
          <a:p>
            <a:pPr marL="0" indent="0">
              <a:buNone/>
            </a:pPr>
            <a:r>
              <a:rPr lang="en-US" sz="2400" dirty="0" err="1">
                <a:latin typeface="Times New Roman" panose="02020603050405020304" pitchFamily="18" charset="0"/>
                <a:cs typeface="Times New Roman" panose="02020603050405020304" pitchFamily="18" charset="0"/>
              </a:rPr>
              <a:t>jsonb</a:t>
            </a:r>
            <a:endParaRPr lang="en-US" sz="24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6338D716-24AE-4E53-A99C-1C507E779E24}"/>
              </a:ext>
            </a:extLst>
          </p:cNvPr>
          <p:cNvSpPr txBox="1">
            <a:spLocks/>
          </p:cNvSpPr>
          <p:nvPr/>
        </p:nvSpPr>
        <p:spPr>
          <a:xfrm>
            <a:off x="5860470" y="1283855"/>
            <a:ext cx="2673930" cy="4978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err="1">
                <a:latin typeface="Times New Roman" panose="02020603050405020304" pitchFamily="18" charset="0"/>
                <a:cs typeface="Times New Roman" panose="02020603050405020304" pitchFamily="18" charset="0"/>
              </a:rPr>
              <a:t>lineString</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longText</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macAddress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mediumIncrements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mediumInteger</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mediumText</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morphs</a:t>
            </a:r>
          </a:p>
          <a:p>
            <a:pPr marL="0" indent="0">
              <a:buNone/>
            </a:pPr>
            <a:r>
              <a:rPr lang="en-US" sz="2400" dirty="0" err="1">
                <a:latin typeface="Times New Roman" panose="02020603050405020304" pitchFamily="18" charset="0"/>
                <a:cs typeface="Times New Roman" panose="02020603050405020304" pitchFamily="18" charset="0"/>
              </a:rPr>
              <a:t>multiLineString</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multiPoint</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multiPolygon</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nullableMorphs</a:t>
            </a:r>
            <a:endParaRPr lang="en-US" sz="24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059E252A-C012-4456-ABDF-0E8399C4107D}"/>
              </a:ext>
            </a:extLst>
          </p:cNvPr>
          <p:cNvSpPr txBox="1">
            <a:spLocks/>
          </p:cNvSpPr>
          <p:nvPr/>
        </p:nvSpPr>
        <p:spPr>
          <a:xfrm>
            <a:off x="8908470" y="1270001"/>
            <a:ext cx="3024912" cy="4978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err="1">
                <a:latin typeface="Times New Roman" panose="02020603050405020304" pitchFamily="18" charset="0"/>
                <a:cs typeface="Times New Roman" panose="02020603050405020304" pitchFamily="18" charset="0"/>
              </a:rPr>
              <a:t>nullableTimestamps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nullableUuidMorphs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point</a:t>
            </a:r>
          </a:p>
          <a:p>
            <a:pPr marL="0" indent="0">
              <a:buNone/>
            </a:pPr>
            <a:r>
              <a:rPr lang="en-US" sz="2400" dirty="0">
                <a:latin typeface="Times New Roman" panose="02020603050405020304" pitchFamily="18" charset="0"/>
                <a:cs typeface="Times New Roman" panose="02020603050405020304" pitchFamily="18" charset="0"/>
              </a:rPr>
              <a:t>polygon</a:t>
            </a:r>
          </a:p>
          <a:p>
            <a:pPr marL="0" indent="0">
              <a:buNone/>
            </a:pPr>
            <a:r>
              <a:rPr lang="en-US" sz="2400" dirty="0" err="1">
                <a:latin typeface="Times New Roman" panose="02020603050405020304" pitchFamily="18" charset="0"/>
                <a:cs typeface="Times New Roman" panose="02020603050405020304" pitchFamily="18" charset="0"/>
              </a:rPr>
              <a:t>rememberToken</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set</a:t>
            </a:r>
          </a:p>
          <a:p>
            <a:pPr marL="0" indent="0">
              <a:buNone/>
            </a:pPr>
            <a:r>
              <a:rPr lang="en-US" sz="2400" dirty="0" err="1">
                <a:latin typeface="Times New Roman" panose="02020603050405020304" pitchFamily="18" charset="0"/>
                <a:cs typeface="Times New Roman" panose="02020603050405020304" pitchFamily="18" charset="0"/>
              </a:rPr>
              <a:t>smallIncrements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smallInteger</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softDeletesTz</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softDeletes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string</a:t>
            </a:r>
          </a:p>
        </p:txBody>
      </p:sp>
    </p:spTree>
    <p:extLst>
      <p:ext uri="{BB962C8B-B14F-4D97-AF65-F5344CB8AC3E}">
        <p14:creationId xmlns:p14="http://schemas.microsoft.com/office/powerpoint/2010/main" val="3558551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0" end="0"/>
                                            </p:txEl>
                                          </p:spTgt>
                                        </p:tgtEl>
                                        <p:attrNameLst>
                                          <p:attrName>style.visibility</p:attrName>
                                        </p:attrNameLst>
                                      </p:cBhvr>
                                      <p:to>
                                        <p:strVal val="visible"/>
                                      </p:to>
                                    </p:set>
                                    <p:animEffect transition="in" filter="fade">
                                      <p:cBhvr>
                                        <p:cTn id="62" dur="500"/>
                                        <p:tgtEl>
                                          <p:spTgt spid="4">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1" end="1"/>
                                            </p:txEl>
                                          </p:spTgt>
                                        </p:tgtEl>
                                        <p:attrNameLst>
                                          <p:attrName>style.visibility</p:attrName>
                                        </p:attrNameLst>
                                      </p:cBhvr>
                                      <p:to>
                                        <p:strVal val="visible"/>
                                      </p:to>
                                    </p:set>
                                    <p:animEffect transition="in" filter="fade">
                                      <p:cBhvr>
                                        <p:cTn id="67" dur="500"/>
                                        <p:tgtEl>
                                          <p:spTgt spid="4">
                                            <p:txEl>
                                              <p:pRg st="1" end="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2" end="2"/>
                                            </p:txEl>
                                          </p:spTgt>
                                        </p:tgtEl>
                                        <p:attrNameLst>
                                          <p:attrName>style.visibility</p:attrName>
                                        </p:attrNameLst>
                                      </p:cBhvr>
                                      <p:to>
                                        <p:strVal val="visible"/>
                                      </p:to>
                                    </p:set>
                                    <p:animEffect transition="in" filter="fade">
                                      <p:cBhvr>
                                        <p:cTn id="72" dur="500"/>
                                        <p:tgtEl>
                                          <p:spTgt spid="4">
                                            <p:txEl>
                                              <p:pRg st="2" end="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3" end="3"/>
                                            </p:txEl>
                                          </p:spTgt>
                                        </p:tgtEl>
                                        <p:attrNameLst>
                                          <p:attrName>style.visibility</p:attrName>
                                        </p:attrNameLst>
                                      </p:cBhvr>
                                      <p:to>
                                        <p:strVal val="visible"/>
                                      </p:to>
                                    </p:set>
                                    <p:animEffect transition="in" filter="fade">
                                      <p:cBhvr>
                                        <p:cTn id="77" dur="500"/>
                                        <p:tgtEl>
                                          <p:spTgt spid="4">
                                            <p:txEl>
                                              <p:pRg st="3" end="3"/>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4" end="4"/>
                                            </p:txEl>
                                          </p:spTgt>
                                        </p:tgtEl>
                                        <p:attrNameLst>
                                          <p:attrName>style.visibility</p:attrName>
                                        </p:attrNameLst>
                                      </p:cBhvr>
                                      <p:to>
                                        <p:strVal val="visible"/>
                                      </p:to>
                                    </p:set>
                                    <p:animEffect transition="in" filter="fade">
                                      <p:cBhvr>
                                        <p:cTn id="82" dur="500"/>
                                        <p:tgtEl>
                                          <p:spTgt spid="4">
                                            <p:txEl>
                                              <p:pRg st="4" end="4"/>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
                                            <p:txEl>
                                              <p:pRg st="5" end="5"/>
                                            </p:txEl>
                                          </p:spTgt>
                                        </p:tgtEl>
                                        <p:attrNameLst>
                                          <p:attrName>style.visibility</p:attrName>
                                        </p:attrNameLst>
                                      </p:cBhvr>
                                      <p:to>
                                        <p:strVal val="visible"/>
                                      </p:to>
                                    </p:set>
                                    <p:animEffect transition="in" filter="fade">
                                      <p:cBhvr>
                                        <p:cTn id="87" dur="500"/>
                                        <p:tgtEl>
                                          <p:spTgt spid="4">
                                            <p:txEl>
                                              <p:pRg st="5" end="5"/>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
                                            <p:txEl>
                                              <p:pRg st="6" end="6"/>
                                            </p:txEl>
                                          </p:spTgt>
                                        </p:tgtEl>
                                        <p:attrNameLst>
                                          <p:attrName>style.visibility</p:attrName>
                                        </p:attrNameLst>
                                      </p:cBhvr>
                                      <p:to>
                                        <p:strVal val="visible"/>
                                      </p:to>
                                    </p:set>
                                    <p:animEffect transition="in" filter="fade">
                                      <p:cBhvr>
                                        <p:cTn id="92" dur="500"/>
                                        <p:tgtEl>
                                          <p:spTgt spid="4">
                                            <p:txEl>
                                              <p:pRg st="6" end="6"/>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4">
                                            <p:txEl>
                                              <p:pRg st="7" end="7"/>
                                            </p:txEl>
                                          </p:spTgt>
                                        </p:tgtEl>
                                        <p:attrNameLst>
                                          <p:attrName>style.visibility</p:attrName>
                                        </p:attrNameLst>
                                      </p:cBhvr>
                                      <p:to>
                                        <p:strVal val="visible"/>
                                      </p:to>
                                    </p:set>
                                    <p:animEffect transition="in" filter="fade">
                                      <p:cBhvr>
                                        <p:cTn id="97" dur="500"/>
                                        <p:tgtEl>
                                          <p:spTgt spid="4">
                                            <p:txEl>
                                              <p:pRg st="7" end="7"/>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4">
                                            <p:txEl>
                                              <p:pRg st="8" end="8"/>
                                            </p:txEl>
                                          </p:spTgt>
                                        </p:tgtEl>
                                        <p:attrNameLst>
                                          <p:attrName>style.visibility</p:attrName>
                                        </p:attrNameLst>
                                      </p:cBhvr>
                                      <p:to>
                                        <p:strVal val="visible"/>
                                      </p:to>
                                    </p:set>
                                    <p:animEffect transition="in" filter="fade">
                                      <p:cBhvr>
                                        <p:cTn id="102" dur="500"/>
                                        <p:tgtEl>
                                          <p:spTgt spid="4">
                                            <p:txEl>
                                              <p:pRg st="8" end="8"/>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4">
                                            <p:txEl>
                                              <p:pRg st="9" end="9"/>
                                            </p:txEl>
                                          </p:spTgt>
                                        </p:tgtEl>
                                        <p:attrNameLst>
                                          <p:attrName>style.visibility</p:attrName>
                                        </p:attrNameLst>
                                      </p:cBhvr>
                                      <p:to>
                                        <p:strVal val="visible"/>
                                      </p:to>
                                    </p:set>
                                    <p:animEffect transition="in" filter="fade">
                                      <p:cBhvr>
                                        <p:cTn id="107" dur="500"/>
                                        <p:tgtEl>
                                          <p:spTgt spid="4">
                                            <p:txEl>
                                              <p:pRg st="9" end="9"/>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5">
                                            <p:txEl>
                                              <p:pRg st="0" end="0"/>
                                            </p:txEl>
                                          </p:spTgt>
                                        </p:tgtEl>
                                        <p:attrNameLst>
                                          <p:attrName>style.visibility</p:attrName>
                                        </p:attrNameLst>
                                      </p:cBhvr>
                                      <p:to>
                                        <p:strVal val="visible"/>
                                      </p:to>
                                    </p:set>
                                    <p:animEffect transition="in" filter="fade">
                                      <p:cBhvr>
                                        <p:cTn id="112" dur="500"/>
                                        <p:tgtEl>
                                          <p:spTgt spid="5">
                                            <p:txEl>
                                              <p:pRg st="0" end="0"/>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5">
                                            <p:txEl>
                                              <p:pRg st="1" end="1"/>
                                            </p:txEl>
                                          </p:spTgt>
                                        </p:tgtEl>
                                        <p:attrNameLst>
                                          <p:attrName>style.visibility</p:attrName>
                                        </p:attrNameLst>
                                      </p:cBhvr>
                                      <p:to>
                                        <p:strVal val="visible"/>
                                      </p:to>
                                    </p:set>
                                    <p:animEffect transition="in" filter="fade">
                                      <p:cBhvr>
                                        <p:cTn id="117" dur="500"/>
                                        <p:tgtEl>
                                          <p:spTgt spid="5">
                                            <p:txEl>
                                              <p:pRg st="1" end="1"/>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5">
                                            <p:txEl>
                                              <p:pRg st="2" end="2"/>
                                            </p:txEl>
                                          </p:spTgt>
                                        </p:tgtEl>
                                        <p:attrNameLst>
                                          <p:attrName>style.visibility</p:attrName>
                                        </p:attrNameLst>
                                      </p:cBhvr>
                                      <p:to>
                                        <p:strVal val="visible"/>
                                      </p:to>
                                    </p:set>
                                    <p:animEffect transition="in" filter="fade">
                                      <p:cBhvr>
                                        <p:cTn id="122" dur="500"/>
                                        <p:tgtEl>
                                          <p:spTgt spid="5">
                                            <p:txEl>
                                              <p:pRg st="2" end="2"/>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5">
                                            <p:txEl>
                                              <p:pRg st="3" end="3"/>
                                            </p:txEl>
                                          </p:spTgt>
                                        </p:tgtEl>
                                        <p:attrNameLst>
                                          <p:attrName>style.visibility</p:attrName>
                                        </p:attrNameLst>
                                      </p:cBhvr>
                                      <p:to>
                                        <p:strVal val="visible"/>
                                      </p:to>
                                    </p:set>
                                    <p:animEffect transition="in" filter="fade">
                                      <p:cBhvr>
                                        <p:cTn id="127" dur="500"/>
                                        <p:tgtEl>
                                          <p:spTgt spid="5">
                                            <p:txEl>
                                              <p:pRg st="3" end="3"/>
                                            </p:txEl>
                                          </p:spTgt>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5">
                                            <p:txEl>
                                              <p:pRg st="4" end="4"/>
                                            </p:txEl>
                                          </p:spTgt>
                                        </p:tgtEl>
                                        <p:attrNameLst>
                                          <p:attrName>style.visibility</p:attrName>
                                        </p:attrNameLst>
                                      </p:cBhvr>
                                      <p:to>
                                        <p:strVal val="visible"/>
                                      </p:to>
                                    </p:set>
                                    <p:animEffect transition="in" filter="fade">
                                      <p:cBhvr>
                                        <p:cTn id="132" dur="500"/>
                                        <p:tgtEl>
                                          <p:spTgt spid="5">
                                            <p:txEl>
                                              <p:pRg st="4" end="4"/>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5">
                                            <p:txEl>
                                              <p:pRg st="5" end="5"/>
                                            </p:txEl>
                                          </p:spTgt>
                                        </p:tgtEl>
                                        <p:attrNameLst>
                                          <p:attrName>style.visibility</p:attrName>
                                        </p:attrNameLst>
                                      </p:cBhvr>
                                      <p:to>
                                        <p:strVal val="visible"/>
                                      </p:to>
                                    </p:set>
                                    <p:animEffect transition="in" filter="fade">
                                      <p:cBhvr>
                                        <p:cTn id="137" dur="500"/>
                                        <p:tgtEl>
                                          <p:spTgt spid="5">
                                            <p:txEl>
                                              <p:pRg st="5" end="5"/>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5">
                                            <p:txEl>
                                              <p:pRg st="6" end="6"/>
                                            </p:txEl>
                                          </p:spTgt>
                                        </p:tgtEl>
                                        <p:attrNameLst>
                                          <p:attrName>style.visibility</p:attrName>
                                        </p:attrNameLst>
                                      </p:cBhvr>
                                      <p:to>
                                        <p:strVal val="visible"/>
                                      </p:to>
                                    </p:set>
                                    <p:animEffect transition="in" filter="fade">
                                      <p:cBhvr>
                                        <p:cTn id="142" dur="500"/>
                                        <p:tgtEl>
                                          <p:spTgt spid="5">
                                            <p:txEl>
                                              <p:pRg st="6" end="6"/>
                                            </p:txEl>
                                          </p:spTgt>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5">
                                            <p:txEl>
                                              <p:pRg st="7" end="7"/>
                                            </p:txEl>
                                          </p:spTgt>
                                        </p:tgtEl>
                                        <p:attrNameLst>
                                          <p:attrName>style.visibility</p:attrName>
                                        </p:attrNameLst>
                                      </p:cBhvr>
                                      <p:to>
                                        <p:strVal val="visible"/>
                                      </p:to>
                                    </p:set>
                                    <p:animEffect transition="in" filter="fade">
                                      <p:cBhvr>
                                        <p:cTn id="147" dur="500"/>
                                        <p:tgtEl>
                                          <p:spTgt spid="5">
                                            <p:txEl>
                                              <p:pRg st="7" end="7"/>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grpId="0" nodeType="clickEffect">
                                  <p:stCondLst>
                                    <p:cond delay="0"/>
                                  </p:stCondLst>
                                  <p:childTnLst>
                                    <p:set>
                                      <p:cBhvr>
                                        <p:cTn id="151" dur="1" fill="hold">
                                          <p:stCondLst>
                                            <p:cond delay="0"/>
                                          </p:stCondLst>
                                        </p:cTn>
                                        <p:tgtEl>
                                          <p:spTgt spid="5">
                                            <p:txEl>
                                              <p:pRg st="8" end="8"/>
                                            </p:txEl>
                                          </p:spTgt>
                                        </p:tgtEl>
                                        <p:attrNameLst>
                                          <p:attrName>style.visibility</p:attrName>
                                        </p:attrNameLst>
                                      </p:cBhvr>
                                      <p:to>
                                        <p:strVal val="visible"/>
                                      </p:to>
                                    </p:set>
                                    <p:animEffect transition="in" filter="fade">
                                      <p:cBhvr>
                                        <p:cTn id="152" dur="500"/>
                                        <p:tgtEl>
                                          <p:spTgt spid="5">
                                            <p:txEl>
                                              <p:pRg st="8" end="8"/>
                                            </p:txEl>
                                          </p:spTgt>
                                        </p:tgtEl>
                                      </p:cBhvr>
                                    </p:animEffect>
                                  </p:childTnLst>
                                </p:cTn>
                              </p:par>
                            </p:childTnLst>
                          </p:cTn>
                        </p:par>
                      </p:childTnLst>
                    </p:cTn>
                  </p:par>
                  <p:par>
                    <p:cTn id="153" fill="hold">
                      <p:stCondLst>
                        <p:cond delay="indefinite"/>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5">
                                            <p:txEl>
                                              <p:pRg st="9" end="9"/>
                                            </p:txEl>
                                          </p:spTgt>
                                        </p:tgtEl>
                                        <p:attrNameLst>
                                          <p:attrName>style.visibility</p:attrName>
                                        </p:attrNameLst>
                                      </p:cBhvr>
                                      <p:to>
                                        <p:strVal val="visible"/>
                                      </p:to>
                                    </p:set>
                                    <p:animEffect transition="in" filter="fade">
                                      <p:cBhvr>
                                        <p:cTn id="157" dur="500"/>
                                        <p:tgtEl>
                                          <p:spTgt spid="5">
                                            <p:txEl>
                                              <p:pRg st="9" end="9"/>
                                            </p:txEl>
                                          </p:spTgt>
                                        </p:tgtEl>
                                      </p:cBhvr>
                                    </p:animEffect>
                                  </p:childTnLst>
                                </p:cTn>
                              </p:par>
                            </p:childTnLst>
                          </p:cTn>
                        </p:par>
                      </p:childTnLst>
                    </p:cTn>
                  </p:par>
                  <p:par>
                    <p:cTn id="158" fill="hold">
                      <p:stCondLst>
                        <p:cond delay="indefinite"/>
                      </p:stCondLst>
                      <p:childTnLst>
                        <p:par>
                          <p:cTn id="159" fill="hold">
                            <p:stCondLst>
                              <p:cond delay="0"/>
                            </p:stCondLst>
                            <p:childTnLst>
                              <p:par>
                                <p:cTn id="160" presetID="10" presetClass="entr" presetSubtype="0" fill="hold" grpId="0" nodeType="clickEffect">
                                  <p:stCondLst>
                                    <p:cond delay="0"/>
                                  </p:stCondLst>
                                  <p:childTnLst>
                                    <p:set>
                                      <p:cBhvr>
                                        <p:cTn id="161" dur="1" fill="hold">
                                          <p:stCondLst>
                                            <p:cond delay="0"/>
                                          </p:stCondLst>
                                        </p:cTn>
                                        <p:tgtEl>
                                          <p:spTgt spid="5">
                                            <p:txEl>
                                              <p:pRg st="10" end="10"/>
                                            </p:txEl>
                                          </p:spTgt>
                                        </p:tgtEl>
                                        <p:attrNameLst>
                                          <p:attrName>style.visibility</p:attrName>
                                        </p:attrNameLst>
                                      </p:cBhvr>
                                      <p:to>
                                        <p:strVal val="visible"/>
                                      </p:to>
                                    </p:set>
                                    <p:animEffect transition="in" filter="fade">
                                      <p:cBhvr>
                                        <p:cTn id="162" dur="500"/>
                                        <p:tgtEl>
                                          <p:spTgt spid="5">
                                            <p:txEl>
                                              <p:pRg st="10" end="10"/>
                                            </p:txEl>
                                          </p:spTgt>
                                        </p:tgtEl>
                                      </p:cBhvr>
                                    </p:animEffect>
                                  </p:childTnLst>
                                </p:cTn>
                              </p:par>
                            </p:childTnLst>
                          </p:cTn>
                        </p:par>
                      </p:childTnLst>
                    </p:cTn>
                  </p:par>
                  <p:par>
                    <p:cTn id="163" fill="hold">
                      <p:stCondLst>
                        <p:cond delay="indefinite"/>
                      </p:stCondLst>
                      <p:childTnLst>
                        <p:par>
                          <p:cTn id="164" fill="hold">
                            <p:stCondLst>
                              <p:cond delay="0"/>
                            </p:stCondLst>
                            <p:childTnLst>
                              <p:par>
                                <p:cTn id="165" presetID="10" presetClass="entr" presetSubtype="0" fill="hold" grpId="0" nodeType="clickEffect">
                                  <p:stCondLst>
                                    <p:cond delay="0"/>
                                  </p:stCondLst>
                                  <p:childTnLst>
                                    <p:set>
                                      <p:cBhvr>
                                        <p:cTn id="166" dur="1" fill="hold">
                                          <p:stCondLst>
                                            <p:cond delay="0"/>
                                          </p:stCondLst>
                                        </p:cTn>
                                        <p:tgtEl>
                                          <p:spTgt spid="6">
                                            <p:txEl>
                                              <p:pRg st="0" end="0"/>
                                            </p:txEl>
                                          </p:spTgt>
                                        </p:tgtEl>
                                        <p:attrNameLst>
                                          <p:attrName>style.visibility</p:attrName>
                                        </p:attrNameLst>
                                      </p:cBhvr>
                                      <p:to>
                                        <p:strVal val="visible"/>
                                      </p:to>
                                    </p:set>
                                    <p:animEffect transition="in" filter="fade">
                                      <p:cBhvr>
                                        <p:cTn id="167" dur="500"/>
                                        <p:tgtEl>
                                          <p:spTgt spid="6">
                                            <p:txEl>
                                              <p:pRg st="0" end="0"/>
                                            </p:txEl>
                                          </p:spTgt>
                                        </p:tgtEl>
                                      </p:cBhvr>
                                    </p:animEffect>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grpId="0" nodeType="clickEffect">
                                  <p:stCondLst>
                                    <p:cond delay="0"/>
                                  </p:stCondLst>
                                  <p:childTnLst>
                                    <p:set>
                                      <p:cBhvr>
                                        <p:cTn id="171" dur="1" fill="hold">
                                          <p:stCondLst>
                                            <p:cond delay="0"/>
                                          </p:stCondLst>
                                        </p:cTn>
                                        <p:tgtEl>
                                          <p:spTgt spid="6">
                                            <p:txEl>
                                              <p:pRg st="1" end="1"/>
                                            </p:txEl>
                                          </p:spTgt>
                                        </p:tgtEl>
                                        <p:attrNameLst>
                                          <p:attrName>style.visibility</p:attrName>
                                        </p:attrNameLst>
                                      </p:cBhvr>
                                      <p:to>
                                        <p:strVal val="visible"/>
                                      </p:to>
                                    </p:set>
                                    <p:animEffect transition="in" filter="fade">
                                      <p:cBhvr>
                                        <p:cTn id="172" dur="500"/>
                                        <p:tgtEl>
                                          <p:spTgt spid="6">
                                            <p:txEl>
                                              <p:pRg st="1" end="1"/>
                                            </p:txEl>
                                          </p:spTgt>
                                        </p:tgtEl>
                                      </p:cBhvr>
                                    </p:animEffect>
                                  </p:childTnLst>
                                </p:cTn>
                              </p:par>
                            </p:childTnLst>
                          </p:cTn>
                        </p:par>
                      </p:childTnLst>
                    </p:cTn>
                  </p:par>
                  <p:par>
                    <p:cTn id="173" fill="hold">
                      <p:stCondLst>
                        <p:cond delay="indefinite"/>
                      </p:stCondLst>
                      <p:childTnLst>
                        <p:par>
                          <p:cTn id="174" fill="hold">
                            <p:stCondLst>
                              <p:cond delay="0"/>
                            </p:stCondLst>
                            <p:childTnLst>
                              <p:par>
                                <p:cTn id="175" presetID="10" presetClass="entr" presetSubtype="0" fill="hold" grpId="0" nodeType="clickEffect">
                                  <p:stCondLst>
                                    <p:cond delay="0"/>
                                  </p:stCondLst>
                                  <p:childTnLst>
                                    <p:set>
                                      <p:cBhvr>
                                        <p:cTn id="176" dur="1" fill="hold">
                                          <p:stCondLst>
                                            <p:cond delay="0"/>
                                          </p:stCondLst>
                                        </p:cTn>
                                        <p:tgtEl>
                                          <p:spTgt spid="6">
                                            <p:txEl>
                                              <p:pRg st="2" end="2"/>
                                            </p:txEl>
                                          </p:spTgt>
                                        </p:tgtEl>
                                        <p:attrNameLst>
                                          <p:attrName>style.visibility</p:attrName>
                                        </p:attrNameLst>
                                      </p:cBhvr>
                                      <p:to>
                                        <p:strVal val="visible"/>
                                      </p:to>
                                    </p:set>
                                    <p:animEffect transition="in" filter="fade">
                                      <p:cBhvr>
                                        <p:cTn id="177" dur="500"/>
                                        <p:tgtEl>
                                          <p:spTgt spid="6">
                                            <p:txEl>
                                              <p:pRg st="2" end="2"/>
                                            </p:txEl>
                                          </p:spTgt>
                                        </p:tgtEl>
                                      </p:cBhvr>
                                    </p:animEffect>
                                  </p:childTnLst>
                                </p:cTn>
                              </p:par>
                            </p:childTnLst>
                          </p:cTn>
                        </p:par>
                      </p:childTnLst>
                    </p:cTn>
                  </p:par>
                  <p:par>
                    <p:cTn id="178" fill="hold">
                      <p:stCondLst>
                        <p:cond delay="indefinite"/>
                      </p:stCondLst>
                      <p:childTnLst>
                        <p:par>
                          <p:cTn id="179" fill="hold">
                            <p:stCondLst>
                              <p:cond delay="0"/>
                            </p:stCondLst>
                            <p:childTnLst>
                              <p:par>
                                <p:cTn id="180" presetID="10" presetClass="entr" presetSubtype="0" fill="hold" grpId="0" nodeType="clickEffect">
                                  <p:stCondLst>
                                    <p:cond delay="0"/>
                                  </p:stCondLst>
                                  <p:childTnLst>
                                    <p:set>
                                      <p:cBhvr>
                                        <p:cTn id="181" dur="1" fill="hold">
                                          <p:stCondLst>
                                            <p:cond delay="0"/>
                                          </p:stCondLst>
                                        </p:cTn>
                                        <p:tgtEl>
                                          <p:spTgt spid="6">
                                            <p:txEl>
                                              <p:pRg st="3" end="3"/>
                                            </p:txEl>
                                          </p:spTgt>
                                        </p:tgtEl>
                                        <p:attrNameLst>
                                          <p:attrName>style.visibility</p:attrName>
                                        </p:attrNameLst>
                                      </p:cBhvr>
                                      <p:to>
                                        <p:strVal val="visible"/>
                                      </p:to>
                                    </p:set>
                                    <p:animEffect transition="in" filter="fade">
                                      <p:cBhvr>
                                        <p:cTn id="182" dur="500"/>
                                        <p:tgtEl>
                                          <p:spTgt spid="6">
                                            <p:txEl>
                                              <p:pRg st="3" end="3"/>
                                            </p:txEl>
                                          </p:spTgt>
                                        </p:tgtEl>
                                      </p:cBhvr>
                                    </p:animEffect>
                                  </p:childTnLst>
                                </p:cTn>
                              </p:par>
                            </p:childTnLst>
                          </p:cTn>
                        </p:par>
                      </p:childTnLst>
                    </p:cTn>
                  </p:par>
                  <p:par>
                    <p:cTn id="183" fill="hold">
                      <p:stCondLst>
                        <p:cond delay="indefinite"/>
                      </p:stCondLst>
                      <p:childTnLst>
                        <p:par>
                          <p:cTn id="184" fill="hold">
                            <p:stCondLst>
                              <p:cond delay="0"/>
                            </p:stCondLst>
                            <p:childTnLst>
                              <p:par>
                                <p:cTn id="185" presetID="10" presetClass="entr" presetSubtype="0" fill="hold" grpId="0" nodeType="clickEffect">
                                  <p:stCondLst>
                                    <p:cond delay="0"/>
                                  </p:stCondLst>
                                  <p:childTnLst>
                                    <p:set>
                                      <p:cBhvr>
                                        <p:cTn id="186" dur="1" fill="hold">
                                          <p:stCondLst>
                                            <p:cond delay="0"/>
                                          </p:stCondLst>
                                        </p:cTn>
                                        <p:tgtEl>
                                          <p:spTgt spid="6">
                                            <p:txEl>
                                              <p:pRg st="4" end="4"/>
                                            </p:txEl>
                                          </p:spTgt>
                                        </p:tgtEl>
                                        <p:attrNameLst>
                                          <p:attrName>style.visibility</p:attrName>
                                        </p:attrNameLst>
                                      </p:cBhvr>
                                      <p:to>
                                        <p:strVal val="visible"/>
                                      </p:to>
                                    </p:set>
                                    <p:animEffect transition="in" filter="fade">
                                      <p:cBhvr>
                                        <p:cTn id="187" dur="500"/>
                                        <p:tgtEl>
                                          <p:spTgt spid="6">
                                            <p:txEl>
                                              <p:pRg st="4" end="4"/>
                                            </p:txEl>
                                          </p:spTgt>
                                        </p:tgtEl>
                                      </p:cBhvr>
                                    </p:animEffect>
                                  </p:childTnLst>
                                </p:cTn>
                              </p:par>
                            </p:childTnLst>
                          </p:cTn>
                        </p:par>
                      </p:childTnLst>
                    </p:cTn>
                  </p:par>
                  <p:par>
                    <p:cTn id="188" fill="hold">
                      <p:stCondLst>
                        <p:cond delay="indefinite"/>
                      </p:stCondLst>
                      <p:childTnLst>
                        <p:par>
                          <p:cTn id="189" fill="hold">
                            <p:stCondLst>
                              <p:cond delay="0"/>
                            </p:stCondLst>
                            <p:childTnLst>
                              <p:par>
                                <p:cTn id="190" presetID="10" presetClass="entr" presetSubtype="0" fill="hold" grpId="0" nodeType="clickEffect">
                                  <p:stCondLst>
                                    <p:cond delay="0"/>
                                  </p:stCondLst>
                                  <p:childTnLst>
                                    <p:set>
                                      <p:cBhvr>
                                        <p:cTn id="191" dur="1" fill="hold">
                                          <p:stCondLst>
                                            <p:cond delay="0"/>
                                          </p:stCondLst>
                                        </p:cTn>
                                        <p:tgtEl>
                                          <p:spTgt spid="6">
                                            <p:txEl>
                                              <p:pRg st="5" end="5"/>
                                            </p:txEl>
                                          </p:spTgt>
                                        </p:tgtEl>
                                        <p:attrNameLst>
                                          <p:attrName>style.visibility</p:attrName>
                                        </p:attrNameLst>
                                      </p:cBhvr>
                                      <p:to>
                                        <p:strVal val="visible"/>
                                      </p:to>
                                    </p:set>
                                    <p:animEffect transition="in" filter="fade">
                                      <p:cBhvr>
                                        <p:cTn id="192" dur="500"/>
                                        <p:tgtEl>
                                          <p:spTgt spid="6">
                                            <p:txEl>
                                              <p:pRg st="5" end="5"/>
                                            </p:txEl>
                                          </p:spTgt>
                                        </p:tgtEl>
                                      </p:cBhvr>
                                    </p:animEffect>
                                  </p:childTnLst>
                                </p:cTn>
                              </p:par>
                            </p:childTnLst>
                          </p:cTn>
                        </p:par>
                      </p:childTnLst>
                    </p:cTn>
                  </p:par>
                  <p:par>
                    <p:cTn id="193" fill="hold">
                      <p:stCondLst>
                        <p:cond delay="indefinite"/>
                      </p:stCondLst>
                      <p:childTnLst>
                        <p:par>
                          <p:cTn id="194" fill="hold">
                            <p:stCondLst>
                              <p:cond delay="0"/>
                            </p:stCondLst>
                            <p:childTnLst>
                              <p:par>
                                <p:cTn id="195" presetID="10" presetClass="entr" presetSubtype="0" fill="hold" grpId="0" nodeType="clickEffect">
                                  <p:stCondLst>
                                    <p:cond delay="0"/>
                                  </p:stCondLst>
                                  <p:childTnLst>
                                    <p:set>
                                      <p:cBhvr>
                                        <p:cTn id="196" dur="1" fill="hold">
                                          <p:stCondLst>
                                            <p:cond delay="0"/>
                                          </p:stCondLst>
                                        </p:cTn>
                                        <p:tgtEl>
                                          <p:spTgt spid="6">
                                            <p:txEl>
                                              <p:pRg st="6" end="6"/>
                                            </p:txEl>
                                          </p:spTgt>
                                        </p:tgtEl>
                                        <p:attrNameLst>
                                          <p:attrName>style.visibility</p:attrName>
                                        </p:attrNameLst>
                                      </p:cBhvr>
                                      <p:to>
                                        <p:strVal val="visible"/>
                                      </p:to>
                                    </p:set>
                                    <p:animEffect transition="in" filter="fade">
                                      <p:cBhvr>
                                        <p:cTn id="197" dur="500"/>
                                        <p:tgtEl>
                                          <p:spTgt spid="6">
                                            <p:txEl>
                                              <p:pRg st="6" end="6"/>
                                            </p:txEl>
                                          </p:spTgt>
                                        </p:tgtEl>
                                      </p:cBhvr>
                                    </p:animEffect>
                                  </p:childTnLst>
                                </p:cTn>
                              </p:par>
                            </p:childTnLst>
                          </p:cTn>
                        </p:par>
                      </p:childTnLst>
                    </p:cTn>
                  </p:par>
                  <p:par>
                    <p:cTn id="198" fill="hold">
                      <p:stCondLst>
                        <p:cond delay="indefinite"/>
                      </p:stCondLst>
                      <p:childTnLst>
                        <p:par>
                          <p:cTn id="199" fill="hold">
                            <p:stCondLst>
                              <p:cond delay="0"/>
                            </p:stCondLst>
                            <p:childTnLst>
                              <p:par>
                                <p:cTn id="200" presetID="10" presetClass="entr" presetSubtype="0" fill="hold" grpId="0" nodeType="clickEffect">
                                  <p:stCondLst>
                                    <p:cond delay="0"/>
                                  </p:stCondLst>
                                  <p:childTnLst>
                                    <p:set>
                                      <p:cBhvr>
                                        <p:cTn id="201" dur="1" fill="hold">
                                          <p:stCondLst>
                                            <p:cond delay="0"/>
                                          </p:stCondLst>
                                        </p:cTn>
                                        <p:tgtEl>
                                          <p:spTgt spid="6">
                                            <p:txEl>
                                              <p:pRg st="7" end="7"/>
                                            </p:txEl>
                                          </p:spTgt>
                                        </p:tgtEl>
                                        <p:attrNameLst>
                                          <p:attrName>style.visibility</p:attrName>
                                        </p:attrNameLst>
                                      </p:cBhvr>
                                      <p:to>
                                        <p:strVal val="visible"/>
                                      </p:to>
                                    </p:set>
                                    <p:animEffect transition="in" filter="fade">
                                      <p:cBhvr>
                                        <p:cTn id="202" dur="500"/>
                                        <p:tgtEl>
                                          <p:spTgt spid="6">
                                            <p:txEl>
                                              <p:pRg st="7" end="7"/>
                                            </p:txEl>
                                          </p:spTgt>
                                        </p:tgtEl>
                                      </p:cBhvr>
                                    </p:animEffect>
                                  </p:childTnLst>
                                </p:cTn>
                              </p:par>
                            </p:childTnLst>
                          </p:cTn>
                        </p:par>
                      </p:childTnLst>
                    </p:cTn>
                  </p:par>
                  <p:par>
                    <p:cTn id="203" fill="hold">
                      <p:stCondLst>
                        <p:cond delay="indefinite"/>
                      </p:stCondLst>
                      <p:childTnLst>
                        <p:par>
                          <p:cTn id="204" fill="hold">
                            <p:stCondLst>
                              <p:cond delay="0"/>
                            </p:stCondLst>
                            <p:childTnLst>
                              <p:par>
                                <p:cTn id="205" presetID="10" presetClass="entr" presetSubtype="0" fill="hold" grpId="0" nodeType="clickEffect">
                                  <p:stCondLst>
                                    <p:cond delay="0"/>
                                  </p:stCondLst>
                                  <p:childTnLst>
                                    <p:set>
                                      <p:cBhvr>
                                        <p:cTn id="206" dur="1" fill="hold">
                                          <p:stCondLst>
                                            <p:cond delay="0"/>
                                          </p:stCondLst>
                                        </p:cTn>
                                        <p:tgtEl>
                                          <p:spTgt spid="6">
                                            <p:txEl>
                                              <p:pRg st="8" end="8"/>
                                            </p:txEl>
                                          </p:spTgt>
                                        </p:tgtEl>
                                        <p:attrNameLst>
                                          <p:attrName>style.visibility</p:attrName>
                                        </p:attrNameLst>
                                      </p:cBhvr>
                                      <p:to>
                                        <p:strVal val="visible"/>
                                      </p:to>
                                    </p:set>
                                    <p:animEffect transition="in" filter="fade">
                                      <p:cBhvr>
                                        <p:cTn id="207" dur="500"/>
                                        <p:tgtEl>
                                          <p:spTgt spid="6">
                                            <p:txEl>
                                              <p:pRg st="8" end="8"/>
                                            </p:txEl>
                                          </p:spTgt>
                                        </p:tgtEl>
                                      </p:cBhvr>
                                    </p:animEffect>
                                  </p:childTnLst>
                                </p:cTn>
                              </p:par>
                            </p:childTnLst>
                          </p:cTn>
                        </p:par>
                      </p:childTnLst>
                    </p:cTn>
                  </p:par>
                  <p:par>
                    <p:cTn id="208" fill="hold">
                      <p:stCondLst>
                        <p:cond delay="indefinite"/>
                      </p:stCondLst>
                      <p:childTnLst>
                        <p:par>
                          <p:cTn id="209" fill="hold">
                            <p:stCondLst>
                              <p:cond delay="0"/>
                            </p:stCondLst>
                            <p:childTnLst>
                              <p:par>
                                <p:cTn id="210" presetID="10" presetClass="entr" presetSubtype="0" fill="hold" grpId="0" nodeType="clickEffect">
                                  <p:stCondLst>
                                    <p:cond delay="0"/>
                                  </p:stCondLst>
                                  <p:childTnLst>
                                    <p:set>
                                      <p:cBhvr>
                                        <p:cTn id="211" dur="1" fill="hold">
                                          <p:stCondLst>
                                            <p:cond delay="0"/>
                                          </p:stCondLst>
                                        </p:cTn>
                                        <p:tgtEl>
                                          <p:spTgt spid="6">
                                            <p:txEl>
                                              <p:pRg st="9" end="9"/>
                                            </p:txEl>
                                          </p:spTgt>
                                        </p:tgtEl>
                                        <p:attrNameLst>
                                          <p:attrName>style.visibility</p:attrName>
                                        </p:attrNameLst>
                                      </p:cBhvr>
                                      <p:to>
                                        <p:strVal val="visible"/>
                                      </p:to>
                                    </p:set>
                                    <p:animEffect transition="in" filter="fade">
                                      <p:cBhvr>
                                        <p:cTn id="212" dur="500"/>
                                        <p:tgtEl>
                                          <p:spTgt spid="6">
                                            <p:txEl>
                                              <p:pRg st="9" end="9"/>
                                            </p:txEl>
                                          </p:spTgt>
                                        </p:tgtEl>
                                      </p:cBhvr>
                                    </p:animEffect>
                                  </p:childTnLst>
                                </p:cTn>
                              </p:par>
                            </p:childTnLst>
                          </p:cTn>
                        </p:par>
                      </p:childTnLst>
                    </p:cTn>
                  </p:par>
                  <p:par>
                    <p:cTn id="213" fill="hold">
                      <p:stCondLst>
                        <p:cond delay="indefinite"/>
                      </p:stCondLst>
                      <p:childTnLst>
                        <p:par>
                          <p:cTn id="214" fill="hold">
                            <p:stCondLst>
                              <p:cond delay="0"/>
                            </p:stCondLst>
                            <p:childTnLst>
                              <p:par>
                                <p:cTn id="215" presetID="10" presetClass="entr" presetSubtype="0" fill="hold" grpId="0" nodeType="clickEffect">
                                  <p:stCondLst>
                                    <p:cond delay="0"/>
                                  </p:stCondLst>
                                  <p:childTnLst>
                                    <p:set>
                                      <p:cBhvr>
                                        <p:cTn id="216" dur="1" fill="hold">
                                          <p:stCondLst>
                                            <p:cond delay="0"/>
                                          </p:stCondLst>
                                        </p:cTn>
                                        <p:tgtEl>
                                          <p:spTgt spid="6">
                                            <p:txEl>
                                              <p:pRg st="10" end="10"/>
                                            </p:txEl>
                                          </p:spTgt>
                                        </p:tgtEl>
                                        <p:attrNameLst>
                                          <p:attrName>style.visibility</p:attrName>
                                        </p:attrNameLst>
                                      </p:cBhvr>
                                      <p:to>
                                        <p:strVal val="visible"/>
                                      </p:to>
                                    </p:set>
                                    <p:animEffect transition="in" filter="fade">
                                      <p:cBhvr>
                                        <p:cTn id="217"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build="p"/>
      <p:bldP spid="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Available Column Types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267393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text</a:t>
            </a:r>
          </a:p>
          <a:p>
            <a:pPr marL="0" indent="0">
              <a:buNone/>
            </a:pPr>
            <a:r>
              <a:rPr lang="en-US" sz="2400" dirty="0" err="1">
                <a:latin typeface="Times New Roman" panose="02020603050405020304" pitchFamily="18" charset="0"/>
                <a:cs typeface="Times New Roman" panose="02020603050405020304" pitchFamily="18" charset="0"/>
              </a:rPr>
              <a:t>timeTz</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time</a:t>
            </a:r>
          </a:p>
          <a:p>
            <a:pPr marL="0" indent="0">
              <a:buNone/>
            </a:pPr>
            <a:r>
              <a:rPr lang="en-US" sz="2400" dirty="0" err="1">
                <a:latin typeface="Times New Roman" panose="02020603050405020304" pitchFamily="18" charset="0"/>
                <a:cs typeface="Times New Roman" panose="02020603050405020304" pitchFamily="18" charset="0"/>
              </a:rPr>
              <a:t>timestampTz</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timestamp</a:t>
            </a:r>
          </a:p>
          <a:p>
            <a:pPr marL="0" indent="0">
              <a:buNone/>
            </a:pPr>
            <a:r>
              <a:rPr lang="en-US" sz="2400" dirty="0" err="1">
                <a:latin typeface="Times New Roman" panose="02020603050405020304" pitchFamily="18" charset="0"/>
                <a:cs typeface="Times New Roman" panose="02020603050405020304" pitchFamily="18" charset="0"/>
              </a:rPr>
              <a:t>timestampsTz</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timestamps</a:t>
            </a:r>
          </a:p>
          <a:p>
            <a:pPr marL="0" indent="0">
              <a:buNone/>
            </a:pPr>
            <a:r>
              <a:rPr lang="en-US" sz="2400" dirty="0" err="1">
                <a:latin typeface="Times New Roman" panose="02020603050405020304" pitchFamily="18" charset="0"/>
                <a:cs typeface="Times New Roman" panose="02020603050405020304" pitchFamily="18" charset="0"/>
              </a:rPr>
              <a:t>tinyIncrements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tinyInteger</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unsignedBigInteger</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unsignedDecimal</a:t>
            </a:r>
            <a:endParaRPr lang="en-US" sz="2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DA83F8B0-A8B8-4047-BBE9-AF3859CB2A61}"/>
              </a:ext>
            </a:extLst>
          </p:cNvPr>
          <p:cNvSpPr txBox="1">
            <a:spLocks/>
          </p:cNvSpPr>
          <p:nvPr/>
        </p:nvSpPr>
        <p:spPr>
          <a:xfrm>
            <a:off x="3244271" y="1276928"/>
            <a:ext cx="3424384" cy="4978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err="1">
                <a:latin typeface="Times New Roman" panose="02020603050405020304" pitchFamily="18" charset="0"/>
                <a:cs typeface="Times New Roman" panose="02020603050405020304" pitchFamily="18" charset="0"/>
              </a:rPr>
              <a:t>unsignedInteger</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unsignedMediumInteger</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unsignedSmallInteger</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unsignedTinyInteger</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uuidMorphs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uuid</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year</a:t>
            </a:r>
          </a:p>
        </p:txBody>
      </p:sp>
      <p:sp>
        <p:nvSpPr>
          <p:cNvPr id="7" name="Rectangle 6">
            <a:extLst>
              <a:ext uri="{FF2B5EF4-FFF2-40B4-BE49-F238E27FC236}">
                <a16:creationId xmlns:a16="http://schemas.microsoft.com/office/drawing/2014/main" id="{3CA03485-19C4-45C3-B248-4D55D8122070}"/>
              </a:ext>
            </a:extLst>
          </p:cNvPr>
          <p:cNvSpPr/>
          <p:nvPr/>
        </p:nvSpPr>
        <p:spPr>
          <a:xfrm>
            <a:off x="4153987" y="5885996"/>
            <a:ext cx="6261463" cy="369332"/>
          </a:xfrm>
          <a:prstGeom prst="rect">
            <a:avLst/>
          </a:prstGeom>
        </p:spPr>
        <p:txBody>
          <a:bodyPr wrap="square">
            <a:spAutoFit/>
          </a:bodyPr>
          <a:lstStyle/>
          <a:p>
            <a:r>
              <a:rPr lang="en-US" dirty="0"/>
              <a:t>https://laravel.com/docs/8.x/migrations#available-column-types</a:t>
            </a:r>
          </a:p>
        </p:txBody>
      </p:sp>
    </p:spTree>
    <p:extLst>
      <p:ext uri="{BB962C8B-B14F-4D97-AF65-F5344CB8AC3E}">
        <p14:creationId xmlns:p14="http://schemas.microsoft.com/office/powerpoint/2010/main" val="2760194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0" end="0"/>
                                            </p:txEl>
                                          </p:spTgt>
                                        </p:tgtEl>
                                        <p:attrNameLst>
                                          <p:attrName>style.visibility</p:attrName>
                                        </p:attrNameLst>
                                      </p:cBhvr>
                                      <p:to>
                                        <p:strVal val="visible"/>
                                      </p:to>
                                    </p:set>
                                    <p:animEffect transition="in" filter="fade">
                                      <p:cBhvr>
                                        <p:cTn id="62" dur="500"/>
                                        <p:tgtEl>
                                          <p:spTgt spid="4">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1" end="1"/>
                                            </p:txEl>
                                          </p:spTgt>
                                        </p:tgtEl>
                                        <p:attrNameLst>
                                          <p:attrName>style.visibility</p:attrName>
                                        </p:attrNameLst>
                                      </p:cBhvr>
                                      <p:to>
                                        <p:strVal val="visible"/>
                                      </p:to>
                                    </p:set>
                                    <p:animEffect transition="in" filter="fade">
                                      <p:cBhvr>
                                        <p:cTn id="67" dur="500"/>
                                        <p:tgtEl>
                                          <p:spTgt spid="4">
                                            <p:txEl>
                                              <p:pRg st="1" end="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2" end="2"/>
                                            </p:txEl>
                                          </p:spTgt>
                                        </p:tgtEl>
                                        <p:attrNameLst>
                                          <p:attrName>style.visibility</p:attrName>
                                        </p:attrNameLst>
                                      </p:cBhvr>
                                      <p:to>
                                        <p:strVal val="visible"/>
                                      </p:to>
                                    </p:set>
                                    <p:animEffect transition="in" filter="fade">
                                      <p:cBhvr>
                                        <p:cTn id="72" dur="500"/>
                                        <p:tgtEl>
                                          <p:spTgt spid="4">
                                            <p:txEl>
                                              <p:pRg st="2" end="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3" end="3"/>
                                            </p:txEl>
                                          </p:spTgt>
                                        </p:tgtEl>
                                        <p:attrNameLst>
                                          <p:attrName>style.visibility</p:attrName>
                                        </p:attrNameLst>
                                      </p:cBhvr>
                                      <p:to>
                                        <p:strVal val="visible"/>
                                      </p:to>
                                    </p:set>
                                    <p:animEffect transition="in" filter="fade">
                                      <p:cBhvr>
                                        <p:cTn id="77" dur="500"/>
                                        <p:tgtEl>
                                          <p:spTgt spid="4">
                                            <p:txEl>
                                              <p:pRg st="3" end="3"/>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4" end="4"/>
                                            </p:txEl>
                                          </p:spTgt>
                                        </p:tgtEl>
                                        <p:attrNameLst>
                                          <p:attrName>style.visibility</p:attrName>
                                        </p:attrNameLst>
                                      </p:cBhvr>
                                      <p:to>
                                        <p:strVal val="visible"/>
                                      </p:to>
                                    </p:set>
                                    <p:animEffect transition="in" filter="fade">
                                      <p:cBhvr>
                                        <p:cTn id="82" dur="500"/>
                                        <p:tgtEl>
                                          <p:spTgt spid="4">
                                            <p:txEl>
                                              <p:pRg st="4" end="4"/>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
                                            <p:txEl>
                                              <p:pRg st="5" end="5"/>
                                            </p:txEl>
                                          </p:spTgt>
                                        </p:tgtEl>
                                        <p:attrNameLst>
                                          <p:attrName>style.visibility</p:attrName>
                                        </p:attrNameLst>
                                      </p:cBhvr>
                                      <p:to>
                                        <p:strVal val="visible"/>
                                      </p:to>
                                    </p:set>
                                    <p:animEffect transition="in" filter="fade">
                                      <p:cBhvr>
                                        <p:cTn id="87" dur="500"/>
                                        <p:tgtEl>
                                          <p:spTgt spid="4">
                                            <p:txEl>
                                              <p:pRg st="5" end="5"/>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
                                            <p:txEl>
                                              <p:pRg st="6" end="6"/>
                                            </p:txEl>
                                          </p:spTgt>
                                        </p:tgtEl>
                                        <p:attrNameLst>
                                          <p:attrName>style.visibility</p:attrName>
                                        </p:attrNameLst>
                                      </p:cBhvr>
                                      <p:to>
                                        <p:strVal val="visible"/>
                                      </p:to>
                                    </p:set>
                                    <p:animEffect transition="in" filter="fade">
                                      <p:cBhvr>
                                        <p:cTn id="92" dur="500"/>
                                        <p:tgtEl>
                                          <p:spTgt spid="4">
                                            <p:txEl>
                                              <p:pRg st="6" end="6"/>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7"/>
                                        </p:tgtEl>
                                        <p:attrNameLst>
                                          <p:attrName>style.visibility</p:attrName>
                                        </p:attrNameLst>
                                      </p:cBhvr>
                                      <p:to>
                                        <p:strVal val="visible"/>
                                      </p:to>
                                    </p:set>
                                    <p:animEffect transition="in" filter="fade">
                                      <p:cBhvr>
                                        <p:cTn id="9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4800" b="1" u="sng" dirty="0">
                <a:latin typeface="Times New Roman" panose="02020603050405020304" pitchFamily="18" charset="0"/>
                <a:cs typeface="Times New Roman" panose="02020603050405020304" pitchFamily="18" charset="0"/>
              </a:rPr>
              <a:t>Adding new Column</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table method on the Schema facade may be used to update existing tables. Like the create method, the table method accepts two arguments: the name of the table and a closure that receives a Blueprint instance you may use to add columns or indexes to the table.</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make:migration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add_country_to_student</a:t>
            </a:r>
            <a:r>
              <a:rPr lang="en-US" sz="2400" dirty="0">
                <a:latin typeface="Times New Roman" panose="02020603050405020304" pitchFamily="18" charset="0"/>
                <a:cs typeface="Times New Roman" panose="02020603050405020304" pitchFamily="18" charset="0"/>
              </a:rPr>
              <a:t> --table=student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Schema::table(‘student', function (Blueprint $table) {</a:t>
            </a:r>
          </a:p>
          <a:p>
            <a:pPr marL="0" indent="0">
              <a:buNone/>
            </a:pPr>
            <a:r>
              <a:rPr lang="en-US" sz="2400" dirty="0">
                <a:latin typeface="Times New Roman" panose="02020603050405020304" pitchFamily="18" charset="0"/>
                <a:cs typeface="Times New Roman" panose="02020603050405020304" pitchFamily="18" charset="0"/>
              </a:rPr>
              <a:t>	$table-&gt;string(‘country’)</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php artisan migrate</a:t>
            </a:r>
          </a:p>
        </p:txBody>
      </p:sp>
    </p:spTree>
    <p:extLst>
      <p:ext uri="{BB962C8B-B14F-4D97-AF65-F5344CB8AC3E}">
        <p14:creationId xmlns:p14="http://schemas.microsoft.com/office/powerpoint/2010/main" val="298853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Dropping Columns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4560455"/>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To drop a column, you may use the </a:t>
            </a:r>
            <a:r>
              <a:rPr lang="en-US" sz="2400" dirty="0" err="1">
                <a:latin typeface="Times New Roman" panose="02020603050405020304" pitchFamily="18" charset="0"/>
                <a:cs typeface="Times New Roman" panose="02020603050405020304" pitchFamily="18" charset="0"/>
              </a:rPr>
              <a:t>dropColumn</a:t>
            </a:r>
            <a:r>
              <a:rPr lang="en-US" sz="2400" dirty="0">
                <a:latin typeface="Times New Roman" panose="02020603050405020304" pitchFamily="18" charset="0"/>
                <a:cs typeface="Times New Roman" panose="02020603050405020304" pitchFamily="18" charset="0"/>
              </a:rPr>
              <a:t> method on the schema builder blueprint. </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Schema::table(‘student', function (Blueprint $table) {</a:t>
            </a:r>
          </a:p>
          <a:p>
            <a:pPr marL="0" indent="0">
              <a:buNone/>
            </a:pPr>
            <a:r>
              <a:rPr lang="en-US" sz="2400" dirty="0">
                <a:cs typeface="Times New Roman" panose="02020603050405020304" pitchFamily="18" charset="0"/>
              </a:rPr>
              <a:t>    $table-&gt;</a:t>
            </a:r>
            <a:r>
              <a:rPr lang="en-US" sz="2400" dirty="0" err="1">
                <a:cs typeface="Times New Roman" panose="02020603050405020304" pitchFamily="18" charset="0"/>
              </a:rPr>
              <a:t>dropColumn</a:t>
            </a:r>
            <a:r>
              <a:rPr lang="en-US" sz="2400" dirty="0">
                <a:cs typeface="Times New Roman" panose="02020603050405020304" pitchFamily="18" charset="0"/>
              </a:rPr>
              <a:t>(‘name');</a:t>
            </a:r>
          </a:p>
          <a:p>
            <a:pPr marL="0" indent="0">
              <a:buNone/>
            </a:pPr>
            <a:r>
              <a:rPr lang="en-US" sz="2400" dirty="0">
                <a:cs typeface="Times New Roman" panose="02020603050405020304" pitchFamily="18" charset="0"/>
              </a:rPr>
              <a:t>});</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Schema::table(‘student', function (Blueprint $table) {</a:t>
            </a:r>
          </a:p>
          <a:p>
            <a:pPr marL="0" indent="0">
              <a:buNone/>
            </a:pPr>
            <a:r>
              <a:rPr lang="en-US" sz="2400" dirty="0">
                <a:cs typeface="Times New Roman" panose="02020603050405020304" pitchFamily="18" charset="0"/>
              </a:rPr>
              <a:t>    $table-&gt;</a:t>
            </a:r>
            <a:r>
              <a:rPr lang="en-US" sz="2400" dirty="0" err="1">
                <a:cs typeface="Times New Roman" panose="02020603050405020304" pitchFamily="18" charset="0"/>
              </a:rPr>
              <a:t>dropColumn</a:t>
            </a:r>
            <a:r>
              <a:rPr lang="en-US" sz="2400" dirty="0">
                <a:cs typeface="Times New Roman" panose="02020603050405020304" pitchFamily="18" charset="0"/>
              </a:rPr>
              <a:t>([‘name’, ‘email']);</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2392412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Column Modifiers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782782"/>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There are several column "modifiers" you may use when adding a column to a database table.</a:t>
            </a:r>
          </a:p>
          <a:p>
            <a:pPr marL="0" indent="0">
              <a:buNone/>
            </a:pPr>
            <a:endParaRPr lang="en-US" sz="20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DDF6B2D5-29B7-4CF5-BC0E-6B5D38E849F0}"/>
              </a:ext>
            </a:extLst>
          </p:cNvPr>
          <p:cNvGraphicFramePr>
            <a:graphicFrameLocks noGrp="1"/>
          </p:cNvGraphicFramePr>
          <p:nvPr>
            <p:extLst>
              <p:ext uri="{D42A27DB-BD31-4B8C-83A1-F6EECF244321}">
                <p14:modId xmlns:p14="http://schemas.microsoft.com/office/powerpoint/2010/main" val="1599755989"/>
              </p:ext>
            </p:extLst>
          </p:nvPr>
        </p:nvGraphicFramePr>
        <p:xfrm>
          <a:off x="803563" y="1685477"/>
          <a:ext cx="10307782" cy="4845314"/>
        </p:xfrm>
        <a:graphic>
          <a:graphicData uri="http://schemas.openxmlformats.org/drawingml/2006/table">
            <a:tbl>
              <a:tblPr/>
              <a:tblGrid>
                <a:gridCol w="3965955">
                  <a:extLst>
                    <a:ext uri="{9D8B030D-6E8A-4147-A177-3AD203B41FA5}">
                      <a16:colId xmlns:a16="http://schemas.microsoft.com/office/drawing/2014/main" val="3701936248"/>
                    </a:ext>
                  </a:extLst>
                </a:gridCol>
                <a:gridCol w="6341827">
                  <a:extLst>
                    <a:ext uri="{9D8B030D-6E8A-4147-A177-3AD203B41FA5}">
                      <a16:colId xmlns:a16="http://schemas.microsoft.com/office/drawing/2014/main" val="3136154842"/>
                    </a:ext>
                  </a:extLst>
                </a:gridCol>
              </a:tblGrid>
              <a:tr h="476341">
                <a:tc>
                  <a:txBody>
                    <a:bodyPr/>
                    <a:lstStyle/>
                    <a:p>
                      <a:pPr algn="ctr"/>
                      <a:r>
                        <a:rPr lang="en-US" sz="2000" b="1" dirty="0">
                          <a:effectLst/>
                          <a:latin typeface="Times New Roman" panose="02020603050405020304" pitchFamily="18" charset="0"/>
                          <a:cs typeface="Times New Roman" panose="02020603050405020304" pitchFamily="18" charset="0"/>
                        </a:rPr>
                        <a:t>Modifier</a:t>
                      </a:r>
                    </a:p>
                  </a:txBody>
                  <a:tcPr marL="49447" marR="49447" marT="49447" marB="49447"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solidFill>
                      <a:schemeClr val="accent2">
                        <a:lumMod val="75000"/>
                      </a:schemeClr>
                    </a:solidFill>
                  </a:tcPr>
                </a:tc>
                <a:tc>
                  <a:txBody>
                    <a:bodyPr/>
                    <a:lstStyle/>
                    <a:p>
                      <a:pPr algn="ctr"/>
                      <a:r>
                        <a:rPr lang="en-US" sz="2000" b="1" dirty="0">
                          <a:effectLst/>
                          <a:latin typeface="Times New Roman" panose="02020603050405020304" pitchFamily="18" charset="0"/>
                          <a:cs typeface="Times New Roman" panose="02020603050405020304" pitchFamily="18" charset="0"/>
                        </a:rPr>
                        <a:t>Description</a:t>
                      </a:r>
                    </a:p>
                  </a:txBody>
                  <a:tcPr marL="49447" marR="49447" marT="49447" marB="49447"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solidFill>
                      <a:schemeClr val="accent2">
                        <a:lumMod val="75000"/>
                      </a:schemeClr>
                    </a:solidFill>
                  </a:tcPr>
                </a:tc>
                <a:extLst>
                  <a:ext uri="{0D108BD9-81ED-4DB2-BD59-A6C34878D82A}">
                    <a16:rowId xmlns:a16="http://schemas.microsoft.com/office/drawing/2014/main" val="2350830374"/>
                  </a:ext>
                </a:extLst>
              </a:tr>
              <a:tr h="476341">
                <a:tc>
                  <a:txBody>
                    <a:bodyPr/>
                    <a:lstStyle/>
                    <a:p>
                      <a:pPr algn="l"/>
                      <a:r>
                        <a:rPr lang="en-US" sz="2000" dirty="0">
                          <a:effectLst/>
                        </a:rPr>
                        <a:t>-&gt;after('column')</a:t>
                      </a:r>
                    </a:p>
                  </a:txBody>
                  <a:tcPr marL="49447" marR="49447" marT="49447" marB="49447"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Place the column "after" another column (MySQL).</a:t>
                      </a:r>
                    </a:p>
                  </a:txBody>
                  <a:tcPr marL="49447" marR="49447" marT="49447" marB="49447"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3284594217"/>
                  </a:ext>
                </a:extLst>
              </a:tr>
              <a:tr h="476341">
                <a:tc>
                  <a:txBody>
                    <a:bodyPr/>
                    <a:lstStyle/>
                    <a:p>
                      <a:pPr algn="l"/>
                      <a:r>
                        <a:rPr lang="en-US" sz="2000" dirty="0">
                          <a:effectLst/>
                        </a:rPr>
                        <a:t>-&gt;</a:t>
                      </a:r>
                      <a:r>
                        <a:rPr lang="en-US" sz="2000" dirty="0" err="1">
                          <a:effectLst/>
                        </a:rPr>
                        <a:t>autoIncrement</a:t>
                      </a:r>
                      <a:r>
                        <a:rPr lang="en-US" sz="2000" dirty="0">
                          <a:effectLst/>
                        </a:rPr>
                        <a:t>()</a:t>
                      </a:r>
                    </a:p>
                  </a:txBody>
                  <a:tcPr marL="49447" marR="49447" marT="49447" marB="49447"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Set INTEGER columns as auto-incrementing (primary key).</a:t>
                      </a:r>
                    </a:p>
                  </a:txBody>
                  <a:tcPr marL="49447" marR="49447" marT="49447" marB="49447"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1621224544"/>
                  </a:ext>
                </a:extLst>
              </a:tr>
              <a:tr h="476341">
                <a:tc>
                  <a:txBody>
                    <a:bodyPr/>
                    <a:lstStyle/>
                    <a:p>
                      <a:pPr algn="l"/>
                      <a:r>
                        <a:rPr lang="en-US" sz="2000" dirty="0">
                          <a:effectLst/>
                        </a:rPr>
                        <a:t>-&gt;charset('utf8mb4')</a:t>
                      </a:r>
                    </a:p>
                  </a:txBody>
                  <a:tcPr marL="49447" marR="49447" marT="49447" marB="49447"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Specify a character set for the column (MySQL).</a:t>
                      </a:r>
                    </a:p>
                  </a:txBody>
                  <a:tcPr marL="49447" marR="49447" marT="49447" marB="49447"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3448684720"/>
                  </a:ext>
                </a:extLst>
              </a:tr>
              <a:tr h="835991">
                <a:tc>
                  <a:txBody>
                    <a:bodyPr/>
                    <a:lstStyle/>
                    <a:p>
                      <a:pPr algn="l"/>
                      <a:r>
                        <a:rPr lang="en-US" sz="2000" dirty="0">
                          <a:effectLst/>
                        </a:rPr>
                        <a:t>-&gt;collation('utf8mb4_unicode_ci')</a:t>
                      </a:r>
                    </a:p>
                  </a:txBody>
                  <a:tcPr marL="49447" marR="49447" marT="49447" marB="49447"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Specify a collation for the column (MySQL/PostgreSQL/SQL Server).</a:t>
                      </a:r>
                    </a:p>
                  </a:txBody>
                  <a:tcPr marL="49447" marR="49447" marT="49447" marB="49447"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67737020"/>
                  </a:ext>
                </a:extLst>
              </a:tr>
              <a:tr h="476341">
                <a:tc>
                  <a:txBody>
                    <a:bodyPr/>
                    <a:lstStyle/>
                    <a:p>
                      <a:pPr algn="l"/>
                      <a:r>
                        <a:rPr lang="en-US" sz="2000">
                          <a:effectLst/>
                        </a:rPr>
                        <a:t>-&gt;comment('my comment')</a:t>
                      </a:r>
                    </a:p>
                  </a:txBody>
                  <a:tcPr marL="49447" marR="49447" marT="49447" marB="49447"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Add a comment to a column (MySQL/PostgreSQL).</a:t>
                      </a:r>
                    </a:p>
                  </a:txBody>
                  <a:tcPr marL="49447" marR="49447" marT="49447" marB="49447"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2523740019"/>
                  </a:ext>
                </a:extLst>
              </a:tr>
              <a:tr h="476341">
                <a:tc>
                  <a:txBody>
                    <a:bodyPr/>
                    <a:lstStyle/>
                    <a:p>
                      <a:pPr algn="l"/>
                      <a:r>
                        <a:rPr lang="en-US" sz="2000">
                          <a:effectLst/>
                        </a:rPr>
                        <a:t>-&gt;default($value)</a:t>
                      </a:r>
                    </a:p>
                  </a:txBody>
                  <a:tcPr marL="49447" marR="49447" marT="49447" marB="49447"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Specify a "default" value for the column.</a:t>
                      </a:r>
                    </a:p>
                  </a:txBody>
                  <a:tcPr marL="49447" marR="49447" marT="49447" marB="49447"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3850677562"/>
                  </a:ext>
                </a:extLst>
              </a:tr>
              <a:tr h="476341">
                <a:tc>
                  <a:txBody>
                    <a:bodyPr/>
                    <a:lstStyle/>
                    <a:p>
                      <a:pPr algn="l"/>
                      <a:r>
                        <a:rPr lang="en-US" sz="2000">
                          <a:effectLst/>
                        </a:rPr>
                        <a:t>-&gt;first()</a:t>
                      </a:r>
                    </a:p>
                  </a:txBody>
                  <a:tcPr marL="49447" marR="49447" marT="49447" marB="49447"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Place the column "first" in the table (MySQL).</a:t>
                      </a:r>
                    </a:p>
                  </a:txBody>
                  <a:tcPr marL="49447" marR="49447" marT="49447" marB="49447"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3773652818"/>
                  </a:ext>
                </a:extLst>
              </a:tr>
              <a:tr h="476341">
                <a:tc>
                  <a:txBody>
                    <a:bodyPr/>
                    <a:lstStyle/>
                    <a:p>
                      <a:pPr algn="l"/>
                      <a:r>
                        <a:rPr lang="en-US" sz="2000" dirty="0">
                          <a:effectLst/>
                        </a:rPr>
                        <a:t>-&gt;from($integer)</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rPr>
                        <a:t>Set the starting value of an auto-incrementing field (MySQL / PostgreSQL).</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4004188118"/>
                  </a:ext>
                </a:extLst>
              </a:tr>
            </a:tbl>
          </a:graphicData>
        </a:graphic>
      </p:graphicFrame>
    </p:spTree>
    <p:extLst>
      <p:ext uri="{BB962C8B-B14F-4D97-AF65-F5344CB8AC3E}">
        <p14:creationId xmlns:p14="http://schemas.microsoft.com/office/powerpoint/2010/main" val="279215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Column Modifiers</a:t>
            </a:r>
          </a:p>
        </p:txBody>
      </p:sp>
      <p:graphicFrame>
        <p:nvGraphicFramePr>
          <p:cNvPr id="5" name="Table 4">
            <a:extLst>
              <a:ext uri="{FF2B5EF4-FFF2-40B4-BE49-F238E27FC236}">
                <a16:creationId xmlns:a16="http://schemas.microsoft.com/office/drawing/2014/main" id="{E67FA0F0-734C-43DF-94FD-5ECDD9D3B2F7}"/>
              </a:ext>
            </a:extLst>
          </p:cNvPr>
          <p:cNvGraphicFramePr>
            <a:graphicFrameLocks noGrp="1"/>
          </p:cNvGraphicFramePr>
          <p:nvPr>
            <p:extLst>
              <p:ext uri="{D42A27DB-BD31-4B8C-83A1-F6EECF244321}">
                <p14:modId xmlns:p14="http://schemas.microsoft.com/office/powerpoint/2010/main" val="2708494142"/>
              </p:ext>
            </p:extLst>
          </p:nvPr>
        </p:nvGraphicFramePr>
        <p:xfrm>
          <a:off x="932871" y="1372328"/>
          <a:ext cx="10363202" cy="4973053"/>
        </p:xfrm>
        <a:graphic>
          <a:graphicData uri="http://schemas.openxmlformats.org/drawingml/2006/table">
            <a:tbl>
              <a:tblPr/>
              <a:tblGrid>
                <a:gridCol w="3689225">
                  <a:extLst>
                    <a:ext uri="{9D8B030D-6E8A-4147-A177-3AD203B41FA5}">
                      <a16:colId xmlns:a16="http://schemas.microsoft.com/office/drawing/2014/main" val="3830351089"/>
                    </a:ext>
                  </a:extLst>
                </a:gridCol>
                <a:gridCol w="6673977">
                  <a:extLst>
                    <a:ext uri="{9D8B030D-6E8A-4147-A177-3AD203B41FA5}">
                      <a16:colId xmlns:a16="http://schemas.microsoft.com/office/drawing/2014/main" val="1205558469"/>
                    </a:ext>
                  </a:extLst>
                </a:gridCol>
              </a:tblGrid>
              <a:tr h="404513">
                <a:tc>
                  <a:txBody>
                    <a:bodyPr/>
                    <a:lstStyle/>
                    <a:p>
                      <a:pPr algn="ctr"/>
                      <a:r>
                        <a:rPr lang="en-US" sz="2000" b="1" dirty="0">
                          <a:effectLst/>
                          <a:latin typeface="Times New Roman" panose="02020603050405020304" pitchFamily="18" charset="0"/>
                          <a:cs typeface="Times New Roman" panose="02020603050405020304" pitchFamily="18" charset="0"/>
                        </a:rPr>
                        <a:t>Modifier</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solidFill>
                      <a:schemeClr val="accent2">
                        <a:lumMod val="75000"/>
                      </a:schemeClr>
                    </a:solidFill>
                  </a:tcPr>
                </a:tc>
                <a:tc>
                  <a:txBody>
                    <a:bodyPr/>
                    <a:lstStyle/>
                    <a:p>
                      <a:pPr algn="ctr"/>
                      <a:r>
                        <a:rPr lang="en-US" sz="2000" b="1" dirty="0">
                          <a:effectLst/>
                          <a:latin typeface="Times New Roman" panose="02020603050405020304" pitchFamily="18" charset="0"/>
                          <a:cs typeface="Times New Roman" panose="02020603050405020304" pitchFamily="18" charset="0"/>
                        </a:rPr>
                        <a:t>Description</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solidFill>
                      <a:schemeClr val="accent2">
                        <a:lumMod val="75000"/>
                      </a:schemeClr>
                    </a:solidFill>
                  </a:tcPr>
                </a:tc>
                <a:extLst>
                  <a:ext uri="{0D108BD9-81ED-4DB2-BD59-A6C34878D82A}">
                    <a16:rowId xmlns:a16="http://schemas.microsoft.com/office/drawing/2014/main" val="3332697298"/>
                  </a:ext>
                </a:extLst>
              </a:tr>
              <a:tr h="404513">
                <a:tc>
                  <a:txBody>
                    <a:bodyPr/>
                    <a:lstStyle/>
                    <a:p>
                      <a:pPr algn="l"/>
                      <a:r>
                        <a:rPr lang="en-US" sz="2000" dirty="0">
                          <a:effectLst/>
                        </a:rPr>
                        <a:t>-&gt;nullable($value = true)</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Allow NULL values to be inserted into the column.</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68912194"/>
                  </a:ext>
                </a:extLst>
              </a:tr>
              <a:tr h="404513">
                <a:tc>
                  <a:txBody>
                    <a:bodyPr/>
                    <a:lstStyle/>
                    <a:p>
                      <a:pPr algn="l"/>
                      <a:r>
                        <a:rPr lang="en-US" sz="2000">
                          <a:effectLst/>
                        </a:rPr>
                        <a:t>-&gt;storedAs($expression)</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Create a stored generated column (MySQL).</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4130431441"/>
                  </a:ext>
                </a:extLst>
              </a:tr>
              <a:tr h="404513">
                <a:tc>
                  <a:txBody>
                    <a:bodyPr/>
                    <a:lstStyle/>
                    <a:p>
                      <a:pPr algn="l"/>
                      <a:r>
                        <a:rPr lang="en-US" sz="2000">
                          <a:effectLst/>
                        </a:rPr>
                        <a:t>-&gt;unsigned()</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Set INTEGER columns as UNSIGNED (MySQL).</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1641440198"/>
                  </a:ext>
                </a:extLst>
              </a:tr>
              <a:tr h="737622">
                <a:tc>
                  <a:txBody>
                    <a:bodyPr/>
                    <a:lstStyle/>
                    <a:p>
                      <a:pPr algn="l"/>
                      <a:r>
                        <a:rPr lang="en-US" sz="2000" dirty="0">
                          <a:effectLst/>
                        </a:rPr>
                        <a:t>-&gt;</a:t>
                      </a:r>
                      <a:r>
                        <a:rPr lang="en-US" sz="2000" dirty="0" err="1">
                          <a:effectLst/>
                        </a:rPr>
                        <a:t>useCurrent</a:t>
                      </a:r>
                      <a:r>
                        <a:rPr lang="en-US" sz="2000" dirty="0">
                          <a:effectLst/>
                        </a:rPr>
                        <a:t>()</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Set TIMESTAMP columns to use CURRENT_TIMESTAMP as default value.</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892671490"/>
                  </a:ext>
                </a:extLst>
              </a:tr>
              <a:tr h="737622">
                <a:tc>
                  <a:txBody>
                    <a:bodyPr/>
                    <a:lstStyle/>
                    <a:p>
                      <a:pPr algn="l"/>
                      <a:r>
                        <a:rPr lang="en-US" sz="2000">
                          <a:effectLst/>
                        </a:rPr>
                        <a:t>-&gt;useCurrentOnUpdate()</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Set TIMESTAMP columns to use CURRENT_TIMESTAMP when a record is updated.</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410782819"/>
                  </a:ext>
                </a:extLst>
              </a:tr>
              <a:tr h="404513">
                <a:tc>
                  <a:txBody>
                    <a:bodyPr/>
                    <a:lstStyle/>
                    <a:p>
                      <a:pPr algn="l"/>
                      <a:r>
                        <a:rPr lang="en-US" sz="2000">
                          <a:effectLst/>
                        </a:rPr>
                        <a:t>-&gt;virtualAs($expression)</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Create a virtual generated column (MySQL).</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2340842416"/>
                  </a:ext>
                </a:extLst>
              </a:tr>
              <a:tr h="737622">
                <a:tc>
                  <a:txBody>
                    <a:bodyPr/>
                    <a:lstStyle/>
                    <a:p>
                      <a:pPr algn="l"/>
                      <a:r>
                        <a:rPr lang="en-US" sz="2000">
                          <a:effectLst/>
                        </a:rPr>
                        <a:t>-&gt;generatedAs($expression)</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Create an identity column with specified sequence options (PostgreSQL).</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4165717267"/>
                  </a:ext>
                </a:extLst>
              </a:tr>
              <a:tr h="737622">
                <a:tc>
                  <a:txBody>
                    <a:bodyPr/>
                    <a:lstStyle/>
                    <a:p>
                      <a:pPr algn="l"/>
                      <a:r>
                        <a:rPr lang="en-US" sz="2000">
                          <a:effectLst/>
                        </a:rPr>
                        <a:t>-&gt;always()</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Defines the precedence of sequence values over input for an identity column (PostgreSQL).</a:t>
                      </a:r>
                    </a:p>
                  </a:txBody>
                  <a:tcPr marL="32668" marR="32668" marT="32668" marB="32668"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471312296"/>
                  </a:ext>
                </a:extLst>
              </a:tr>
            </a:tbl>
          </a:graphicData>
        </a:graphic>
      </p:graphicFrame>
    </p:spTree>
    <p:extLst>
      <p:ext uri="{BB962C8B-B14F-4D97-AF65-F5344CB8AC3E}">
        <p14:creationId xmlns:p14="http://schemas.microsoft.com/office/powerpoint/2010/main" val="89677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Column Modifiers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4560455"/>
          </a:xfrm>
        </p:spPr>
        <p:txBody>
          <a:bodyPr>
            <a:noAutofit/>
          </a:bodyPr>
          <a:lstStyle/>
          <a:p>
            <a:pPr marL="0" indent="0">
              <a:buNone/>
            </a:pPr>
            <a:r>
              <a:rPr lang="en-US" sz="2000" dirty="0">
                <a:cs typeface="Times New Roman" panose="02020603050405020304" pitchFamily="18" charset="0"/>
              </a:rPr>
              <a:t>use Illuminate\Database\Schema\Blueprint;</a:t>
            </a:r>
          </a:p>
          <a:p>
            <a:pPr marL="0" indent="0">
              <a:buNone/>
            </a:pPr>
            <a:r>
              <a:rPr lang="en-US" sz="2000" dirty="0">
                <a:cs typeface="Times New Roman" panose="02020603050405020304" pitchFamily="18" charset="0"/>
              </a:rPr>
              <a:t>use Illuminate\Support\Facades\Schema;</a:t>
            </a:r>
          </a:p>
          <a:p>
            <a:pPr marL="0" indent="0">
              <a:buNone/>
            </a:pPr>
            <a:endParaRPr lang="en-US" sz="2000" dirty="0">
              <a:cs typeface="Times New Roman" panose="02020603050405020304" pitchFamily="18" charset="0"/>
            </a:endParaRPr>
          </a:p>
          <a:p>
            <a:pPr marL="0" indent="0">
              <a:buNone/>
            </a:pPr>
            <a:r>
              <a:rPr lang="en-US" sz="2000" dirty="0">
                <a:cs typeface="Times New Roman" panose="02020603050405020304" pitchFamily="18" charset="0"/>
              </a:rPr>
              <a:t>Schema::table(‘student', function (Blueprint $table) {</a:t>
            </a:r>
          </a:p>
          <a:p>
            <a:pPr marL="0" indent="0">
              <a:buNone/>
            </a:pPr>
            <a:r>
              <a:rPr lang="en-US" sz="2000" dirty="0">
                <a:cs typeface="Times New Roman" panose="02020603050405020304" pitchFamily="18" charset="0"/>
              </a:rPr>
              <a:t>    $table-&gt;string('email')-&gt;nullable();</a:t>
            </a:r>
          </a:p>
          <a:p>
            <a:pPr marL="0" indent="0">
              <a:buNone/>
            </a:pPr>
            <a:r>
              <a:rPr lang="en-US" sz="2000" dirty="0">
                <a:cs typeface="Times New Roman" panose="02020603050405020304" pitchFamily="18" charset="0"/>
              </a:rPr>
              <a:t>});</a:t>
            </a:r>
          </a:p>
          <a:p>
            <a:pPr marL="0" indent="0">
              <a:buNone/>
            </a:pPr>
            <a:endParaRPr lang="en-US" sz="2000" dirty="0">
              <a:cs typeface="Times New Roman" panose="02020603050405020304" pitchFamily="18" charset="0"/>
            </a:endParaRPr>
          </a:p>
          <a:p>
            <a:pPr marL="0" indent="0">
              <a:buNone/>
            </a:pPr>
            <a:r>
              <a:rPr lang="en-US" sz="2000" dirty="0">
                <a:cs typeface="Times New Roman" panose="02020603050405020304" pitchFamily="18" charset="0"/>
              </a:rPr>
              <a:t>Schema::create(‘student', function (Blueprint $table) {</a:t>
            </a:r>
          </a:p>
          <a:p>
            <a:pPr marL="0" indent="0">
              <a:buNone/>
            </a:pPr>
            <a:r>
              <a:rPr lang="en-US" sz="2000" dirty="0">
                <a:cs typeface="Times New Roman" panose="02020603050405020304" pitchFamily="18" charset="0"/>
              </a:rPr>
              <a:t>            $table-&gt;id();</a:t>
            </a:r>
          </a:p>
          <a:p>
            <a:pPr marL="0" indent="0">
              <a:buNone/>
            </a:pPr>
            <a:r>
              <a:rPr lang="en-US" sz="2000" dirty="0">
                <a:cs typeface="Times New Roman" panose="02020603050405020304" pitchFamily="18" charset="0"/>
              </a:rPr>
              <a:t>            $table-&gt;string('name')-&gt;default('nothing');</a:t>
            </a:r>
          </a:p>
          <a:p>
            <a:pPr marL="0" indent="0">
              <a:buNone/>
            </a:pPr>
            <a:r>
              <a:rPr lang="en-US" sz="2000" dirty="0">
                <a:cs typeface="Times New Roman" panose="02020603050405020304" pitchFamily="18" charset="0"/>
              </a:rPr>
              <a:t>            $table-&gt;timestamps();</a:t>
            </a:r>
          </a:p>
          <a:p>
            <a:pPr marL="0" indent="0">
              <a:buNone/>
            </a:pPr>
            <a:r>
              <a:rPr lang="en-US" sz="2000" dirty="0">
                <a:cs typeface="Times New Roman" panose="02020603050405020304" pitchFamily="18" charset="0"/>
              </a:rPr>
              <a:t>        });</a:t>
            </a:r>
          </a:p>
        </p:txBody>
      </p:sp>
    </p:spTree>
    <p:extLst>
      <p:ext uri="{BB962C8B-B14F-4D97-AF65-F5344CB8AC3E}">
        <p14:creationId xmlns:p14="http://schemas.microsoft.com/office/powerpoint/2010/main" val="3712928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Modifying Columns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4560455"/>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You must install the doctrine/</a:t>
            </a:r>
            <a:r>
              <a:rPr lang="en-US" sz="2400" dirty="0" err="1">
                <a:latin typeface="Times New Roman" panose="02020603050405020304" pitchFamily="18" charset="0"/>
                <a:cs typeface="Times New Roman" panose="02020603050405020304" pitchFamily="18" charset="0"/>
              </a:rPr>
              <a:t>dbal</a:t>
            </a:r>
            <a:r>
              <a:rPr lang="en-US" sz="2400" dirty="0">
                <a:latin typeface="Times New Roman" panose="02020603050405020304" pitchFamily="18" charset="0"/>
                <a:cs typeface="Times New Roman" panose="02020603050405020304" pitchFamily="18" charset="0"/>
              </a:rPr>
              <a:t> package using the Composer package manager. The Doctrine DBAL library is used to determine the current state of the column and to create the SQL queries needed to make the requested changes to your column.</a:t>
            </a:r>
          </a:p>
          <a:p>
            <a:pPr marL="0" indent="0">
              <a:buNone/>
            </a:pPr>
            <a:r>
              <a:rPr lang="en-US" sz="2400" b="1" dirty="0">
                <a:latin typeface="Times New Roman" panose="02020603050405020304" pitchFamily="18" charset="0"/>
                <a:cs typeface="Times New Roman" panose="02020603050405020304" pitchFamily="18" charset="0"/>
              </a:rPr>
              <a:t>composer require doctrine/</a:t>
            </a:r>
            <a:r>
              <a:rPr lang="en-US" sz="2400" b="1" dirty="0" err="1">
                <a:latin typeface="Times New Roman" panose="02020603050405020304" pitchFamily="18" charset="0"/>
                <a:cs typeface="Times New Roman" panose="02020603050405020304" pitchFamily="18" charset="0"/>
              </a:rPr>
              <a:t>dbal</a:t>
            </a:r>
            <a:endParaRPr lang="en-US" sz="2400" b="1"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The following column types can be modified: </a:t>
            </a:r>
            <a:r>
              <a:rPr lang="en-US" sz="2400" dirty="0" err="1">
                <a:latin typeface="Times New Roman" panose="02020603050405020304" pitchFamily="18" charset="0"/>
                <a:cs typeface="Times New Roman" panose="02020603050405020304" pitchFamily="18" charset="0"/>
              </a:rPr>
              <a:t>bigInteger</a:t>
            </a:r>
            <a:r>
              <a:rPr lang="en-US" sz="2400" dirty="0">
                <a:latin typeface="Times New Roman" panose="02020603050405020304" pitchFamily="18" charset="0"/>
                <a:cs typeface="Times New Roman" panose="02020603050405020304" pitchFamily="18" charset="0"/>
              </a:rPr>
              <a:t>, binary, </a:t>
            </a:r>
            <a:r>
              <a:rPr lang="en-US" sz="2400" dirty="0" err="1">
                <a:latin typeface="Times New Roman" panose="02020603050405020304" pitchFamily="18" charset="0"/>
                <a:cs typeface="Times New Roman" panose="02020603050405020304" pitchFamily="18" charset="0"/>
              </a:rPr>
              <a:t>boolean</a:t>
            </a:r>
            <a:r>
              <a:rPr lang="en-US" sz="2400" dirty="0">
                <a:latin typeface="Times New Roman" panose="02020603050405020304" pitchFamily="18" charset="0"/>
                <a:cs typeface="Times New Roman" panose="02020603050405020304" pitchFamily="18" charset="0"/>
              </a:rPr>
              <a:t>, date, </a:t>
            </a:r>
            <a:r>
              <a:rPr lang="en-US" sz="2400" dirty="0" err="1">
                <a:latin typeface="Times New Roman" panose="02020603050405020304" pitchFamily="18" charset="0"/>
                <a:cs typeface="Times New Roman" panose="02020603050405020304" pitchFamily="18" charset="0"/>
              </a:rPr>
              <a:t>dateTime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dateTimeTz</a:t>
            </a:r>
            <a:r>
              <a:rPr lang="en-US" sz="2400" dirty="0">
                <a:latin typeface="Times New Roman" panose="02020603050405020304" pitchFamily="18" charset="0"/>
                <a:cs typeface="Times New Roman" panose="02020603050405020304" pitchFamily="18" charset="0"/>
              </a:rPr>
              <a:t>, decimal, integer, json, </a:t>
            </a:r>
            <a:r>
              <a:rPr lang="en-US" sz="2400" dirty="0" err="1">
                <a:latin typeface="Times New Roman" panose="02020603050405020304" pitchFamily="18" charset="0"/>
                <a:cs typeface="Times New Roman" panose="02020603050405020304" pitchFamily="18" charset="0"/>
              </a:rPr>
              <a:t>longText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mediumText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smallInteger</a:t>
            </a:r>
            <a:r>
              <a:rPr lang="en-US" sz="2400" dirty="0">
                <a:latin typeface="Times New Roman" panose="02020603050405020304" pitchFamily="18" charset="0"/>
                <a:cs typeface="Times New Roman" panose="02020603050405020304" pitchFamily="18" charset="0"/>
              </a:rPr>
              <a:t>, string, text, time, </a:t>
            </a:r>
            <a:r>
              <a:rPr lang="en-US" sz="2400" dirty="0" err="1">
                <a:latin typeface="Times New Roman" panose="02020603050405020304" pitchFamily="18" charset="0"/>
                <a:cs typeface="Times New Roman" panose="02020603050405020304" pitchFamily="18" charset="0"/>
              </a:rPr>
              <a:t>unsignedBigInteger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unsignedInteger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unsignedSmallInteger</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uuid</a:t>
            </a:r>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988273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Updating Column Attributes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4560455"/>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change method allows you to modify the type and attributes of existing columns.</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php artisan </a:t>
            </a:r>
            <a:r>
              <a:rPr lang="en-US" sz="2400" dirty="0" err="1">
                <a:cs typeface="Times New Roman" panose="02020603050405020304" pitchFamily="18" charset="0"/>
              </a:rPr>
              <a:t>make:migration</a:t>
            </a:r>
            <a:r>
              <a:rPr lang="en-US" sz="2400" dirty="0">
                <a:cs typeface="Times New Roman" panose="02020603050405020304" pitchFamily="18" charset="0"/>
              </a:rPr>
              <a:t> </a:t>
            </a:r>
            <a:r>
              <a:rPr lang="en-US" sz="2400" dirty="0" err="1">
                <a:cs typeface="Times New Roman" panose="02020603050405020304" pitchFamily="18" charset="0"/>
              </a:rPr>
              <a:t>student_col_name</a:t>
            </a:r>
            <a:r>
              <a:rPr lang="en-US" sz="2400" dirty="0">
                <a:cs typeface="Times New Roman" panose="02020603050405020304" pitchFamily="18" charset="0"/>
              </a:rPr>
              <a:t> --table=student</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Schema::table(‘student', function (Blueprint $table) {</a:t>
            </a:r>
          </a:p>
          <a:p>
            <a:pPr marL="0" indent="0">
              <a:buNone/>
            </a:pPr>
            <a:r>
              <a:rPr lang="en-US" sz="2400" dirty="0">
                <a:cs typeface="Times New Roman" panose="02020603050405020304" pitchFamily="18" charset="0"/>
              </a:rPr>
              <a:t>    $table-&gt;string('name', 50)-&gt;change();</a:t>
            </a:r>
          </a:p>
          <a:p>
            <a:pPr marL="0" indent="0">
              <a:buNone/>
            </a:pPr>
            <a:r>
              <a:rPr lang="en-US" sz="2400" dirty="0">
                <a:cs typeface="Times New Roman" panose="02020603050405020304" pitchFamily="18" charset="0"/>
              </a:rPr>
              <a:t>});</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php artisan migrate</a:t>
            </a:r>
          </a:p>
        </p:txBody>
      </p:sp>
    </p:spTree>
    <p:extLst>
      <p:ext uri="{BB962C8B-B14F-4D97-AF65-F5344CB8AC3E}">
        <p14:creationId xmlns:p14="http://schemas.microsoft.com/office/powerpoint/2010/main" val="338687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Renaming Columns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4560455"/>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To rename a column, you may use the </a:t>
            </a:r>
            <a:r>
              <a:rPr lang="en-US" sz="2400" dirty="0" err="1">
                <a:latin typeface="Times New Roman" panose="02020603050405020304" pitchFamily="18" charset="0"/>
                <a:cs typeface="Times New Roman" panose="02020603050405020304" pitchFamily="18" charset="0"/>
              </a:rPr>
              <a:t>renameColumn</a:t>
            </a:r>
            <a:r>
              <a:rPr lang="en-US" sz="2400" dirty="0">
                <a:latin typeface="Times New Roman" panose="02020603050405020304" pitchFamily="18" charset="0"/>
                <a:cs typeface="Times New Roman" panose="02020603050405020304" pitchFamily="18" charset="0"/>
              </a:rPr>
              <a:t> method provided by the schema builder blueprint.</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php artisan </a:t>
            </a:r>
            <a:r>
              <a:rPr lang="en-US" sz="2400" dirty="0" err="1">
                <a:cs typeface="Times New Roman" panose="02020603050405020304" pitchFamily="18" charset="0"/>
              </a:rPr>
              <a:t>make:migration</a:t>
            </a:r>
            <a:r>
              <a:rPr lang="en-US" sz="2400" dirty="0">
                <a:cs typeface="Times New Roman" panose="02020603050405020304" pitchFamily="18" charset="0"/>
              </a:rPr>
              <a:t> </a:t>
            </a:r>
            <a:r>
              <a:rPr lang="en-US" sz="2400" dirty="0" err="1">
                <a:cs typeface="Times New Roman" panose="02020603050405020304" pitchFamily="18" charset="0"/>
              </a:rPr>
              <a:t>name_col_to_firstname</a:t>
            </a:r>
            <a:r>
              <a:rPr lang="en-US" sz="2400" dirty="0">
                <a:cs typeface="Times New Roman" panose="02020603050405020304" pitchFamily="18" charset="0"/>
              </a:rPr>
              <a:t> --table=student</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Schema::table(‘student', function (Blueprint $table) {</a:t>
            </a:r>
          </a:p>
          <a:p>
            <a:pPr marL="0" indent="0">
              <a:buNone/>
            </a:pPr>
            <a:r>
              <a:rPr lang="en-US" sz="2400" dirty="0">
                <a:latin typeface="Times New Roman" panose="02020603050405020304" pitchFamily="18" charset="0"/>
                <a:cs typeface="Times New Roman" panose="02020603050405020304" pitchFamily="18" charset="0"/>
              </a:rPr>
              <a:t>    $table-&gt;</a:t>
            </a:r>
            <a:r>
              <a:rPr lang="en-US" sz="2400" dirty="0" err="1">
                <a:latin typeface="Times New Roman" panose="02020603050405020304" pitchFamily="18" charset="0"/>
                <a:cs typeface="Times New Roman" panose="02020603050405020304" pitchFamily="18" charset="0"/>
              </a:rPr>
              <a:t>renameColumn</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old_name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new_name</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55728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Creating </a:t>
            </a:r>
            <a:r>
              <a:rPr lang="en-US" sz="5333" b="1" u="sng" dirty="0" err="1">
                <a:latin typeface="Times New Roman" panose="02020603050405020304" pitchFamily="18" charset="0"/>
                <a:cs typeface="Times New Roman" panose="02020603050405020304" pitchFamily="18" charset="0"/>
              </a:rPr>
              <a:t>Indexs</a:t>
            </a:r>
            <a:endParaRPr lang="en-US" sz="5333"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708892"/>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Laravel schema builder supports several types of indexes.</a:t>
            </a:r>
          </a:p>
          <a:p>
            <a:pPr marL="0" indent="0">
              <a:buNone/>
            </a:pPr>
            <a:endParaRPr lang="en-US" sz="24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5C9BFA83-4FAB-497A-8D7D-C3F6451476C4}"/>
              </a:ext>
            </a:extLst>
          </p:cNvPr>
          <p:cNvGraphicFramePr>
            <a:graphicFrameLocks noGrp="1"/>
          </p:cNvGraphicFramePr>
          <p:nvPr>
            <p:extLst>
              <p:ext uri="{D42A27DB-BD31-4B8C-83A1-F6EECF244321}">
                <p14:modId xmlns:p14="http://schemas.microsoft.com/office/powerpoint/2010/main" val="2353115141"/>
              </p:ext>
            </p:extLst>
          </p:nvPr>
        </p:nvGraphicFramePr>
        <p:xfrm>
          <a:off x="938968" y="1920702"/>
          <a:ext cx="9987650" cy="2803744"/>
        </p:xfrm>
        <a:graphic>
          <a:graphicData uri="http://schemas.openxmlformats.org/drawingml/2006/table">
            <a:tbl>
              <a:tblPr/>
              <a:tblGrid>
                <a:gridCol w="4450039">
                  <a:extLst>
                    <a:ext uri="{9D8B030D-6E8A-4147-A177-3AD203B41FA5}">
                      <a16:colId xmlns:a16="http://schemas.microsoft.com/office/drawing/2014/main" val="1178242300"/>
                    </a:ext>
                  </a:extLst>
                </a:gridCol>
                <a:gridCol w="5537611">
                  <a:extLst>
                    <a:ext uri="{9D8B030D-6E8A-4147-A177-3AD203B41FA5}">
                      <a16:colId xmlns:a16="http://schemas.microsoft.com/office/drawing/2014/main" val="2676383454"/>
                    </a:ext>
                  </a:extLst>
                </a:gridCol>
              </a:tblGrid>
              <a:tr h="354434">
                <a:tc>
                  <a:txBody>
                    <a:bodyPr/>
                    <a:lstStyle/>
                    <a:p>
                      <a:pPr algn="ctr"/>
                      <a:r>
                        <a:rPr lang="en-US" sz="2000" b="1" dirty="0">
                          <a:effectLst/>
                          <a:latin typeface="Times New Roman" panose="02020603050405020304" pitchFamily="18" charset="0"/>
                          <a:cs typeface="Times New Roman" panose="02020603050405020304" pitchFamily="18" charset="0"/>
                        </a:rPr>
                        <a:t>Command</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solidFill>
                      <a:schemeClr val="accent2">
                        <a:lumMod val="75000"/>
                      </a:schemeClr>
                    </a:solidFill>
                  </a:tcPr>
                </a:tc>
                <a:tc>
                  <a:txBody>
                    <a:bodyPr/>
                    <a:lstStyle/>
                    <a:p>
                      <a:pPr algn="ctr"/>
                      <a:r>
                        <a:rPr lang="en-US" sz="2000" b="1" dirty="0">
                          <a:effectLst/>
                          <a:latin typeface="Times New Roman" panose="02020603050405020304" pitchFamily="18" charset="0"/>
                          <a:cs typeface="Times New Roman" panose="02020603050405020304" pitchFamily="18" charset="0"/>
                        </a:rPr>
                        <a:t>Description</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solidFill>
                      <a:schemeClr val="accent2">
                        <a:lumMod val="75000"/>
                      </a:schemeClr>
                    </a:solidFill>
                  </a:tcPr>
                </a:tc>
                <a:extLst>
                  <a:ext uri="{0D108BD9-81ED-4DB2-BD59-A6C34878D82A}">
                    <a16:rowId xmlns:a16="http://schemas.microsoft.com/office/drawing/2014/main" val="314001860"/>
                  </a:ext>
                </a:extLst>
              </a:tr>
              <a:tr h="354434">
                <a:tc>
                  <a:txBody>
                    <a:bodyPr/>
                    <a:lstStyle/>
                    <a:p>
                      <a:pPr algn="l"/>
                      <a:r>
                        <a:rPr lang="en-US" sz="2000" dirty="0">
                          <a:effectLst/>
                        </a:rPr>
                        <a:t>$table-&gt;primary('id');</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a:effectLst/>
                        </a:rPr>
                        <a:t>Adds a primary key.</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1120557551"/>
                  </a:ext>
                </a:extLst>
              </a:tr>
              <a:tr h="487472">
                <a:tc>
                  <a:txBody>
                    <a:bodyPr/>
                    <a:lstStyle/>
                    <a:p>
                      <a:pPr algn="l"/>
                      <a:r>
                        <a:rPr lang="en-US" sz="2000" dirty="0">
                          <a:effectLst/>
                        </a:rPr>
                        <a:t>$table-&gt;primary(['id', '</a:t>
                      </a:r>
                      <a:r>
                        <a:rPr lang="en-US" sz="2000" dirty="0" err="1">
                          <a:effectLst/>
                        </a:rPr>
                        <a:t>parent_id</a:t>
                      </a:r>
                      <a:r>
                        <a:rPr lang="en-US" sz="2000" dirty="0">
                          <a:effectLst/>
                        </a:rPr>
                        <a:t>']);</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a:effectLst/>
                        </a:rPr>
                        <a:t>Adds composite keys.</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3134244440"/>
                  </a:ext>
                </a:extLst>
              </a:tr>
              <a:tr h="354434">
                <a:tc>
                  <a:txBody>
                    <a:bodyPr/>
                    <a:lstStyle/>
                    <a:p>
                      <a:pPr algn="l"/>
                      <a:r>
                        <a:rPr lang="en-US" sz="2000">
                          <a:effectLst/>
                        </a:rPr>
                        <a:t>$table-&gt;unique('email');</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a:effectLst/>
                        </a:rPr>
                        <a:t>Adds a unique index.</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1777621032"/>
                  </a:ext>
                </a:extLst>
              </a:tr>
              <a:tr h="354434">
                <a:tc>
                  <a:txBody>
                    <a:bodyPr/>
                    <a:lstStyle/>
                    <a:p>
                      <a:pPr algn="l"/>
                      <a:r>
                        <a:rPr lang="en-US" sz="2000">
                          <a:effectLst/>
                        </a:rPr>
                        <a:t>$table-&gt;index('state');</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a:effectLst/>
                        </a:rPr>
                        <a:t>Adds an index.</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1180536642"/>
                  </a:ext>
                </a:extLst>
              </a:tr>
              <a:tr h="487472">
                <a:tc>
                  <a:txBody>
                    <a:bodyPr/>
                    <a:lstStyle/>
                    <a:p>
                      <a:pPr algn="l"/>
                      <a:r>
                        <a:rPr lang="en-US" sz="2000">
                          <a:effectLst/>
                        </a:rPr>
                        <a:t>$table-&gt;spatialIndex('location');</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rPr>
                        <a:t>Adds a spatial index (except SQLite).</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3515816721"/>
                  </a:ext>
                </a:extLst>
              </a:tr>
            </a:tbl>
          </a:graphicData>
        </a:graphic>
      </p:graphicFrame>
    </p:spTree>
    <p:extLst>
      <p:ext uri="{BB962C8B-B14F-4D97-AF65-F5344CB8AC3E}">
        <p14:creationId xmlns:p14="http://schemas.microsoft.com/office/powerpoint/2010/main" val="433260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Creating </a:t>
            </a:r>
            <a:r>
              <a:rPr lang="en-US" sz="5333" b="1" u="sng" dirty="0" err="1">
                <a:latin typeface="Times New Roman" panose="02020603050405020304" pitchFamily="18" charset="0"/>
                <a:cs typeface="Times New Roman" panose="02020603050405020304" pitchFamily="18" charset="0"/>
              </a:rPr>
              <a:t>Indexs</a:t>
            </a:r>
            <a:endParaRPr lang="en-US" sz="5333"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8006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While Creating Column</a:t>
            </a:r>
          </a:p>
          <a:p>
            <a:pPr marL="0" indent="0">
              <a:buNone/>
            </a:pPr>
            <a:r>
              <a:rPr lang="en-US" sz="2400" dirty="0">
                <a:latin typeface="Times New Roman" panose="02020603050405020304" pitchFamily="18" charset="0"/>
                <a:cs typeface="Times New Roman" panose="02020603050405020304" pitchFamily="18" charset="0"/>
              </a:rPr>
              <a:t>Example:- $table-&gt;string('email')-&gt;unique();</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You may create the index after defining the column.</a:t>
            </a:r>
          </a:p>
          <a:p>
            <a:pPr marL="0" indent="0">
              <a:buNone/>
            </a:pPr>
            <a:r>
              <a:rPr lang="en-US" sz="2400" dirty="0">
                <a:latin typeface="Times New Roman" panose="02020603050405020304" pitchFamily="18" charset="0"/>
                <a:cs typeface="Times New Roman" panose="02020603050405020304" pitchFamily="18" charset="0"/>
              </a:rPr>
              <a:t>Example:- $table-&gt;unique(‘email’);</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When creating an index, Laravel will automatically generate an index name based on the table, column names, and the index type, but you may pass a second argument to the method to specify the index name yourself:</a:t>
            </a:r>
          </a:p>
          <a:p>
            <a:pPr marL="0" indent="0">
              <a:buNone/>
            </a:pPr>
            <a:r>
              <a:rPr lang="en-US" sz="2400" dirty="0">
                <a:latin typeface="Times New Roman" panose="02020603050405020304" pitchFamily="18" charset="0"/>
                <a:cs typeface="Times New Roman" panose="02020603050405020304" pitchFamily="18" charset="0"/>
              </a:rPr>
              <a:t>Example:- $table-&gt;unique('email', '</a:t>
            </a:r>
            <a:r>
              <a:rPr lang="en-US" sz="2400" dirty="0" err="1">
                <a:latin typeface="Times New Roman" panose="02020603050405020304" pitchFamily="18" charset="0"/>
                <a:cs typeface="Times New Roman" panose="02020603050405020304" pitchFamily="18" charset="0"/>
              </a:rPr>
              <a:t>unique_email</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8309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Creating </a:t>
            </a:r>
            <a:r>
              <a:rPr lang="en-US" sz="5333" b="1" u="sng" dirty="0" err="1">
                <a:latin typeface="Times New Roman" panose="02020603050405020304" pitchFamily="18" charset="0"/>
                <a:cs typeface="Times New Roman" panose="02020603050405020304" pitchFamily="18" charset="0"/>
              </a:rPr>
              <a:t>Indexs</a:t>
            </a:r>
            <a:endParaRPr lang="en-US" sz="5333"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8006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You may even pass an array of columns to an index method to create a compound (or composite) index:</a:t>
            </a:r>
          </a:p>
          <a:p>
            <a:pPr marL="0" indent="0">
              <a:buNone/>
            </a:pPr>
            <a:r>
              <a:rPr lang="en-US" sz="2400" dirty="0">
                <a:latin typeface="Times New Roman" panose="02020603050405020304" pitchFamily="18" charset="0"/>
                <a:cs typeface="Times New Roman" panose="02020603050405020304" pitchFamily="18" charset="0"/>
              </a:rPr>
              <a:t>Example:- $table-&gt;index(['</a:t>
            </a:r>
            <a:r>
              <a:rPr lang="en-US" sz="2400" dirty="0" err="1">
                <a:latin typeface="Times New Roman" panose="02020603050405020304" pitchFamily="18" charset="0"/>
                <a:cs typeface="Times New Roman" panose="02020603050405020304" pitchFamily="18" charset="0"/>
              </a:rPr>
              <a:t>account_id</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created_at</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409169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Renaming Indexes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8006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To rename an index, you may use the </a:t>
            </a:r>
            <a:r>
              <a:rPr lang="en-US" sz="2400" dirty="0" err="1">
                <a:latin typeface="Times New Roman" panose="02020603050405020304" pitchFamily="18" charset="0"/>
                <a:cs typeface="Times New Roman" panose="02020603050405020304" pitchFamily="18" charset="0"/>
              </a:rPr>
              <a:t>renameIndex</a:t>
            </a:r>
            <a:r>
              <a:rPr lang="en-US" sz="2400" dirty="0">
                <a:latin typeface="Times New Roman" panose="02020603050405020304" pitchFamily="18" charset="0"/>
                <a:cs typeface="Times New Roman" panose="02020603050405020304" pitchFamily="18" charset="0"/>
              </a:rPr>
              <a:t> method provided by the schema builder blueprint. This method accepts the current index name as its first argument and the desired name as its second argument:</a:t>
            </a:r>
          </a:p>
          <a:p>
            <a:pPr marL="0" indent="0">
              <a:buNone/>
            </a:pPr>
            <a:r>
              <a:rPr lang="en-US" sz="2400" dirty="0">
                <a:latin typeface="Times New Roman" panose="02020603050405020304" pitchFamily="18" charset="0"/>
                <a:cs typeface="Times New Roman" panose="02020603050405020304" pitchFamily="18" charset="0"/>
              </a:rPr>
              <a:t>Example:- $table-&gt;</a:t>
            </a:r>
            <a:r>
              <a:rPr lang="en-US" sz="2400" dirty="0" err="1">
                <a:latin typeface="Times New Roman" panose="02020603050405020304" pitchFamily="18" charset="0"/>
                <a:cs typeface="Times New Roman" panose="02020603050405020304" pitchFamily="18" charset="0"/>
              </a:rPr>
              <a:t>renameIndex</a:t>
            </a:r>
            <a:r>
              <a:rPr lang="en-US" sz="2400" dirty="0">
                <a:latin typeface="Times New Roman" panose="02020603050405020304" pitchFamily="18" charset="0"/>
                <a:cs typeface="Times New Roman" panose="02020603050405020304" pitchFamily="18" charset="0"/>
              </a:rPr>
              <a:t>('from', 'to')</a:t>
            </a:r>
          </a:p>
        </p:txBody>
      </p:sp>
    </p:spTree>
    <p:extLst>
      <p:ext uri="{BB962C8B-B14F-4D97-AF65-F5344CB8AC3E}">
        <p14:creationId xmlns:p14="http://schemas.microsoft.com/office/powerpoint/2010/main" val="3298149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Dropping Indexes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2007423"/>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To drop an index, you must specify the index's name. By default, Laravel automatically assigns an index name based on the table name, the name of the indexed column, and the index type. </a:t>
            </a:r>
          </a:p>
          <a:p>
            <a:pPr marL="0" indent="0">
              <a:buNone/>
            </a:pPr>
            <a:r>
              <a:rPr lang="en-US" sz="2400" dirty="0">
                <a:latin typeface="Times New Roman" panose="02020603050405020304" pitchFamily="18" charset="0"/>
                <a:cs typeface="Times New Roman" panose="02020603050405020304" pitchFamily="18" charset="0"/>
              </a:rPr>
              <a:t>Example:- $table-&gt;</a:t>
            </a:r>
            <a:r>
              <a:rPr lang="en-US" sz="2400" dirty="0" err="1">
                <a:latin typeface="Times New Roman" panose="02020603050405020304" pitchFamily="18" charset="0"/>
                <a:cs typeface="Times New Roman" panose="02020603050405020304" pitchFamily="18" charset="0"/>
              </a:rPr>
              <a:t>dropUnique</a:t>
            </a:r>
            <a:r>
              <a:rPr lang="en-US" sz="2400" dirty="0">
                <a:latin typeface="Times New Roman" panose="02020603050405020304" pitchFamily="18" charset="0"/>
                <a:cs typeface="Times New Roman" panose="02020603050405020304" pitchFamily="18" charset="0"/>
              </a:rPr>
              <a:t>([‘roll']); </a:t>
            </a:r>
          </a:p>
          <a:p>
            <a:pPr marL="0" indent="0">
              <a:buNone/>
            </a:pPr>
            <a:endParaRPr lang="en-US" sz="24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BF86FBBF-DC3E-4CDE-BBF7-9F714CD35B18}"/>
              </a:ext>
            </a:extLst>
          </p:cNvPr>
          <p:cNvGraphicFramePr>
            <a:graphicFrameLocks noGrp="1"/>
          </p:cNvGraphicFramePr>
          <p:nvPr>
            <p:extLst>
              <p:ext uri="{D42A27DB-BD31-4B8C-83A1-F6EECF244321}">
                <p14:modId xmlns:p14="http://schemas.microsoft.com/office/powerpoint/2010/main" val="475708248"/>
              </p:ext>
            </p:extLst>
          </p:nvPr>
        </p:nvGraphicFramePr>
        <p:xfrm>
          <a:off x="735766" y="3047177"/>
          <a:ext cx="10347868" cy="2590800"/>
        </p:xfrm>
        <a:graphic>
          <a:graphicData uri="http://schemas.openxmlformats.org/drawingml/2006/table">
            <a:tbl>
              <a:tblPr/>
              <a:tblGrid>
                <a:gridCol w="5173934">
                  <a:extLst>
                    <a:ext uri="{9D8B030D-6E8A-4147-A177-3AD203B41FA5}">
                      <a16:colId xmlns:a16="http://schemas.microsoft.com/office/drawing/2014/main" val="4189095543"/>
                    </a:ext>
                  </a:extLst>
                </a:gridCol>
                <a:gridCol w="5173934">
                  <a:extLst>
                    <a:ext uri="{9D8B030D-6E8A-4147-A177-3AD203B41FA5}">
                      <a16:colId xmlns:a16="http://schemas.microsoft.com/office/drawing/2014/main" val="1198498402"/>
                    </a:ext>
                  </a:extLst>
                </a:gridCol>
              </a:tblGrid>
              <a:tr h="314769">
                <a:tc>
                  <a:txBody>
                    <a:bodyPr/>
                    <a:lstStyle/>
                    <a:p>
                      <a:pPr algn="ctr"/>
                      <a:r>
                        <a:rPr lang="en-US" sz="2000" b="1">
                          <a:effectLst/>
                          <a:latin typeface="Times New Roman" panose="02020603050405020304" pitchFamily="18" charset="0"/>
                          <a:cs typeface="Times New Roman" panose="02020603050405020304" pitchFamily="18" charset="0"/>
                        </a:rPr>
                        <a:t>Command</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solidFill>
                      <a:schemeClr val="accent2">
                        <a:lumMod val="75000"/>
                      </a:schemeClr>
                    </a:solidFill>
                  </a:tcPr>
                </a:tc>
                <a:tc>
                  <a:txBody>
                    <a:bodyPr/>
                    <a:lstStyle/>
                    <a:p>
                      <a:pPr algn="ctr"/>
                      <a:r>
                        <a:rPr lang="en-US" sz="2000" b="1" dirty="0">
                          <a:effectLst/>
                          <a:latin typeface="Times New Roman" panose="02020603050405020304" pitchFamily="18" charset="0"/>
                          <a:cs typeface="Times New Roman" panose="02020603050405020304" pitchFamily="18" charset="0"/>
                        </a:rPr>
                        <a:t>Description</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solidFill>
                      <a:schemeClr val="accent2">
                        <a:lumMod val="75000"/>
                      </a:schemeClr>
                    </a:solidFill>
                  </a:tcPr>
                </a:tc>
                <a:extLst>
                  <a:ext uri="{0D108BD9-81ED-4DB2-BD59-A6C34878D82A}">
                    <a16:rowId xmlns:a16="http://schemas.microsoft.com/office/drawing/2014/main" val="3867861062"/>
                  </a:ext>
                </a:extLst>
              </a:tr>
              <a:tr h="391656">
                <a:tc>
                  <a:txBody>
                    <a:bodyPr/>
                    <a:lstStyle/>
                    <a:p>
                      <a:pPr algn="l"/>
                      <a:r>
                        <a:rPr lang="en-US" sz="2000" dirty="0">
                          <a:effectLst/>
                        </a:rPr>
                        <a:t>$table-&gt;</a:t>
                      </a:r>
                      <a:r>
                        <a:rPr lang="en-US" sz="2000" dirty="0" err="1">
                          <a:effectLst/>
                        </a:rPr>
                        <a:t>dropPrimary</a:t>
                      </a:r>
                      <a:r>
                        <a:rPr lang="en-US" sz="2000" dirty="0">
                          <a:effectLst/>
                        </a:rPr>
                        <a:t>('</a:t>
                      </a:r>
                      <a:r>
                        <a:rPr lang="en-US" sz="2000" dirty="0" err="1">
                          <a:effectLst/>
                        </a:rPr>
                        <a:t>users_id_primary</a:t>
                      </a:r>
                      <a:r>
                        <a:rPr lang="en-US" sz="2000" dirty="0">
                          <a:effectLst/>
                        </a:rPr>
                        <a:t>');</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Drop a primary key from the "users" table.</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2631404043"/>
                  </a:ext>
                </a:extLst>
              </a:tr>
              <a:tr h="391656">
                <a:tc>
                  <a:txBody>
                    <a:bodyPr/>
                    <a:lstStyle/>
                    <a:p>
                      <a:pPr algn="l"/>
                      <a:r>
                        <a:rPr lang="fr-FR" sz="2000" dirty="0">
                          <a:effectLst/>
                        </a:rPr>
                        <a:t>$table-&gt;</a:t>
                      </a:r>
                      <a:r>
                        <a:rPr lang="fr-FR" sz="2000" dirty="0" err="1">
                          <a:effectLst/>
                        </a:rPr>
                        <a:t>dropUnique</a:t>
                      </a:r>
                      <a:r>
                        <a:rPr lang="fr-FR" sz="2000" dirty="0">
                          <a:effectLst/>
                        </a:rPr>
                        <a:t>('</a:t>
                      </a:r>
                      <a:r>
                        <a:rPr lang="fr-FR" sz="2000" dirty="0" err="1">
                          <a:effectLst/>
                        </a:rPr>
                        <a:t>users_email_unique</a:t>
                      </a:r>
                      <a:r>
                        <a:rPr lang="fr-FR" sz="2000" dirty="0">
                          <a:effectLst/>
                        </a:rPr>
                        <a:t>');</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Drop a unique index from the "users" table.</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3451700212"/>
                  </a:ext>
                </a:extLst>
              </a:tr>
              <a:tr h="391656">
                <a:tc>
                  <a:txBody>
                    <a:bodyPr/>
                    <a:lstStyle/>
                    <a:p>
                      <a:pPr algn="l"/>
                      <a:r>
                        <a:rPr lang="en-US" sz="2000">
                          <a:effectLst/>
                        </a:rPr>
                        <a:t>$table-&gt;dropIndex('geo_state_index');</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Drop a basic index from the "geo" table.</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3867973241"/>
                  </a:ext>
                </a:extLst>
              </a:tr>
              <a:tr h="524614">
                <a:tc>
                  <a:txBody>
                    <a:bodyPr/>
                    <a:lstStyle/>
                    <a:p>
                      <a:pPr algn="l"/>
                      <a:r>
                        <a:rPr lang="en-US" sz="2000">
                          <a:effectLst/>
                        </a:rPr>
                        <a:t>$table-&gt;dropSpatialIndex('geo_location_spatialindex');</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tc>
                  <a:txBody>
                    <a:bodyPr/>
                    <a:lstStyle/>
                    <a:p>
                      <a:pPr algn="l"/>
                      <a:r>
                        <a:rPr lang="en-US" sz="2000" dirty="0">
                          <a:effectLst/>
                          <a:latin typeface="Times New Roman" panose="02020603050405020304" pitchFamily="18" charset="0"/>
                          <a:cs typeface="Times New Roman" panose="02020603050405020304" pitchFamily="18" charset="0"/>
                        </a:rPr>
                        <a:t>Drop a spatial index from the "geo" table (except SQLite).</a:t>
                      </a:r>
                    </a:p>
                  </a:txBody>
                  <a:tcPr marL="76200" marR="76200" marT="76200" marB="76200" anchor="ctr">
                    <a:lnL w="7620" cap="flat" cmpd="sng" algn="ctr">
                      <a:solidFill>
                        <a:srgbClr val="D7D7DC"/>
                      </a:solidFill>
                      <a:prstDash val="solid"/>
                      <a:round/>
                      <a:headEnd type="none" w="med" len="med"/>
                      <a:tailEnd type="none" w="med" len="med"/>
                    </a:lnL>
                    <a:lnR w="7620" cap="flat" cmpd="sng" algn="ctr">
                      <a:solidFill>
                        <a:srgbClr val="D7D7DC"/>
                      </a:solidFill>
                      <a:prstDash val="solid"/>
                      <a:round/>
                      <a:headEnd type="none" w="med" len="med"/>
                      <a:tailEnd type="none" w="med" len="med"/>
                    </a:lnR>
                    <a:lnT w="7620" cap="flat" cmpd="sng" algn="ctr">
                      <a:solidFill>
                        <a:srgbClr val="D7D7DC"/>
                      </a:solidFill>
                      <a:prstDash val="solid"/>
                      <a:round/>
                      <a:headEnd type="none" w="med" len="med"/>
                      <a:tailEnd type="none" w="med" len="med"/>
                    </a:lnT>
                    <a:lnB w="7620" cap="flat" cmpd="sng" algn="ctr">
                      <a:solidFill>
                        <a:srgbClr val="D7D7DC"/>
                      </a:solidFill>
                      <a:prstDash val="solid"/>
                      <a:round/>
                      <a:headEnd type="none" w="med" len="med"/>
                      <a:tailEnd type="none" w="med" len="med"/>
                    </a:lnB>
                  </a:tcPr>
                </a:tc>
                <a:extLst>
                  <a:ext uri="{0D108BD9-81ED-4DB2-BD59-A6C34878D82A}">
                    <a16:rowId xmlns:a16="http://schemas.microsoft.com/office/drawing/2014/main" val="3688041390"/>
                  </a:ext>
                </a:extLst>
              </a:tr>
            </a:tbl>
          </a:graphicData>
        </a:graphic>
      </p:graphicFrame>
    </p:spTree>
    <p:extLst>
      <p:ext uri="{BB962C8B-B14F-4D97-AF65-F5344CB8AC3E}">
        <p14:creationId xmlns:p14="http://schemas.microsoft.com/office/powerpoint/2010/main" val="189281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Foreign Key Constraints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8006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Laravel also provides support for creating foreign key constraints, which are used to force referential integrity at the database level.</a:t>
            </a:r>
          </a:p>
          <a:p>
            <a:pPr marL="0" indent="0">
              <a:buNone/>
            </a:pPr>
            <a:r>
              <a:rPr lang="en-US" sz="2400" dirty="0">
                <a:cs typeface="Times New Roman" panose="02020603050405020304" pitchFamily="18" charset="0"/>
              </a:rPr>
              <a:t>Schema::table(‘course', function (Blueprint $table) {</a:t>
            </a:r>
          </a:p>
          <a:p>
            <a:pPr marL="0" indent="0">
              <a:buNone/>
            </a:pPr>
            <a:r>
              <a:rPr lang="en-US" sz="2400" dirty="0">
                <a:cs typeface="Times New Roman" panose="02020603050405020304" pitchFamily="18" charset="0"/>
              </a:rPr>
              <a:t>    $table-&gt;</a:t>
            </a:r>
            <a:r>
              <a:rPr lang="en-US" sz="2400" dirty="0" err="1">
                <a:cs typeface="Times New Roman" panose="02020603050405020304" pitchFamily="18" charset="0"/>
              </a:rPr>
              <a:t>unsignedBigInteger</a:t>
            </a:r>
            <a:r>
              <a:rPr lang="en-US" sz="2400" dirty="0">
                <a:cs typeface="Times New Roman" panose="02020603050405020304" pitchFamily="18" charset="0"/>
              </a:rPr>
              <a:t>(‘</a:t>
            </a:r>
            <a:r>
              <a:rPr lang="en-US" sz="2400" dirty="0" err="1">
                <a:cs typeface="Times New Roman" panose="02020603050405020304" pitchFamily="18" charset="0"/>
              </a:rPr>
              <a:t>stu_id</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    $table-&gt;foreign(‘</a:t>
            </a:r>
            <a:r>
              <a:rPr lang="en-US" sz="2400" dirty="0" err="1">
                <a:cs typeface="Times New Roman" panose="02020603050405020304" pitchFamily="18" charset="0"/>
              </a:rPr>
              <a:t>stu_id</a:t>
            </a:r>
            <a:r>
              <a:rPr lang="en-US" sz="2400" dirty="0">
                <a:cs typeface="Times New Roman" panose="02020603050405020304" pitchFamily="18" charset="0"/>
              </a:rPr>
              <a:t>')-&gt;references('id')-&gt;on(‘student');</a:t>
            </a:r>
          </a:p>
          <a:p>
            <a:pPr marL="0" indent="0">
              <a:buNone/>
            </a:pPr>
            <a:r>
              <a:rPr lang="en-US" sz="2400" dirty="0">
                <a:cs typeface="Times New Roman" panose="02020603050405020304" pitchFamily="18" charset="0"/>
              </a:rPr>
              <a:t>});</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$table-&gt;</a:t>
            </a:r>
            <a:r>
              <a:rPr lang="en-US" sz="2400" dirty="0" err="1">
                <a:cs typeface="Times New Roman" panose="02020603050405020304" pitchFamily="18" charset="0"/>
              </a:rPr>
              <a:t>foreignId</a:t>
            </a:r>
            <a:r>
              <a:rPr lang="en-US" sz="2400" dirty="0">
                <a:cs typeface="Times New Roman" panose="02020603050405020304" pitchFamily="18" charset="0"/>
              </a:rPr>
              <a:t>(‘</a:t>
            </a:r>
            <a:r>
              <a:rPr lang="en-US" sz="2400" dirty="0" err="1">
                <a:cs typeface="Times New Roman" panose="02020603050405020304" pitchFamily="18" charset="0"/>
              </a:rPr>
              <a:t>stu_id</a:t>
            </a:r>
            <a:r>
              <a:rPr lang="en-US" sz="2400" dirty="0">
                <a:cs typeface="Times New Roman" panose="02020603050405020304" pitchFamily="18" charset="0"/>
              </a:rPr>
              <a:t>')-&gt;constrained();</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$table-&gt;</a:t>
            </a:r>
            <a:r>
              <a:rPr lang="en-US" sz="2400" dirty="0" err="1">
                <a:cs typeface="Times New Roman" panose="02020603050405020304" pitchFamily="18" charset="0"/>
              </a:rPr>
              <a:t>foreignId</a:t>
            </a:r>
            <a:r>
              <a:rPr lang="en-US" sz="2400" dirty="0">
                <a:cs typeface="Times New Roman" panose="02020603050405020304" pitchFamily="18" charset="0"/>
              </a:rPr>
              <a:t>(‘</a:t>
            </a:r>
            <a:r>
              <a:rPr lang="en-US" sz="2400" dirty="0" err="1">
                <a:cs typeface="Times New Roman" panose="02020603050405020304" pitchFamily="18" charset="0"/>
              </a:rPr>
              <a:t>stu_id</a:t>
            </a:r>
            <a:r>
              <a:rPr lang="en-US" sz="2400" dirty="0">
                <a:cs typeface="Times New Roman" panose="02020603050405020304" pitchFamily="18" charset="0"/>
              </a:rPr>
              <a:t>')-&gt;constrained(‘student');</a:t>
            </a:r>
          </a:p>
        </p:txBody>
      </p:sp>
    </p:spTree>
    <p:extLst>
      <p:ext uri="{BB962C8B-B14F-4D97-AF65-F5344CB8AC3E}">
        <p14:creationId xmlns:p14="http://schemas.microsoft.com/office/powerpoint/2010/main" val="3178856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Foreign Key Constraints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8006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You may also specify the desired action for the "on delete" and "on update" properties of the constraint:</a:t>
            </a:r>
          </a:p>
          <a:p>
            <a:pPr marL="0" indent="0">
              <a:buNone/>
            </a:pPr>
            <a:r>
              <a:rPr lang="en-US" sz="2400" dirty="0">
                <a:cs typeface="Times New Roman" panose="02020603050405020304" pitchFamily="18" charset="0"/>
              </a:rPr>
              <a:t>$table-&gt;</a:t>
            </a:r>
            <a:r>
              <a:rPr lang="en-US" sz="2400" dirty="0" err="1">
                <a:cs typeface="Times New Roman" panose="02020603050405020304" pitchFamily="18" charset="0"/>
              </a:rPr>
              <a:t>foreignId</a:t>
            </a:r>
            <a:r>
              <a:rPr lang="en-US" sz="2400" dirty="0">
                <a:cs typeface="Times New Roman" panose="02020603050405020304" pitchFamily="18" charset="0"/>
              </a:rPr>
              <a:t>(‘</a:t>
            </a:r>
            <a:r>
              <a:rPr lang="en-US" sz="2400" dirty="0" err="1">
                <a:cs typeface="Times New Roman" panose="02020603050405020304" pitchFamily="18" charset="0"/>
              </a:rPr>
              <a:t>stu_id</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      -&gt;constrained()</a:t>
            </a:r>
          </a:p>
          <a:p>
            <a:pPr marL="0" indent="0">
              <a:buNone/>
            </a:pPr>
            <a:r>
              <a:rPr lang="en-US" sz="2400" dirty="0">
                <a:cs typeface="Times New Roman" panose="02020603050405020304" pitchFamily="18" charset="0"/>
              </a:rPr>
              <a:t>      -&gt;</a:t>
            </a:r>
            <a:r>
              <a:rPr lang="en-US" sz="2400" dirty="0" err="1">
                <a:cs typeface="Times New Roman" panose="02020603050405020304" pitchFamily="18" charset="0"/>
              </a:rPr>
              <a:t>onUpdate</a:t>
            </a:r>
            <a:r>
              <a:rPr lang="en-US" sz="2400" dirty="0">
                <a:cs typeface="Times New Roman" panose="02020603050405020304" pitchFamily="18" charset="0"/>
              </a:rPr>
              <a:t>('cascade')</a:t>
            </a:r>
          </a:p>
          <a:p>
            <a:pPr marL="0" indent="0">
              <a:buNone/>
            </a:pPr>
            <a:r>
              <a:rPr lang="en-US" sz="2400" dirty="0">
                <a:cs typeface="Times New Roman" panose="02020603050405020304" pitchFamily="18" charset="0"/>
              </a:rPr>
              <a:t>      -&gt;</a:t>
            </a:r>
            <a:r>
              <a:rPr lang="en-US" sz="2400" dirty="0" err="1">
                <a:cs typeface="Times New Roman" panose="02020603050405020304" pitchFamily="18" charset="0"/>
              </a:rPr>
              <a:t>onDelete</a:t>
            </a:r>
            <a:r>
              <a:rPr lang="en-US" sz="2400" dirty="0">
                <a:cs typeface="Times New Roman" panose="02020603050405020304" pitchFamily="18" charset="0"/>
              </a:rPr>
              <a:t>('cascade');</a:t>
            </a:r>
          </a:p>
        </p:txBody>
      </p:sp>
    </p:spTree>
    <p:extLst>
      <p:ext uri="{BB962C8B-B14F-4D97-AF65-F5344CB8AC3E}">
        <p14:creationId xmlns:p14="http://schemas.microsoft.com/office/powerpoint/2010/main" val="698638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Dropping Foreign Key</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8006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To drop a foreign key, you may use the </a:t>
            </a:r>
            <a:r>
              <a:rPr lang="en-US" sz="2400" dirty="0" err="1">
                <a:latin typeface="Times New Roman" panose="02020603050405020304" pitchFamily="18" charset="0"/>
                <a:cs typeface="Times New Roman" panose="02020603050405020304" pitchFamily="18" charset="0"/>
              </a:rPr>
              <a:t>dropForeign</a:t>
            </a:r>
            <a:r>
              <a:rPr lang="en-US" sz="2400" dirty="0">
                <a:latin typeface="Times New Roman" panose="02020603050405020304" pitchFamily="18" charset="0"/>
                <a:cs typeface="Times New Roman" panose="02020603050405020304" pitchFamily="18" charset="0"/>
              </a:rPr>
              <a:t> method, passing the name of the foreign key constraint to be deleted as an argument.</a:t>
            </a:r>
          </a:p>
          <a:p>
            <a:pPr marL="0" indent="0">
              <a:buNone/>
            </a:pPr>
            <a:r>
              <a:rPr lang="en-US" sz="2400" dirty="0">
                <a:latin typeface="Times New Roman" panose="02020603050405020304" pitchFamily="18" charset="0"/>
                <a:cs typeface="Times New Roman" panose="02020603050405020304" pitchFamily="18" charset="0"/>
              </a:rPr>
              <a:t>the foreign key constraint name is based on the name of the table and the columns in the constraint, followed by a "_foreign" suffix:</a:t>
            </a:r>
          </a:p>
          <a:p>
            <a:pPr marL="0" indent="0">
              <a:buNone/>
            </a:pPr>
            <a:r>
              <a:rPr lang="en-US" sz="2400" dirty="0">
                <a:cs typeface="Times New Roman" panose="02020603050405020304" pitchFamily="18" charset="0"/>
              </a:rPr>
              <a:t>$table-&gt;</a:t>
            </a:r>
            <a:r>
              <a:rPr lang="en-US" sz="2400" dirty="0" err="1">
                <a:cs typeface="Times New Roman" panose="02020603050405020304" pitchFamily="18" charset="0"/>
              </a:rPr>
              <a:t>dropForeign</a:t>
            </a:r>
            <a:r>
              <a:rPr lang="en-US" sz="2400" dirty="0">
                <a:cs typeface="Times New Roman" panose="02020603050405020304" pitchFamily="18" charset="0"/>
              </a:rPr>
              <a:t>(‘</a:t>
            </a:r>
            <a:r>
              <a:rPr lang="en-US" sz="2400" dirty="0" err="1">
                <a:cs typeface="Times New Roman" panose="02020603050405020304" pitchFamily="18" charset="0"/>
              </a:rPr>
              <a:t>course_stu_id_foreign</a:t>
            </a:r>
            <a:r>
              <a:rPr lang="en-US" sz="2400" dirty="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you may pass an array containing the column name that holds the foreign key to the </a:t>
            </a:r>
            <a:r>
              <a:rPr lang="en-US" sz="2400" dirty="0" err="1">
                <a:latin typeface="Times New Roman" panose="02020603050405020304" pitchFamily="18" charset="0"/>
                <a:cs typeface="Times New Roman" panose="02020603050405020304" pitchFamily="18" charset="0"/>
              </a:rPr>
              <a:t>dropForeign</a:t>
            </a:r>
            <a:r>
              <a:rPr lang="en-US" sz="2400" dirty="0">
                <a:latin typeface="Times New Roman" panose="02020603050405020304" pitchFamily="18" charset="0"/>
                <a:cs typeface="Times New Roman" panose="02020603050405020304" pitchFamily="18" charset="0"/>
              </a:rPr>
              <a:t> method. The array will be converted to a foreign key constraint name using Laravel's constraint naming conventions:</a:t>
            </a:r>
          </a:p>
          <a:p>
            <a:pPr marL="0" indent="0">
              <a:buNone/>
            </a:pPr>
            <a:r>
              <a:rPr lang="en-US" sz="2400" dirty="0">
                <a:cs typeface="Times New Roman" panose="02020603050405020304" pitchFamily="18" charset="0"/>
              </a:rPr>
              <a:t>$table-&gt;</a:t>
            </a:r>
            <a:r>
              <a:rPr lang="en-US" sz="2400" dirty="0" err="1">
                <a:cs typeface="Times New Roman" panose="02020603050405020304" pitchFamily="18" charset="0"/>
              </a:rPr>
              <a:t>dropForeign</a:t>
            </a:r>
            <a:r>
              <a:rPr lang="en-US" sz="2400" dirty="0">
                <a:cs typeface="Times New Roman" panose="02020603050405020304" pitchFamily="18" charset="0"/>
              </a:rPr>
              <a:t>([‘</a:t>
            </a:r>
            <a:r>
              <a:rPr lang="en-US" sz="2400" dirty="0" err="1">
                <a:cs typeface="Times New Roman" panose="02020603050405020304" pitchFamily="18" charset="0"/>
              </a:rPr>
              <a:t>stu_id</a:t>
            </a:r>
            <a:r>
              <a:rPr lang="en-US" sz="2400" dirty="0">
                <a:cs typeface="Times New Roman" panose="02020603050405020304" pitchFamily="18" charset="0"/>
              </a:rPr>
              <a:t>']);</a:t>
            </a:r>
          </a:p>
        </p:txBody>
      </p:sp>
    </p:spTree>
    <p:extLst>
      <p:ext uri="{BB962C8B-B14F-4D97-AF65-F5344CB8AC3E}">
        <p14:creationId xmlns:p14="http://schemas.microsoft.com/office/powerpoint/2010/main" val="216195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749</TotalTime>
  <Words>2784</Words>
  <Application>Microsoft Office PowerPoint</Application>
  <PresentationFormat>Widescreen</PresentationFormat>
  <Paragraphs>367</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Calibri Light</vt:lpstr>
      <vt:lpstr>Times New Roman</vt:lpstr>
      <vt:lpstr>Office Theme</vt:lpstr>
      <vt:lpstr>Migrations</vt:lpstr>
      <vt:lpstr>Generating Migrations</vt:lpstr>
      <vt:lpstr>Migrations Class</vt:lpstr>
      <vt:lpstr>Running Migrations</vt:lpstr>
      <vt:lpstr>Rolling Back Migrations</vt:lpstr>
      <vt:lpstr>Rolling Back &amp; Migrate</vt:lpstr>
      <vt:lpstr>Drop All Tables &amp; Migrate</vt:lpstr>
      <vt:lpstr>Creating Table</vt:lpstr>
      <vt:lpstr>Dropping Table</vt:lpstr>
      <vt:lpstr>Checking for Table/Column Existence</vt:lpstr>
      <vt:lpstr>Renaming Table</vt:lpstr>
      <vt:lpstr>Creating Column</vt:lpstr>
      <vt:lpstr>Available Column Types</vt:lpstr>
      <vt:lpstr>Available Column Types</vt:lpstr>
      <vt:lpstr>Available Column Types</vt:lpstr>
      <vt:lpstr>Available Column Types</vt:lpstr>
      <vt:lpstr>Available Column Types</vt:lpstr>
      <vt:lpstr>Available Column Types</vt:lpstr>
      <vt:lpstr>Adding new Column</vt:lpstr>
      <vt:lpstr>Dropping Columns</vt:lpstr>
      <vt:lpstr>Column Modifiers</vt:lpstr>
      <vt:lpstr>Column Modifiers</vt:lpstr>
      <vt:lpstr>Column Modifiers</vt:lpstr>
      <vt:lpstr>Modifying Columns</vt:lpstr>
      <vt:lpstr>Updating Column Attributes</vt:lpstr>
      <vt:lpstr>Renaming Columns</vt:lpstr>
      <vt:lpstr>Creating Indexs</vt:lpstr>
      <vt:lpstr>Creating Indexs</vt:lpstr>
      <vt:lpstr>Creating Indexs</vt:lpstr>
      <vt:lpstr>Renaming Indexes</vt:lpstr>
      <vt:lpstr>Dropping Indexes</vt:lpstr>
      <vt:lpstr>Foreign Key Constraints</vt:lpstr>
      <vt:lpstr>Foreign Key Constraints</vt:lpstr>
      <vt:lpstr>Dropping Foreign Key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Install Laravel</dc:title>
  <dc:creator>RK</dc:creator>
  <cp:lastModifiedBy>RK</cp:lastModifiedBy>
  <cp:revision>189</cp:revision>
  <dcterms:created xsi:type="dcterms:W3CDTF">2020-01-16T07:28:28Z</dcterms:created>
  <dcterms:modified xsi:type="dcterms:W3CDTF">2021-04-06T13:09:19Z</dcterms:modified>
</cp:coreProperties>
</file>