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59" r:id="rId3"/>
    <p:sldId id="258" r:id="rId4"/>
    <p:sldId id="261" r:id="rId5"/>
    <p:sldId id="266" r:id="rId6"/>
    <p:sldId id="262" r:id="rId7"/>
    <p:sldId id="267" r:id="rId8"/>
    <p:sldId id="263" r:id="rId9"/>
    <p:sldId id="265" r:id="rId10"/>
    <p:sldId id="264" r:id="rId11"/>
    <p:sldId id="268"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45" d="100"/>
          <a:sy n="145" d="100"/>
        </p:scale>
        <p:origin x="546" y="11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11/26/2020</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6324600" cy="857250"/>
          </a:xfrm>
        </p:spPr>
        <p:txBody>
          <a:bodyPr>
            <a:normAutofit/>
          </a:bodyPr>
          <a:lstStyle/>
          <a:p>
            <a:pPr algn="l"/>
            <a:r>
              <a:rPr lang="en-US" sz="4000" b="1" u="sng" dirty="0">
                <a:latin typeface="Times New Roman" pitchFamily="18" charset="0"/>
                <a:cs typeface="Times New Roman" pitchFamily="18" charset="0"/>
              </a:rPr>
              <a:t>Directory Structure</a:t>
            </a:r>
            <a:endParaRPr lang="en-IN" sz="4000" b="1" u="sng"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649D3273-43CA-4E24-AFF1-4327F95AA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43211"/>
            <a:ext cx="1600200" cy="4907676"/>
          </a:xfrm>
          <a:prstGeom prst="rect">
            <a:avLst/>
          </a:prstGeom>
        </p:spPr>
      </p:pic>
    </p:spTree>
    <p:extLst>
      <p:ext uri="{BB962C8B-B14F-4D97-AF65-F5344CB8AC3E}">
        <p14:creationId xmlns:p14="http://schemas.microsoft.com/office/powerpoint/2010/main" val="159584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8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Directory Structure</a:t>
            </a:r>
            <a:endParaRPr lang="en-IN" sz="4000" b="1" u="sng" dirty="0">
              <a:latin typeface="Times New Roman" pitchFamily="18" charset="0"/>
              <a:cs typeface="Times New Roman" pitchFamily="18" charset="0"/>
            </a:endParaRPr>
          </a:p>
        </p:txBody>
      </p:sp>
      <p:sp>
        <p:nvSpPr>
          <p:cNvPr id="5" name="Content Placeholder 4"/>
          <p:cNvSpPr>
            <a:spLocks noGrp="1"/>
          </p:cNvSpPr>
          <p:nvPr>
            <p:ph idx="1"/>
          </p:nvPr>
        </p:nvSpPr>
        <p:spPr>
          <a:xfrm>
            <a:off x="457200" y="895350"/>
            <a:ext cx="8229600" cy="4038600"/>
          </a:xfrm>
        </p:spPr>
        <p:txBody>
          <a:bodyPr>
            <a:noAutofit/>
          </a:bodyPr>
          <a:lstStyle/>
          <a:p>
            <a:pPr marL="0" indent="0">
              <a:buNone/>
            </a:pPr>
            <a:r>
              <a:rPr lang="en-US" sz="1400" b="1" dirty="0" err="1">
                <a:latin typeface="Times New Roman" pitchFamily="18" charset="0"/>
                <a:cs typeface="Times New Roman" pitchFamily="18" charset="0"/>
              </a:rPr>
              <a:t>geekyshows</a:t>
            </a:r>
            <a:r>
              <a:rPr lang="en-US" sz="1400" dirty="0">
                <a:latin typeface="Times New Roman" pitchFamily="18" charset="0"/>
                <a:cs typeface="Times New Roman" pitchFamily="18" charset="0"/>
              </a:rPr>
              <a:t> – This is Project Folder</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app</a:t>
            </a:r>
            <a:r>
              <a:rPr lang="en-US" sz="1400" dirty="0">
                <a:latin typeface="Times New Roman" pitchFamily="18" charset="0"/>
                <a:cs typeface="Times New Roman" pitchFamily="18" charset="0"/>
              </a:rPr>
              <a:t> – The app directory contains the core code of your application.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bootstrap</a:t>
            </a:r>
            <a:r>
              <a:rPr lang="en-US" sz="1400" dirty="0">
                <a:latin typeface="Times New Roman" pitchFamily="18" charset="0"/>
                <a:cs typeface="Times New Roman" pitchFamily="18" charset="0"/>
              </a:rPr>
              <a:t> – The bootstrap directory contains the </a:t>
            </a:r>
            <a:r>
              <a:rPr lang="en-US" sz="1400" dirty="0" err="1">
                <a:latin typeface="Times New Roman" pitchFamily="18" charset="0"/>
                <a:cs typeface="Times New Roman" pitchFamily="18" charset="0"/>
              </a:rPr>
              <a:t>app.php</a:t>
            </a:r>
            <a:r>
              <a:rPr lang="en-US" sz="1400" dirty="0">
                <a:latin typeface="Times New Roman" pitchFamily="18" charset="0"/>
                <a:cs typeface="Times New Roman" pitchFamily="18" charset="0"/>
              </a:rPr>
              <a:t> file which bootstraps the framework.</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config</a:t>
            </a:r>
            <a:r>
              <a:rPr lang="en-US" sz="1400" dirty="0">
                <a:latin typeface="Times New Roman" pitchFamily="18" charset="0"/>
                <a:cs typeface="Times New Roman" pitchFamily="18" charset="0"/>
              </a:rPr>
              <a:t> – The config directory, as the name implies, contains all of your application's configuration files.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database</a:t>
            </a:r>
            <a:r>
              <a:rPr lang="en-US" sz="1400" dirty="0">
                <a:latin typeface="Times New Roman" pitchFamily="18" charset="0"/>
                <a:cs typeface="Times New Roman" pitchFamily="18" charset="0"/>
              </a:rPr>
              <a:t> – The database directory contains your database migrations, model factories, and seeds. If you        	wish, you may also use this directory to hold an SQLite database.</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public</a:t>
            </a:r>
            <a:r>
              <a:rPr lang="en-US" sz="1400" dirty="0">
                <a:latin typeface="Times New Roman" pitchFamily="18" charset="0"/>
                <a:cs typeface="Times New Roman" pitchFamily="18" charset="0"/>
              </a:rPr>
              <a:t> – The public directory contains the </a:t>
            </a:r>
            <a:r>
              <a:rPr lang="en-US" sz="1400" dirty="0" err="1">
                <a:latin typeface="Times New Roman" pitchFamily="18" charset="0"/>
                <a:cs typeface="Times New Roman" pitchFamily="18" charset="0"/>
              </a:rPr>
              <a:t>index.php</a:t>
            </a:r>
            <a:r>
              <a:rPr lang="en-US" sz="1400" dirty="0">
                <a:latin typeface="Times New Roman" pitchFamily="18" charset="0"/>
                <a:cs typeface="Times New Roman" pitchFamily="18" charset="0"/>
              </a:rPr>
              <a:t> file, which is the entry point for all requests entering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your application and configures  autoloading. This directory also houses your assets such as images,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JavaScript, and CSS.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resources</a:t>
            </a:r>
            <a:r>
              <a:rPr lang="en-US" sz="1400" dirty="0">
                <a:latin typeface="Times New Roman" pitchFamily="18" charset="0"/>
                <a:cs typeface="Times New Roman" pitchFamily="18" charset="0"/>
              </a:rPr>
              <a:t> – The resources directory contains your views as well as your raw, un-compiled assets such as 	CSS or JavaScript. This directory 	also houses all of your language files.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routes</a:t>
            </a:r>
            <a:r>
              <a:rPr lang="en-US" sz="1400" dirty="0">
                <a:latin typeface="Times New Roman" pitchFamily="18" charset="0"/>
                <a:cs typeface="Times New Roman" pitchFamily="18" charset="0"/>
              </a:rPr>
              <a:t> – The routes directory contains all of the route definitions for your application.</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storage</a:t>
            </a:r>
            <a:r>
              <a:rPr lang="en-US" sz="1400" dirty="0">
                <a:latin typeface="Times New Roman" pitchFamily="18" charset="0"/>
                <a:cs typeface="Times New Roman" pitchFamily="18" charset="0"/>
              </a:rPr>
              <a:t> – The storage directory contains your compiled Blade templates, file based sessions, file caches, and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other files generated by the framework.</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tests</a:t>
            </a:r>
            <a:r>
              <a:rPr lang="en-US" sz="1400" dirty="0">
                <a:latin typeface="Times New Roman" pitchFamily="18" charset="0"/>
                <a:cs typeface="Times New Roman" pitchFamily="18" charset="0"/>
              </a:rPr>
              <a:t> – The tests directory contains your automated tests.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vendor</a:t>
            </a:r>
            <a:r>
              <a:rPr lang="en-US" sz="1400" dirty="0">
                <a:latin typeface="Times New Roman" pitchFamily="18" charset="0"/>
                <a:cs typeface="Times New Roman" pitchFamily="18" charset="0"/>
              </a:rPr>
              <a:t> – The vendor directory contains your Composer dependencies.</a:t>
            </a:r>
          </a:p>
          <a:p>
            <a:pPr marL="0" indent="0" defTabSz="230188">
              <a:buNone/>
            </a:pPr>
            <a:endParaRPr lang="en-US" sz="1100" dirty="0">
              <a:latin typeface="Times New Roman" pitchFamily="18" charset="0"/>
              <a:cs typeface="Times New Roman" pitchFamily="18" charset="0"/>
            </a:endParaRPr>
          </a:p>
        </p:txBody>
      </p:sp>
    </p:spTree>
    <p:extLst>
      <p:ext uri="{BB962C8B-B14F-4D97-AF65-F5344CB8AC3E}">
        <p14:creationId xmlns:p14="http://schemas.microsoft.com/office/powerpoint/2010/main" val="211020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
                                            <p:txEl>
                                              <p:pRg st="10" end="10"/>
                                            </p:txEl>
                                          </p:spTgt>
                                        </p:tgtEl>
                                        <p:attrNameLst>
                                          <p:attrName>style.visibility</p:attrName>
                                        </p:attrNameLst>
                                      </p:cBhvr>
                                      <p:to>
                                        <p:strVal val="visible"/>
                                      </p:to>
                                    </p:set>
                                    <p:animEffect transition="in" filter="fade">
                                      <p:cBhvr>
                                        <p:cTn id="5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app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304800" y="895350"/>
            <a:ext cx="7239000" cy="3810000"/>
          </a:xfrm>
        </p:spPr>
        <p:txBody>
          <a:bodyPr>
            <a:normAutofit/>
          </a:bodyPr>
          <a:lstStyle/>
          <a:p>
            <a:pPr marL="0" indent="0">
              <a:buNone/>
            </a:pPr>
            <a:r>
              <a:rPr lang="en-US" sz="1400" b="1" dirty="0">
                <a:latin typeface="Times New Roman" pitchFamily="18" charset="0"/>
                <a:cs typeface="Times New Roman" pitchFamily="18" charset="0"/>
              </a:rPr>
              <a:t>app</a:t>
            </a:r>
            <a:r>
              <a:rPr lang="en-US" sz="1400" dirty="0">
                <a:latin typeface="Times New Roman" pitchFamily="18" charset="0"/>
                <a:cs typeface="Times New Roman" pitchFamily="18" charset="0"/>
              </a:rPr>
              <a:t> - The app directory contains the core code of your application.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Console</a:t>
            </a:r>
            <a:r>
              <a:rPr lang="en-US" sz="1400" dirty="0">
                <a:latin typeface="Times New Roman" pitchFamily="18" charset="0"/>
                <a:cs typeface="Times New Roman" pitchFamily="18" charset="0"/>
              </a:rPr>
              <a:t> – The Console directory contains all of your Artisan commands.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Exceptions</a:t>
            </a:r>
            <a:r>
              <a:rPr lang="en-US" sz="1400" dirty="0">
                <a:latin typeface="Times New Roman" pitchFamily="18" charset="0"/>
                <a:cs typeface="Times New Roman" pitchFamily="18" charset="0"/>
              </a:rPr>
              <a:t> – The Exceptions directory contains your application's exception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handler and is also a good place to place any exceptions thrown by your application.</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Http</a:t>
            </a:r>
            <a:r>
              <a:rPr lang="en-US" sz="1400" dirty="0">
                <a:latin typeface="Times New Roman" pitchFamily="18" charset="0"/>
                <a:cs typeface="Times New Roman" pitchFamily="18" charset="0"/>
              </a:rPr>
              <a:t> – The Http directory contains your controllers, middleware, and requests.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Controllers</a:t>
            </a:r>
            <a:r>
              <a:rPr lang="en-US" sz="1400" dirty="0">
                <a:latin typeface="Times New Roman" pitchFamily="18" charset="0"/>
                <a:cs typeface="Times New Roman" pitchFamily="18" charset="0"/>
              </a:rPr>
              <a:t> – It contains all controller files.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Middleware</a:t>
            </a:r>
            <a:r>
              <a:rPr lang="en-US" sz="1400" dirty="0">
                <a:latin typeface="Times New Roman" pitchFamily="18" charset="0"/>
                <a:cs typeface="Times New Roman" pitchFamily="18" charset="0"/>
              </a:rPr>
              <a:t> – It contains all middleware files.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Models</a:t>
            </a:r>
            <a:r>
              <a:rPr lang="en-US" sz="1400" dirty="0">
                <a:latin typeface="Times New Roman" pitchFamily="18" charset="0"/>
                <a:cs typeface="Times New Roman" pitchFamily="18" charset="0"/>
              </a:rPr>
              <a:t> – The Models directory contains all of your Eloquent model classes.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Providers</a:t>
            </a:r>
            <a:r>
              <a:rPr lang="en-US" sz="1400" dirty="0">
                <a:latin typeface="Times New Roman" pitchFamily="18" charset="0"/>
                <a:cs typeface="Times New Roman" pitchFamily="18" charset="0"/>
              </a:rPr>
              <a:t> – The Providers directory contains all of the service providers for your application.</a:t>
            </a:r>
          </a:p>
        </p:txBody>
      </p:sp>
      <p:pic>
        <p:nvPicPr>
          <p:cNvPr id="5" name="Picture 4">
            <a:extLst>
              <a:ext uri="{FF2B5EF4-FFF2-40B4-BE49-F238E27FC236}">
                <a16:creationId xmlns:a16="http://schemas.microsoft.com/office/drawing/2014/main" id="{3DEC9DC9-0D5C-4D30-86B7-ACF9548A9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1820" y="466725"/>
            <a:ext cx="1744980" cy="2421264"/>
          </a:xfrm>
          <a:prstGeom prst="rect">
            <a:avLst/>
          </a:prstGeom>
        </p:spPr>
      </p:pic>
    </p:spTree>
    <p:extLst>
      <p:ext uri="{BB962C8B-B14F-4D97-AF65-F5344CB8AC3E}">
        <p14:creationId xmlns:p14="http://schemas.microsoft.com/office/powerpoint/2010/main" val="106430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bootstrap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8229600" cy="3886200"/>
          </a:xfrm>
        </p:spPr>
        <p:txBody>
          <a:bodyPr>
            <a:normAutofit/>
          </a:bodyPr>
          <a:lstStyle/>
          <a:p>
            <a:pPr marL="0" indent="0">
              <a:buNone/>
            </a:pPr>
            <a:r>
              <a:rPr lang="en-US" sz="1400" b="1" dirty="0">
                <a:latin typeface="Times New Roman" pitchFamily="18" charset="0"/>
                <a:cs typeface="Times New Roman" pitchFamily="18" charset="0"/>
              </a:rPr>
              <a:t>bootstrap</a:t>
            </a:r>
            <a:r>
              <a:rPr lang="en-US" sz="1400" dirty="0">
                <a:latin typeface="Times New Roman" pitchFamily="18" charset="0"/>
                <a:cs typeface="Times New Roman" pitchFamily="18" charset="0"/>
              </a:rPr>
              <a:t> - The bootstrap directory contains the </a:t>
            </a:r>
            <a:r>
              <a:rPr lang="en-US" sz="1400" dirty="0" err="1">
                <a:latin typeface="Times New Roman" pitchFamily="18" charset="0"/>
                <a:cs typeface="Times New Roman" pitchFamily="18" charset="0"/>
              </a:rPr>
              <a:t>app.php</a:t>
            </a:r>
            <a:r>
              <a:rPr lang="en-US" sz="1400" dirty="0">
                <a:latin typeface="Times New Roman" pitchFamily="18" charset="0"/>
                <a:cs typeface="Times New Roman" pitchFamily="18" charset="0"/>
              </a:rPr>
              <a:t> file which bootstraps the framework.</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cache</a:t>
            </a:r>
            <a:r>
              <a:rPr lang="en-US" sz="1400" dirty="0">
                <a:latin typeface="Times New Roman" pitchFamily="18" charset="0"/>
                <a:cs typeface="Times New Roman" pitchFamily="18" charset="0"/>
              </a:rPr>
              <a:t> – The cache directory which contains framework generated files for performance optimization such as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the route and services cache files.</a:t>
            </a:r>
          </a:p>
        </p:txBody>
      </p:sp>
      <p:pic>
        <p:nvPicPr>
          <p:cNvPr id="5" name="Picture 4">
            <a:extLst>
              <a:ext uri="{FF2B5EF4-FFF2-40B4-BE49-F238E27FC236}">
                <a16:creationId xmlns:a16="http://schemas.microsoft.com/office/drawing/2014/main" id="{A59CF66A-3F69-4993-B749-A4C88751B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0" y="1962150"/>
            <a:ext cx="2796540" cy="2209800"/>
          </a:xfrm>
          <a:prstGeom prst="rect">
            <a:avLst/>
          </a:prstGeom>
        </p:spPr>
      </p:pic>
    </p:spTree>
    <p:extLst>
      <p:ext uri="{BB962C8B-B14F-4D97-AF65-F5344CB8AC3E}">
        <p14:creationId xmlns:p14="http://schemas.microsoft.com/office/powerpoint/2010/main" val="304979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config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8229600" cy="3886200"/>
          </a:xfrm>
        </p:spPr>
        <p:txBody>
          <a:bodyPr>
            <a:normAutofit/>
          </a:bodyPr>
          <a:lstStyle/>
          <a:p>
            <a:pPr marL="0" indent="0">
              <a:buNone/>
            </a:pPr>
            <a:r>
              <a:rPr lang="en-US" sz="1400" b="1" dirty="0">
                <a:latin typeface="Times New Roman" pitchFamily="18" charset="0"/>
                <a:cs typeface="Times New Roman" pitchFamily="18" charset="0"/>
              </a:rPr>
              <a:t>config</a:t>
            </a:r>
            <a:r>
              <a:rPr lang="en-US" sz="1400" dirty="0">
                <a:latin typeface="Times New Roman" pitchFamily="18" charset="0"/>
                <a:cs typeface="Times New Roman" pitchFamily="18" charset="0"/>
              </a:rPr>
              <a:t> - The config directory, as the name implies, contains all of your application's configuration files.</a:t>
            </a:r>
          </a:p>
        </p:txBody>
      </p:sp>
      <p:pic>
        <p:nvPicPr>
          <p:cNvPr id="6" name="Picture 5">
            <a:extLst>
              <a:ext uri="{FF2B5EF4-FFF2-40B4-BE49-F238E27FC236}">
                <a16:creationId xmlns:a16="http://schemas.microsoft.com/office/drawing/2014/main" id="{A98D5560-BAE5-479A-877B-2981E1DE2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257300"/>
            <a:ext cx="1563832" cy="3714750"/>
          </a:xfrm>
          <a:prstGeom prst="rect">
            <a:avLst/>
          </a:prstGeom>
        </p:spPr>
      </p:pic>
    </p:spTree>
    <p:extLst>
      <p:ext uri="{BB962C8B-B14F-4D97-AF65-F5344CB8AC3E}">
        <p14:creationId xmlns:p14="http://schemas.microsoft.com/office/powerpoint/2010/main" val="424735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database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8229600" cy="3886200"/>
          </a:xfrm>
        </p:spPr>
        <p:txBody>
          <a:bodyPr>
            <a:normAutofit/>
          </a:bodyPr>
          <a:lstStyle/>
          <a:p>
            <a:pPr marL="0" indent="0">
              <a:buNone/>
            </a:pPr>
            <a:r>
              <a:rPr lang="en-US" sz="1400" b="1" dirty="0">
                <a:latin typeface="Times New Roman" pitchFamily="18" charset="0"/>
                <a:cs typeface="Times New Roman" pitchFamily="18" charset="0"/>
              </a:rPr>
              <a:t>database</a:t>
            </a:r>
            <a:r>
              <a:rPr lang="en-US" sz="1400" dirty="0">
                <a:latin typeface="Times New Roman" pitchFamily="18" charset="0"/>
                <a:cs typeface="Times New Roman" pitchFamily="18" charset="0"/>
              </a:rPr>
              <a:t> – The database directory contains your database migrations, model factories, and seeds. If you wish, 	you may also use this directory to hold an SQLite database.</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factories</a:t>
            </a:r>
            <a:r>
              <a:rPr lang="en-US" sz="1400" dirty="0">
                <a:latin typeface="Times New Roman" pitchFamily="18" charset="0"/>
                <a:cs typeface="Times New Roman" pitchFamily="18" charset="0"/>
              </a:rPr>
              <a:t> – It contains model factories.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migrations</a:t>
            </a:r>
            <a:r>
              <a:rPr lang="en-US" sz="1400" dirty="0">
                <a:latin typeface="Times New Roman" pitchFamily="18" charset="0"/>
                <a:cs typeface="Times New Roman" pitchFamily="18" charset="0"/>
              </a:rPr>
              <a:t> – It contains migrations.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seeders</a:t>
            </a:r>
            <a:r>
              <a:rPr lang="en-US" sz="1400" dirty="0">
                <a:latin typeface="Times New Roman" pitchFamily="18" charset="0"/>
                <a:cs typeface="Times New Roman" pitchFamily="18" charset="0"/>
              </a:rPr>
              <a:t> – It contains seeds.</a:t>
            </a:r>
          </a:p>
        </p:txBody>
      </p:sp>
      <p:pic>
        <p:nvPicPr>
          <p:cNvPr id="5" name="Picture 4">
            <a:extLst>
              <a:ext uri="{FF2B5EF4-FFF2-40B4-BE49-F238E27FC236}">
                <a16:creationId xmlns:a16="http://schemas.microsoft.com/office/drawing/2014/main" id="{E139914C-76EC-42CF-B8E2-156E29B4A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574941"/>
            <a:ext cx="1973580" cy="2673209"/>
          </a:xfrm>
          <a:prstGeom prst="rect">
            <a:avLst/>
          </a:prstGeom>
        </p:spPr>
      </p:pic>
    </p:spTree>
    <p:extLst>
      <p:ext uri="{BB962C8B-B14F-4D97-AF65-F5344CB8AC3E}">
        <p14:creationId xmlns:p14="http://schemas.microsoft.com/office/powerpoint/2010/main" val="120432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public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6400800" cy="3886200"/>
          </a:xfrm>
        </p:spPr>
        <p:txBody>
          <a:bodyPr>
            <a:normAutofit/>
          </a:bodyPr>
          <a:lstStyle/>
          <a:p>
            <a:pPr marL="0" indent="0">
              <a:buNone/>
            </a:pPr>
            <a:r>
              <a:rPr lang="en-US" sz="1400" b="1" dirty="0">
                <a:latin typeface="Times New Roman" pitchFamily="18" charset="0"/>
                <a:cs typeface="Times New Roman" pitchFamily="18" charset="0"/>
              </a:rPr>
              <a:t>public</a:t>
            </a:r>
            <a:r>
              <a:rPr lang="en-US" sz="1400" dirty="0">
                <a:latin typeface="Times New Roman" pitchFamily="18" charset="0"/>
                <a:cs typeface="Times New Roman" pitchFamily="18" charset="0"/>
              </a:rPr>
              <a:t> - The public directory contains the </a:t>
            </a:r>
            <a:r>
              <a:rPr lang="en-US" sz="1400" dirty="0" err="1">
                <a:latin typeface="Times New Roman" pitchFamily="18" charset="0"/>
                <a:cs typeface="Times New Roman" pitchFamily="18" charset="0"/>
              </a:rPr>
              <a:t>index.php</a:t>
            </a:r>
            <a:r>
              <a:rPr lang="en-US" sz="1400" dirty="0">
                <a:latin typeface="Times New Roman" pitchFamily="18" charset="0"/>
                <a:cs typeface="Times New Roman" pitchFamily="18" charset="0"/>
              </a:rPr>
              <a:t> file, which is the entry point for all requests entering your application and configures  autoloading. This directory also houses your assets such as images, JavaScript, and CSS.</a:t>
            </a:r>
          </a:p>
        </p:txBody>
      </p:sp>
      <p:pic>
        <p:nvPicPr>
          <p:cNvPr id="5" name="Picture 4">
            <a:extLst>
              <a:ext uri="{FF2B5EF4-FFF2-40B4-BE49-F238E27FC236}">
                <a16:creationId xmlns:a16="http://schemas.microsoft.com/office/drawing/2014/main" id="{FF976CBF-36A1-4A56-9501-D964184EF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352193"/>
            <a:ext cx="1988820" cy="4244340"/>
          </a:xfrm>
          <a:prstGeom prst="rect">
            <a:avLst/>
          </a:prstGeom>
        </p:spPr>
      </p:pic>
    </p:spTree>
    <p:extLst>
      <p:ext uri="{BB962C8B-B14F-4D97-AF65-F5344CB8AC3E}">
        <p14:creationId xmlns:p14="http://schemas.microsoft.com/office/powerpoint/2010/main" val="320112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resources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8229600" cy="3886200"/>
          </a:xfrm>
        </p:spPr>
        <p:txBody>
          <a:bodyPr>
            <a:normAutofit/>
          </a:bodyPr>
          <a:lstStyle/>
          <a:p>
            <a:pPr marL="0" indent="0">
              <a:buNone/>
            </a:pPr>
            <a:r>
              <a:rPr lang="en-US" sz="1400" b="1" dirty="0">
                <a:latin typeface="Times New Roman" pitchFamily="18" charset="0"/>
                <a:cs typeface="Times New Roman" pitchFamily="18" charset="0"/>
              </a:rPr>
              <a:t>resources</a:t>
            </a:r>
            <a:r>
              <a:rPr lang="en-US" sz="1400" dirty="0">
                <a:latin typeface="Times New Roman" pitchFamily="18" charset="0"/>
                <a:cs typeface="Times New Roman" pitchFamily="18" charset="0"/>
              </a:rPr>
              <a:t> – The resources directory contains your views as well as your raw, un-compiled assets such as CSS or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JavaScript. </a:t>
            </a:r>
          </a:p>
          <a:p>
            <a:pPr marL="0" indent="0" defTabSz="230188">
              <a:buNone/>
            </a:pPr>
            <a:r>
              <a:rPr lang="en-US" sz="1400" dirty="0">
                <a:latin typeface="Times New Roman" pitchFamily="18" charset="0"/>
                <a:cs typeface="Times New Roman" pitchFamily="18" charset="0"/>
              </a:rPr>
              <a:t>	</a:t>
            </a:r>
            <a:r>
              <a:rPr lang="en-US" sz="1400" b="1" dirty="0" err="1">
                <a:latin typeface="Times New Roman" pitchFamily="18" charset="0"/>
                <a:cs typeface="Times New Roman" pitchFamily="18" charset="0"/>
              </a:rPr>
              <a:t>css</a:t>
            </a:r>
            <a:r>
              <a:rPr lang="en-US" sz="1400" dirty="0">
                <a:latin typeface="Times New Roman" pitchFamily="18" charset="0"/>
                <a:cs typeface="Times New Roman" pitchFamily="18" charset="0"/>
              </a:rPr>
              <a:t> – It contains </a:t>
            </a:r>
            <a:r>
              <a:rPr lang="en-US" sz="1400" dirty="0" err="1">
                <a:latin typeface="Times New Roman" pitchFamily="18" charset="0"/>
                <a:cs typeface="Times New Roman" pitchFamily="18" charset="0"/>
              </a:rPr>
              <a:t>css</a:t>
            </a:r>
            <a:r>
              <a:rPr lang="en-US" sz="1400" dirty="0">
                <a:latin typeface="Times New Roman" pitchFamily="18" charset="0"/>
                <a:cs typeface="Times New Roman" pitchFamily="18" charset="0"/>
              </a:rPr>
              <a:t>.</a:t>
            </a:r>
          </a:p>
          <a:p>
            <a:pPr marL="0" indent="0" defTabSz="230188">
              <a:buNone/>
            </a:pPr>
            <a:r>
              <a:rPr lang="en-US" sz="1400" dirty="0">
                <a:latin typeface="Times New Roman" pitchFamily="18" charset="0"/>
                <a:cs typeface="Times New Roman" pitchFamily="18" charset="0"/>
              </a:rPr>
              <a:t>	</a:t>
            </a:r>
            <a:r>
              <a:rPr lang="en-US" sz="1400" b="1" dirty="0" err="1">
                <a:latin typeface="Times New Roman" pitchFamily="18" charset="0"/>
                <a:cs typeface="Times New Roman" pitchFamily="18" charset="0"/>
              </a:rPr>
              <a:t>js</a:t>
            </a:r>
            <a:r>
              <a:rPr lang="en-US" sz="1400" dirty="0">
                <a:latin typeface="Times New Roman" pitchFamily="18" charset="0"/>
                <a:cs typeface="Times New Roman" pitchFamily="18" charset="0"/>
              </a:rPr>
              <a:t> – It contains </a:t>
            </a:r>
            <a:r>
              <a:rPr lang="en-US" sz="1400" dirty="0" err="1">
                <a:latin typeface="Times New Roman" pitchFamily="18" charset="0"/>
                <a:cs typeface="Times New Roman" pitchFamily="18" charset="0"/>
              </a:rPr>
              <a:t>js</a:t>
            </a:r>
            <a:r>
              <a:rPr lang="en-US" sz="1400" dirty="0">
                <a:latin typeface="Times New Roman" pitchFamily="18" charset="0"/>
                <a:cs typeface="Times New Roman" pitchFamily="18" charset="0"/>
              </a:rPr>
              <a:t>.</a:t>
            </a:r>
          </a:p>
          <a:p>
            <a:pPr marL="0" indent="0" defTabSz="230188">
              <a:buNone/>
            </a:pPr>
            <a:r>
              <a:rPr lang="en-US" sz="1400" dirty="0">
                <a:latin typeface="Times New Roman" pitchFamily="18" charset="0"/>
                <a:cs typeface="Times New Roman" pitchFamily="18" charset="0"/>
              </a:rPr>
              <a:t>	</a:t>
            </a:r>
            <a:r>
              <a:rPr lang="en-US" sz="1400" b="1" dirty="0" err="1">
                <a:latin typeface="Times New Roman" pitchFamily="18" charset="0"/>
                <a:cs typeface="Times New Roman" pitchFamily="18" charset="0"/>
              </a:rPr>
              <a:t>lang</a:t>
            </a:r>
            <a:r>
              <a:rPr lang="en-US" sz="1400" dirty="0">
                <a:latin typeface="Times New Roman" pitchFamily="18" charset="0"/>
                <a:cs typeface="Times New Roman" pitchFamily="18" charset="0"/>
              </a:rPr>
              <a:t> – It contains language files.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views</a:t>
            </a:r>
            <a:r>
              <a:rPr lang="en-US" sz="1400" dirty="0">
                <a:latin typeface="Times New Roman" pitchFamily="18" charset="0"/>
                <a:cs typeface="Times New Roman" pitchFamily="18" charset="0"/>
              </a:rPr>
              <a:t> – It contains all blade php files.</a:t>
            </a:r>
          </a:p>
          <a:p>
            <a:pPr marL="0" indent="0" defTabSz="230188">
              <a:buNone/>
            </a:pPr>
            <a:endParaRPr lang="en-US" sz="1400" dirty="0">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0747DF7E-172E-40E3-80D5-489E45D738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1219200"/>
            <a:ext cx="1946260" cy="3562350"/>
          </a:xfrm>
          <a:prstGeom prst="rect">
            <a:avLst/>
          </a:prstGeom>
        </p:spPr>
      </p:pic>
    </p:spTree>
    <p:extLst>
      <p:ext uri="{BB962C8B-B14F-4D97-AF65-F5344CB8AC3E}">
        <p14:creationId xmlns:p14="http://schemas.microsoft.com/office/powerpoint/2010/main" val="262594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routes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8229600" cy="3886200"/>
          </a:xfrm>
        </p:spPr>
        <p:txBody>
          <a:bodyPr>
            <a:normAutofit/>
          </a:bodyPr>
          <a:lstStyle/>
          <a:p>
            <a:pPr marL="0" indent="0">
              <a:buNone/>
            </a:pPr>
            <a:r>
              <a:rPr lang="en-US" sz="1400" dirty="0" err="1">
                <a:latin typeface="Times New Roman" pitchFamily="18" charset="0"/>
                <a:cs typeface="Times New Roman" pitchFamily="18" charset="0"/>
              </a:rPr>
              <a:t>api.php</a:t>
            </a:r>
            <a:r>
              <a:rPr lang="en-US" sz="1400" dirty="0">
                <a:latin typeface="Times New Roman" pitchFamily="18" charset="0"/>
                <a:cs typeface="Times New Roman" pitchFamily="18" charset="0"/>
              </a:rPr>
              <a:t> – The </a:t>
            </a:r>
            <a:r>
              <a:rPr lang="en-US" sz="1400" dirty="0" err="1">
                <a:latin typeface="Times New Roman" pitchFamily="18" charset="0"/>
                <a:cs typeface="Times New Roman" pitchFamily="18" charset="0"/>
              </a:rPr>
              <a:t>api.php</a:t>
            </a:r>
            <a:r>
              <a:rPr lang="en-US" sz="1400" dirty="0">
                <a:latin typeface="Times New Roman" pitchFamily="18" charset="0"/>
                <a:cs typeface="Times New Roman" pitchFamily="18" charset="0"/>
              </a:rPr>
              <a:t> file contains routes that the </a:t>
            </a:r>
            <a:r>
              <a:rPr lang="en-US" sz="1400" dirty="0" err="1">
                <a:latin typeface="Times New Roman" pitchFamily="18" charset="0"/>
                <a:cs typeface="Times New Roman" pitchFamily="18" charset="0"/>
              </a:rPr>
              <a:t>RouteServiceProvider</a:t>
            </a:r>
            <a:r>
              <a:rPr lang="en-US" sz="1400" dirty="0">
                <a:latin typeface="Times New Roman" pitchFamily="18" charset="0"/>
                <a:cs typeface="Times New Roman" pitchFamily="18" charset="0"/>
              </a:rPr>
              <a:t> places in the </a:t>
            </a:r>
            <a:r>
              <a:rPr lang="en-US" sz="1400" dirty="0" err="1">
                <a:latin typeface="Times New Roman" pitchFamily="18" charset="0"/>
                <a:cs typeface="Times New Roman" pitchFamily="18" charset="0"/>
              </a:rPr>
              <a:t>api</a:t>
            </a:r>
            <a:r>
              <a:rPr lang="en-US" sz="1400" dirty="0">
                <a:latin typeface="Times New Roman" pitchFamily="18" charset="0"/>
                <a:cs typeface="Times New Roman" pitchFamily="18" charset="0"/>
              </a:rPr>
              <a:t> middleware group, which provides rate limiting. These routes are intended to be stateless, so requests entering the application through these routes are intended to be authenticated via tokens and will not have access to session state.</a:t>
            </a:r>
          </a:p>
          <a:p>
            <a:pPr marL="0" indent="0">
              <a:buNone/>
            </a:pPr>
            <a:endParaRPr lang="en-US" sz="1400" dirty="0">
              <a:latin typeface="Times New Roman" pitchFamily="18" charset="0"/>
              <a:cs typeface="Times New Roman" pitchFamily="18" charset="0"/>
            </a:endParaRPr>
          </a:p>
          <a:p>
            <a:pPr marL="0" indent="0">
              <a:buNone/>
            </a:pPr>
            <a:r>
              <a:rPr lang="en-US" sz="1400" dirty="0" err="1">
                <a:latin typeface="Times New Roman" pitchFamily="18" charset="0"/>
                <a:cs typeface="Times New Roman" pitchFamily="18" charset="0"/>
              </a:rPr>
              <a:t>channels.php</a:t>
            </a:r>
            <a:r>
              <a:rPr lang="en-US" sz="1400" dirty="0">
                <a:latin typeface="Times New Roman" pitchFamily="18" charset="0"/>
                <a:cs typeface="Times New Roman" pitchFamily="18" charset="0"/>
              </a:rPr>
              <a:t> – The </a:t>
            </a:r>
            <a:r>
              <a:rPr lang="en-US" sz="1400" dirty="0" err="1">
                <a:latin typeface="Times New Roman" pitchFamily="18" charset="0"/>
                <a:cs typeface="Times New Roman" pitchFamily="18" charset="0"/>
              </a:rPr>
              <a:t>channels.php</a:t>
            </a:r>
            <a:r>
              <a:rPr lang="en-US" sz="1400" dirty="0">
                <a:latin typeface="Times New Roman" pitchFamily="18" charset="0"/>
                <a:cs typeface="Times New Roman" pitchFamily="18" charset="0"/>
              </a:rPr>
              <a:t> file is where you may register all of the event broadcasting channels that your application supports.</a:t>
            </a:r>
          </a:p>
          <a:p>
            <a:pPr marL="0" indent="0">
              <a:buNone/>
            </a:pPr>
            <a:endParaRPr lang="en-US" sz="1400" dirty="0">
              <a:latin typeface="Times New Roman" pitchFamily="18" charset="0"/>
              <a:cs typeface="Times New Roman" pitchFamily="18" charset="0"/>
            </a:endParaRPr>
          </a:p>
          <a:p>
            <a:pPr marL="0" indent="0">
              <a:buNone/>
            </a:pPr>
            <a:r>
              <a:rPr lang="en-US" sz="1400" dirty="0" err="1">
                <a:latin typeface="Times New Roman" pitchFamily="18" charset="0"/>
                <a:cs typeface="Times New Roman" pitchFamily="18" charset="0"/>
              </a:rPr>
              <a:t>console.php</a:t>
            </a:r>
            <a:r>
              <a:rPr lang="en-US" sz="1400" dirty="0">
                <a:latin typeface="Times New Roman" pitchFamily="18" charset="0"/>
                <a:cs typeface="Times New Roman" pitchFamily="18" charset="0"/>
              </a:rPr>
              <a:t> – The </a:t>
            </a:r>
            <a:r>
              <a:rPr lang="en-US" sz="1400" dirty="0" err="1">
                <a:latin typeface="Times New Roman" pitchFamily="18" charset="0"/>
                <a:cs typeface="Times New Roman" pitchFamily="18" charset="0"/>
              </a:rPr>
              <a:t>console.php</a:t>
            </a:r>
            <a:r>
              <a:rPr lang="en-US" sz="1400" dirty="0">
                <a:latin typeface="Times New Roman" pitchFamily="18" charset="0"/>
                <a:cs typeface="Times New Roman" pitchFamily="18" charset="0"/>
              </a:rPr>
              <a:t> file is where you may define all of your Closure based console commands. Each Closure is bound to a command instance allowing a simple approach to interacting with each command's IO methods. Even though this file does not define HTTP routes, it defines console based entry points (routes) into your application.</a:t>
            </a:r>
          </a:p>
          <a:p>
            <a:pPr marL="0" indent="0">
              <a:buNone/>
            </a:pPr>
            <a:endParaRPr lang="en-US" sz="1400" dirty="0">
              <a:latin typeface="Times New Roman" pitchFamily="18" charset="0"/>
              <a:cs typeface="Times New Roman" pitchFamily="18" charset="0"/>
            </a:endParaRPr>
          </a:p>
          <a:p>
            <a:pPr marL="0" indent="0">
              <a:buNone/>
            </a:pPr>
            <a:r>
              <a:rPr lang="en-US" sz="1400" dirty="0" err="1">
                <a:latin typeface="Times New Roman" pitchFamily="18" charset="0"/>
                <a:cs typeface="Times New Roman" pitchFamily="18" charset="0"/>
              </a:rPr>
              <a:t>web.php</a:t>
            </a:r>
            <a:r>
              <a:rPr lang="en-US" sz="1400" dirty="0">
                <a:latin typeface="Times New Roman" pitchFamily="18" charset="0"/>
                <a:cs typeface="Times New Roman" pitchFamily="18" charset="0"/>
              </a:rPr>
              <a:t> – The </a:t>
            </a:r>
            <a:r>
              <a:rPr lang="en-US" sz="1400" dirty="0" err="1">
                <a:latin typeface="Times New Roman" pitchFamily="18" charset="0"/>
                <a:cs typeface="Times New Roman" pitchFamily="18" charset="0"/>
              </a:rPr>
              <a:t>web.php</a:t>
            </a:r>
            <a:r>
              <a:rPr lang="en-US" sz="1400" dirty="0">
                <a:latin typeface="Times New Roman" pitchFamily="18" charset="0"/>
                <a:cs typeface="Times New Roman" pitchFamily="18" charset="0"/>
              </a:rPr>
              <a:t> file contains routes that the </a:t>
            </a:r>
            <a:r>
              <a:rPr lang="en-US" sz="1400" dirty="0" err="1">
                <a:latin typeface="Times New Roman" pitchFamily="18" charset="0"/>
                <a:cs typeface="Times New Roman" pitchFamily="18" charset="0"/>
              </a:rPr>
              <a:t>RouteServiceProvider</a:t>
            </a:r>
            <a:r>
              <a:rPr lang="en-US" sz="1400" dirty="0">
                <a:latin typeface="Times New Roman" pitchFamily="18" charset="0"/>
                <a:cs typeface="Times New Roman" pitchFamily="18" charset="0"/>
              </a:rPr>
              <a:t> places in the web middleware group, which provides session state, CSRF protection, and cookie encryption. If your application does not offer a stateless, RESTful API, all of your routes will most likely be defined in the </a:t>
            </a:r>
            <a:r>
              <a:rPr lang="en-US" sz="1400" dirty="0" err="1">
                <a:latin typeface="Times New Roman" pitchFamily="18" charset="0"/>
                <a:cs typeface="Times New Roman" pitchFamily="18" charset="0"/>
              </a:rPr>
              <a:t>web.php</a:t>
            </a:r>
            <a:r>
              <a:rPr lang="en-US" sz="1400" dirty="0">
                <a:latin typeface="Times New Roman" pitchFamily="18" charset="0"/>
                <a:cs typeface="Times New Roman" pitchFamily="18" charset="0"/>
              </a:rPr>
              <a:t> file.</a:t>
            </a:r>
          </a:p>
          <a:p>
            <a:pPr marL="0" indent="0">
              <a:buNone/>
            </a:pPr>
            <a:endParaRPr 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val="61463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storage Directory</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895350"/>
            <a:ext cx="8229600" cy="3886200"/>
          </a:xfrm>
        </p:spPr>
        <p:txBody>
          <a:bodyPr>
            <a:normAutofit/>
          </a:bodyPr>
          <a:lstStyle/>
          <a:p>
            <a:pPr marL="0" indent="0">
              <a:buNone/>
            </a:pPr>
            <a:r>
              <a:rPr lang="en-US" sz="1400" b="1" dirty="0">
                <a:latin typeface="Times New Roman" pitchFamily="18" charset="0"/>
                <a:cs typeface="Times New Roman" pitchFamily="18" charset="0"/>
              </a:rPr>
              <a:t>storage</a:t>
            </a:r>
            <a:r>
              <a:rPr lang="en-US" sz="1400" dirty="0">
                <a:latin typeface="Times New Roman" pitchFamily="18" charset="0"/>
                <a:cs typeface="Times New Roman" pitchFamily="18" charset="0"/>
              </a:rPr>
              <a:t> – The storage directory contains your compiled Blade templates, file based sessions, file caches, and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other files generated by the framework.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app</a:t>
            </a:r>
            <a:r>
              <a:rPr lang="en-US" sz="1400" dirty="0">
                <a:latin typeface="Times New Roman" pitchFamily="18" charset="0"/>
                <a:cs typeface="Times New Roman" pitchFamily="18" charset="0"/>
              </a:rPr>
              <a:t> – The app directory may be used to store any files generated by your application.</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public</a:t>
            </a:r>
            <a:r>
              <a:rPr lang="en-US" sz="1400" dirty="0">
                <a:latin typeface="Times New Roman" pitchFamily="18" charset="0"/>
                <a:cs typeface="Times New Roman" pitchFamily="18" charset="0"/>
              </a:rPr>
              <a:t> – The public directory may be used to store user-generated files, such as profile avatars, that 				should be publicly accessible. </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framework</a:t>
            </a:r>
            <a:r>
              <a:rPr lang="en-US" sz="1400" dirty="0">
                <a:latin typeface="Times New Roman" pitchFamily="18" charset="0"/>
                <a:cs typeface="Times New Roman" pitchFamily="18" charset="0"/>
              </a:rPr>
              <a:t> – The framework directory is used to store framework generated files and caches.</a:t>
            </a:r>
          </a:p>
          <a:p>
            <a:pPr marL="0" indent="0" defTabSz="230188">
              <a:buNone/>
            </a:pPr>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logs</a:t>
            </a:r>
            <a:r>
              <a:rPr lang="en-US" sz="1400" dirty="0">
                <a:latin typeface="Times New Roman" pitchFamily="18" charset="0"/>
                <a:cs typeface="Times New Roman" pitchFamily="18" charset="0"/>
              </a:rPr>
              <a:t> – The logs directory contains your application's log files.</a:t>
            </a:r>
          </a:p>
        </p:txBody>
      </p:sp>
      <p:pic>
        <p:nvPicPr>
          <p:cNvPr id="5" name="Picture 4">
            <a:extLst>
              <a:ext uri="{FF2B5EF4-FFF2-40B4-BE49-F238E27FC236}">
                <a16:creationId xmlns:a16="http://schemas.microsoft.com/office/drawing/2014/main" id="{3229DEB2-7B20-49F7-AAD9-D377F3F99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600" y="1885950"/>
            <a:ext cx="1478306" cy="2815590"/>
          </a:xfrm>
          <a:prstGeom prst="rect">
            <a:avLst/>
          </a:prstGeom>
        </p:spPr>
      </p:pic>
    </p:spTree>
    <p:extLst>
      <p:ext uri="{BB962C8B-B14F-4D97-AF65-F5344CB8AC3E}">
        <p14:creationId xmlns:p14="http://schemas.microsoft.com/office/powerpoint/2010/main" val="196168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pPr algn="l"/>
            <a:r>
              <a:rPr lang="en-US" sz="4000" b="1" u="sng" dirty="0">
                <a:latin typeface="Times New Roman" pitchFamily="18" charset="0"/>
                <a:cs typeface="Times New Roman" pitchFamily="18" charset="0"/>
              </a:rPr>
              <a:t>Directory Structure</a:t>
            </a:r>
            <a:endParaRPr lang="en-IN" sz="4000" b="1" u="sng"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649D3273-43CA-4E24-AFF1-4327F95AA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43211"/>
            <a:ext cx="1600200" cy="4907676"/>
          </a:xfrm>
          <a:prstGeom prst="rect">
            <a:avLst/>
          </a:prstGeom>
        </p:spPr>
      </p:pic>
    </p:spTree>
    <p:extLst>
      <p:ext uri="{BB962C8B-B14F-4D97-AF65-F5344CB8AC3E}">
        <p14:creationId xmlns:p14="http://schemas.microsoft.com/office/powerpoint/2010/main" val="5250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364</TotalTime>
  <Words>386</Words>
  <Application>Microsoft Office PowerPoint</Application>
  <PresentationFormat>On-screen Show (16:9)</PresentationFormat>
  <Paragraphs>55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Directory Structure</vt:lpstr>
      <vt:lpstr>Directory Structure</vt:lpstr>
      <vt:lpstr>app Directory</vt:lpstr>
      <vt:lpstr>bootstrap Directory</vt:lpstr>
      <vt:lpstr>config Directory</vt:lpstr>
      <vt:lpstr>database Directory</vt:lpstr>
      <vt:lpstr>public Directory</vt:lpstr>
      <vt:lpstr>resources Directory</vt:lpstr>
      <vt:lpstr>routes Directory</vt:lpstr>
      <vt:lpstr>storage Directory</vt:lpstr>
      <vt:lpstr>Directory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Directory Structure</dc:title>
  <dc:creator>RK</dc:creator>
  <cp:lastModifiedBy>RK</cp:lastModifiedBy>
  <cp:revision>81</cp:revision>
  <dcterms:created xsi:type="dcterms:W3CDTF">2006-08-16T00:00:00Z</dcterms:created>
  <dcterms:modified xsi:type="dcterms:W3CDTF">2020-11-26T15:02:54Z</dcterms:modified>
</cp:coreProperties>
</file>