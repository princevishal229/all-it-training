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7" r:id="rId3"/>
    <p:sldId id="279" r:id="rId4"/>
    <p:sldId id="27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4/7/2021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Seeding</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Laravel includes the ability to seed your database with test data using seed classes. All seed classes are stored in the database/seeders directory. </a:t>
            </a:r>
          </a:p>
          <a:p>
            <a:pPr marL="0" indent="0">
              <a:buNone/>
            </a:pPr>
            <a:r>
              <a:rPr lang="en-US" sz="2400" dirty="0">
                <a:latin typeface="Times New Roman" panose="02020603050405020304" pitchFamily="18" charset="0"/>
                <a:cs typeface="Times New Roman" panose="02020603050405020304" pitchFamily="18" charset="0"/>
              </a:rPr>
              <a:t>By default, a </a:t>
            </a:r>
            <a:r>
              <a:rPr lang="en-US" sz="2400" dirty="0" err="1">
                <a:latin typeface="Times New Roman" panose="02020603050405020304" pitchFamily="18" charset="0"/>
                <a:cs typeface="Times New Roman" panose="02020603050405020304" pitchFamily="18" charset="0"/>
              </a:rPr>
              <a:t>DatabaseSeeder</a:t>
            </a:r>
            <a:r>
              <a:rPr lang="en-US" sz="2400" dirty="0">
                <a:latin typeface="Times New Roman" panose="02020603050405020304" pitchFamily="18" charset="0"/>
                <a:cs typeface="Times New Roman" panose="02020603050405020304" pitchFamily="18" charset="0"/>
              </a:rPr>
              <a:t> class is defined. </a:t>
            </a:r>
          </a:p>
          <a:p>
            <a:pPr marL="0" indent="0">
              <a:buNone/>
            </a:pPr>
            <a:r>
              <a:rPr lang="en-US" sz="2400" dirty="0">
                <a:latin typeface="Times New Roman" panose="02020603050405020304" pitchFamily="18" charset="0"/>
                <a:cs typeface="Times New Roman" panose="02020603050405020304" pitchFamily="18" charset="0"/>
              </a:rPr>
              <a:t>From this class, you may use the call method to run other seed classes, allowing you to control the seeding order.</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Writing Seeding</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generate a seeder, execute the </a:t>
            </a:r>
            <a:r>
              <a:rPr lang="en-US" sz="2400" dirty="0" err="1">
                <a:latin typeface="Times New Roman" panose="02020603050405020304" pitchFamily="18" charset="0"/>
                <a:cs typeface="Times New Roman" panose="02020603050405020304" pitchFamily="18" charset="0"/>
              </a:rPr>
              <a:t>make:seeder</a:t>
            </a:r>
            <a:r>
              <a:rPr lang="en-US" sz="2400" dirty="0">
                <a:latin typeface="Times New Roman" panose="02020603050405020304" pitchFamily="18" charset="0"/>
                <a:cs typeface="Times New Roman" panose="02020603050405020304" pitchFamily="18" charset="0"/>
              </a:rPr>
              <a:t> Artisan command. All seeders generated by the framework will be placed in the database/seeders directory.</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make:seeder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StudentSeeder</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cs typeface="Times New Roman" panose="02020603050405020304" pitchFamily="18" charset="0"/>
              </a:rPr>
              <a:t>&lt;?php</a:t>
            </a:r>
          </a:p>
          <a:p>
            <a:pPr marL="0" indent="0">
              <a:buNone/>
            </a:pPr>
            <a:r>
              <a:rPr lang="en-US" sz="2400" dirty="0">
                <a:cs typeface="Times New Roman" panose="02020603050405020304" pitchFamily="18" charset="0"/>
              </a:rPr>
              <a:t>namespace Database\Seeders;</a:t>
            </a:r>
          </a:p>
          <a:p>
            <a:pPr marL="0" indent="0">
              <a:buNone/>
            </a:pPr>
            <a:r>
              <a:rPr lang="en-US" sz="2400" dirty="0">
                <a:cs typeface="Times New Roman" panose="02020603050405020304" pitchFamily="18" charset="0"/>
              </a:rPr>
              <a:t>use Illuminate\Database\Seeder;</a:t>
            </a:r>
          </a:p>
          <a:p>
            <a:pPr marL="0" indent="0">
              <a:buNone/>
            </a:pPr>
            <a:r>
              <a:rPr lang="en-US" sz="2400" dirty="0">
                <a:cs typeface="Times New Roman" panose="02020603050405020304" pitchFamily="18" charset="0"/>
              </a:rPr>
              <a:t>class </a:t>
            </a:r>
            <a:r>
              <a:rPr lang="en-US" sz="2400" dirty="0" err="1">
                <a:cs typeface="Times New Roman" panose="02020603050405020304" pitchFamily="18" charset="0"/>
              </a:rPr>
              <a:t>StudentSeeder</a:t>
            </a:r>
            <a:r>
              <a:rPr lang="en-US" sz="2400" dirty="0">
                <a:cs typeface="Times New Roman" panose="02020603050405020304" pitchFamily="18" charset="0"/>
              </a:rPr>
              <a:t> extends Seeder{</a:t>
            </a:r>
          </a:p>
          <a:p>
            <a:pPr marL="0" indent="0">
              <a:buNone/>
            </a:pPr>
            <a:r>
              <a:rPr lang="en-US" sz="2400" dirty="0">
                <a:cs typeface="Times New Roman" panose="02020603050405020304" pitchFamily="18" charset="0"/>
              </a:rPr>
              <a:t>    public function run()</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p:txBody>
      </p:sp>
      <p:sp>
        <p:nvSpPr>
          <p:cNvPr id="4" name="Rectangle 3">
            <a:extLst>
              <a:ext uri="{FF2B5EF4-FFF2-40B4-BE49-F238E27FC236}">
                <a16:creationId xmlns:a16="http://schemas.microsoft.com/office/drawing/2014/main" id="{EEB4E6C6-0942-4484-A73D-DE1BB932B7DA}"/>
              </a:ext>
            </a:extLst>
          </p:cNvPr>
          <p:cNvSpPr/>
          <p:nvPr/>
        </p:nvSpPr>
        <p:spPr>
          <a:xfrm>
            <a:off x="5486400" y="4734034"/>
            <a:ext cx="6096000" cy="1015663"/>
          </a:xfrm>
          <a:prstGeom prst="rect">
            <a:avLst/>
          </a:prstGeom>
          <a:ln w="28575">
            <a:solidFill>
              <a:srgbClr val="FFFF00"/>
            </a:solidFill>
          </a:ln>
        </p:spPr>
        <p:txBody>
          <a:bodyPr>
            <a:spAutoFit/>
          </a:bodyPr>
          <a:lstStyle/>
          <a:p>
            <a:r>
              <a:rPr lang="en-US" sz="2000" dirty="0">
                <a:latin typeface="Times New Roman" panose="02020603050405020304" pitchFamily="18" charset="0"/>
                <a:cs typeface="Times New Roman" panose="02020603050405020304" pitchFamily="18" charset="0"/>
              </a:rPr>
              <a:t>The run method is called when the </a:t>
            </a:r>
            <a:r>
              <a:rPr lang="en-US" sz="2000" dirty="0" err="1">
                <a:latin typeface="Times New Roman" panose="02020603050405020304" pitchFamily="18" charset="0"/>
                <a:cs typeface="Times New Roman" panose="02020603050405020304" pitchFamily="18" charset="0"/>
              </a:rPr>
              <a:t>db:seed</a:t>
            </a:r>
            <a:r>
              <a:rPr lang="en-US" sz="2000" dirty="0">
                <a:latin typeface="Times New Roman" panose="02020603050405020304" pitchFamily="18" charset="0"/>
                <a:cs typeface="Times New Roman" panose="02020603050405020304" pitchFamily="18" charset="0"/>
              </a:rPr>
              <a:t> Artisan command is executed. Within the run method, you may insert data into your database however you wish. </a:t>
            </a:r>
          </a:p>
        </p:txBody>
      </p:sp>
      <p:cxnSp>
        <p:nvCxnSpPr>
          <p:cNvPr id="6" name="Straight Arrow Connector 5">
            <a:extLst>
              <a:ext uri="{FF2B5EF4-FFF2-40B4-BE49-F238E27FC236}">
                <a16:creationId xmlns:a16="http://schemas.microsoft.com/office/drawing/2014/main" id="{A2029668-F81F-4039-8A6A-EA473D14CC99}"/>
              </a:ext>
            </a:extLst>
          </p:cNvPr>
          <p:cNvCxnSpPr>
            <a:stCxn id="4" idx="1"/>
          </p:cNvCxnSpPr>
          <p:nvPr/>
        </p:nvCxnSpPr>
        <p:spPr>
          <a:xfrm flipH="1" flipV="1">
            <a:off x="3731491" y="4618182"/>
            <a:ext cx="1754909" cy="623684"/>
          </a:xfrm>
          <a:prstGeom prst="straightConnector1">
            <a:avLst/>
          </a:prstGeom>
          <a:ln w="28575">
            <a:solidFill>
              <a:srgbClr val="FFFF00"/>
            </a:solidFill>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16147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par>
                                <p:cTn id="58" presetID="10" presetClass="entr" presetSubtype="0" fill="hold"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Calling Seeders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Within the </a:t>
            </a:r>
            <a:r>
              <a:rPr lang="en-US" sz="2400" dirty="0" err="1">
                <a:latin typeface="Times New Roman" panose="02020603050405020304" pitchFamily="18" charset="0"/>
                <a:cs typeface="Times New Roman" panose="02020603050405020304" pitchFamily="18" charset="0"/>
              </a:rPr>
              <a:t>DatabaseSeeder</a:t>
            </a:r>
            <a:r>
              <a:rPr lang="en-US" sz="2400" dirty="0">
                <a:latin typeface="Times New Roman" panose="02020603050405020304" pitchFamily="18" charset="0"/>
                <a:cs typeface="Times New Roman" panose="02020603050405020304" pitchFamily="18" charset="0"/>
              </a:rPr>
              <a:t> class, you may use the call method to execute additional seed classes. Using the call method allows you to break up your database seeding into multiple files so that no single seeder class becomes too large. The call method accepts an array of seeder classes that should be executed.</a:t>
            </a:r>
          </a:p>
          <a:p>
            <a:pPr marL="0" indent="0">
              <a:buNone/>
            </a:pPr>
            <a:r>
              <a:rPr lang="en-US" sz="2400" dirty="0">
                <a:cs typeface="Times New Roman" panose="02020603050405020304" pitchFamily="18" charset="0"/>
              </a:rPr>
              <a:t>public function run()</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$this-&gt;call([</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StudentSeeder</a:t>
            </a:r>
            <a:r>
              <a:rPr lang="en-US" sz="2400" dirty="0">
                <a:cs typeface="Times New Roman" panose="02020603050405020304" pitchFamily="18" charset="0"/>
              </a:rPr>
              <a:t>::class,</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PostSeeder</a:t>
            </a:r>
            <a:r>
              <a:rPr lang="en-US" sz="2400" dirty="0">
                <a:cs typeface="Times New Roman" panose="02020603050405020304" pitchFamily="18" charset="0"/>
              </a:rPr>
              <a:t>::class,</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CommentSeeder</a:t>
            </a:r>
            <a:r>
              <a:rPr lang="en-US" sz="2400" dirty="0">
                <a:cs typeface="Times New Roman" panose="02020603050405020304" pitchFamily="18" charset="0"/>
              </a:rPr>
              <a:t>::class,</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1856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Running Seed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execute the </a:t>
            </a:r>
            <a:r>
              <a:rPr lang="en-US" sz="2400" dirty="0" err="1">
                <a:latin typeface="Times New Roman" panose="02020603050405020304" pitchFamily="18" charset="0"/>
                <a:cs typeface="Times New Roman" panose="02020603050405020304" pitchFamily="18" charset="0"/>
              </a:rPr>
              <a:t>db:seed</a:t>
            </a:r>
            <a:r>
              <a:rPr lang="en-US" sz="2400" dirty="0">
                <a:latin typeface="Times New Roman" panose="02020603050405020304" pitchFamily="18" charset="0"/>
                <a:cs typeface="Times New Roman" panose="02020603050405020304" pitchFamily="18" charset="0"/>
              </a:rPr>
              <a:t> Artisan command to seed your database. By default, the </a:t>
            </a:r>
            <a:r>
              <a:rPr lang="en-US" sz="2400" dirty="0" err="1">
                <a:latin typeface="Times New Roman" panose="02020603050405020304" pitchFamily="18" charset="0"/>
                <a:cs typeface="Times New Roman" panose="02020603050405020304" pitchFamily="18" charset="0"/>
              </a:rPr>
              <a:t>db:seed</a:t>
            </a:r>
            <a:r>
              <a:rPr lang="en-US" sz="2400" dirty="0">
                <a:latin typeface="Times New Roman" panose="02020603050405020304" pitchFamily="18" charset="0"/>
                <a:cs typeface="Times New Roman" panose="02020603050405020304" pitchFamily="18" charset="0"/>
              </a:rPr>
              <a:t> command runs the Database\Seeders\</a:t>
            </a:r>
            <a:r>
              <a:rPr lang="en-US" sz="2400" dirty="0" err="1">
                <a:latin typeface="Times New Roman" panose="02020603050405020304" pitchFamily="18" charset="0"/>
                <a:cs typeface="Times New Roman" panose="02020603050405020304" pitchFamily="18" charset="0"/>
              </a:rPr>
              <a:t>DatabaseSeeder</a:t>
            </a:r>
            <a:r>
              <a:rPr lang="en-US" sz="2400" dirty="0">
                <a:latin typeface="Times New Roman" panose="02020603050405020304" pitchFamily="18" charset="0"/>
                <a:cs typeface="Times New Roman" panose="02020603050405020304" pitchFamily="18" charset="0"/>
              </a:rPr>
              <a:t> class, which may in turn invoke other seed classes. </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db:seed</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However, you may use the --class option to specify a specific seeder class to run individually.</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db:seed</a:t>
            </a:r>
            <a:r>
              <a:rPr lang="en-US" sz="2400" dirty="0">
                <a:latin typeface="Times New Roman" panose="02020603050405020304" pitchFamily="18" charset="0"/>
                <a:cs typeface="Times New Roman" panose="02020603050405020304" pitchFamily="18" charset="0"/>
              </a:rPr>
              <a:t> --class=</a:t>
            </a:r>
            <a:r>
              <a:rPr lang="en-US" sz="2400" dirty="0" err="1">
                <a:latin typeface="Times New Roman" panose="02020603050405020304" pitchFamily="18" charset="0"/>
                <a:cs typeface="Times New Roman" panose="02020603050405020304" pitchFamily="18" charset="0"/>
              </a:rPr>
              <a:t>StudentSeeder</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also seed your database using the </a:t>
            </a:r>
            <a:r>
              <a:rPr lang="en-US" sz="2400" dirty="0" err="1">
                <a:latin typeface="Times New Roman" panose="02020603050405020304" pitchFamily="18" charset="0"/>
                <a:cs typeface="Times New Roman" panose="02020603050405020304" pitchFamily="18" charset="0"/>
              </a:rPr>
              <a:t>migrate:fresh</a:t>
            </a:r>
            <a:r>
              <a:rPr lang="en-US" sz="2400" dirty="0">
                <a:latin typeface="Times New Roman" panose="02020603050405020304" pitchFamily="18" charset="0"/>
                <a:cs typeface="Times New Roman" panose="02020603050405020304" pitchFamily="18" charset="0"/>
              </a:rPr>
              <a:t> command in combination with the --seed option, which will drop all tables and re-run all of your migrations. This command is useful for completely re-building your database:</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migrate:fresh</a:t>
            </a:r>
            <a:r>
              <a:rPr lang="en-US" sz="2400" dirty="0">
                <a:latin typeface="Times New Roman" panose="02020603050405020304" pitchFamily="18" charset="0"/>
                <a:cs typeface="Times New Roman" panose="02020603050405020304" pitchFamily="18" charset="0"/>
              </a:rPr>
              <a:t> --seed</a:t>
            </a:r>
          </a:p>
        </p:txBody>
      </p:sp>
    </p:spTree>
    <p:extLst>
      <p:ext uri="{BB962C8B-B14F-4D97-AF65-F5344CB8AC3E}">
        <p14:creationId xmlns:p14="http://schemas.microsoft.com/office/powerpoint/2010/main" val="111771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370</Words>
  <Application>Microsoft Office PowerPoint</Application>
  <PresentationFormat>Widescreen</PresentationFormat>
  <Paragraphs>35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Theme</vt:lpstr>
      <vt:lpstr>Seeding</vt:lpstr>
      <vt:lpstr>Writing Seeding</vt:lpstr>
      <vt:lpstr>Calling Seeders</vt:lpstr>
      <vt:lpstr>Running Seed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77</cp:revision>
  <dcterms:created xsi:type="dcterms:W3CDTF">2020-01-16T07:28:28Z</dcterms:created>
  <dcterms:modified xsi:type="dcterms:W3CDTF">2021-04-07T06:16:11Z</dcterms:modified>
</cp:coreProperties>
</file>