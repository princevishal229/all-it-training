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8" r:id="rId3"/>
    <p:sldId id="279" r:id="rId4"/>
    <p:sldId id="280" r:id="rId5"/>
    <p:sldId id="281" r:id="rId6"/>
    <p:sldId id="282" r:id="rId7"/>
    <p:sldId id="283" r:id="rId8"/>
    <p:sldId id="284" r:id="rId9"/>
    <p:sldId id="285" r:id="rId10"/>
    <p:sldId id="286" r:id="rId11"/>
    <p:sldId id="287"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3/26/2021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Components are a reusable group of elements. This let us build large applications which are made up of reusable, independent and decoupled components.</a:t>
            </a:r>
          </a:p>
          <a:p>
            <a:pPr marL="0" indent="0">
              <a:buNone/>
            </a:pPr>
            <a:r>
              <a:rPr lang="en-US" sz="2400" dirty="0">
                <a:latin typeface="Times New Roman" panose="02020603050405020304" pitchFamily="18" charset="0"/>
                <a:cs typeface="Times New Roman" panose="02020603050405020304" pitchFamily="18" charset="0"/>
              </a:rPr>
              <a:t>There are two approaches to writing components:-</a:t>
            </a:r>
          </a:p>
          <a:p>
            <a:r>
              <a:rPr lang="en-US" sz="2400" dirty="0">
                <a:latin typeface="Times New Roman" panose="02020603050405020304" pitchFamily="18" charset="0"/>
                <a:cs typeface="Times New Roman" panose="02020603050405020304" pitchFamily="18" charset="0"/>
              </a:rPr>
              <a:t>Class Based Components</a:t>
            </a:r>
          </a:p>
          <a:p>
            <a:r>
              <a:rPr lang="en-US" sz="2400" dirty="0">
                <a:latin typeface="Times New Roman" panose="02020603050405020304" pitchFamily="18" charset="0"/>
                <a:cs typeface="Times New Roman" panose="02020603050405020304" pitchFamily="18" charset="0"/>
              </a:rPr>
              <a:t>Anonymous Components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Class Based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To create a class based component, you may use the </a:t>
            </a:r>
            <a:r>
              <a:rPr lang="en-US" dirty="0" err="1">
                <a:latin typeface="Times New Roman" panose="02020603050405020304" pitchFamily="18" charset="0"/>
                <a:cs typeface="Times New Roman" panose="02020603050405020304" pitchFamily="18" charset="0"/>
              </a:rPr>
              <a:t>make:component</a:t>
            </a:r>
            <a:r>
              <a:rPr lang="en-US" dirty="0">
                <a:latin typeface="Times New Roman" panose="02020603050405020304" pitchFamily="18" charset="0"/>
                <a:cs typeface="Times New Roman" panose="02020603050405020304" pitchFamily="18" charset="0"/>
              </a:rPr>
              <a:t> Artisan command. </a:t>
            </a:r>
          </a:p>
          <a:p>
            <a:pPr marL="0" indent="0">
              <a:buNone/>
            </a:pPr>
            <a:r>
              <a:rPr lang="en-US" dirty="0">
                <a:solidFill>
                  <a:srgbClr val="FFFF00"/>
                </a:solidFill>
                <a:latin typeface="Times New Roman" panose="02020603050405020304" pitchFamily="18" charset="0"/>
                <a:cs typeface="Times New Roman" panose="02020603050405020304" pitchFamily="18" charset="0"/>
              </a:rPr>
              <a:t>php artisan </a:t>
            </a:r>
            <a:r>
              <a:rPr lang="en-US" dirty="0" err="1">
                <a:solidFill>
                  <a:srgbClr val="FFFF00"/>
                </a:solidFill>
                <a:latin typeface="Times New Roman" panose="02020603050405020304" pitchFamily="18" charset="0"/>
                <a:cs typeface="Times New Roman" panose="02020603050405020304" pitchFamily="18" charset="0"/>
              </a:rPr>
              <a:t>make:component</a:t>
            </a:r>
            <a:r>
              <a:rPr lang="en-US" dirty="0">
                <a:solidFill>
                  <a:srgbClr val="FFFF00"/>
                </a:solidFill>
                <a:latin typeface="Times New Roman" panose="02020603050405020304" pitchFamily="18" charset="0"/>
                <a:cs typeface="Times New Roman" panose="02020603050405020304" pitchFamily="18" charset="0"/>
              </a:rPr>
              <a:t> </a:t>
            </a:r>
            <a:r>
              <a:rPr lang="en-US" dirty="0" err="1">
                <a:solidFill>
                  <a:srgbClr val="FFFF00"/>
                </a:solidFill>
                <a:latin typeface="Times New Roman" panose="02020603050405020304" pitchFamily="18" charset="0"/>
                <a:cs typeface="Times New Roman" panose="02020603050405020304" pitchFamily="18" charset="0"/>
              </a:rPr>
              <a:t>Component_name</a:t>
            </a:r>
            <a:endParaRPr lang="en-US" dirty="0">
              <a:solidFill>
                <a:srgbClr val="FFFF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make:component</a:t>
            </a:r>
            <a:r>
              <a:rPr lang="en-US" dirty="0">
                <a:latin typeface="Times New Roman" panose="02020603050405020304" pitchFamily="18" charset="0"/>
                <a:cs typeface="Times New Roman" panose="02020603050405020304" pitchFamily="18" charset="0"/>
              </a:rPr>
              <a:t> command will place the component in the App\View\Components directory.</a:t>
            </a:r>
          </a:p>
          <a:p>
            <a:pPr marL="0" indent="0">
              <a:buNone/>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make:component</a:t>
            </a:r>
            <a:r>
              <a:rPr lang="en-US" dirty="0">
                <a:latin typeface="Times New Roman" panose="02020603050405020304" pitchFamily="18" charset="0"/>
                <a:cs typeface="Times New Roman" panose="02020603050405020304" pitchFamily="18" charset="0"/>
              </a:rPr>
              <a:t> command will also create a view template for the component. The view will be placed in the resources/views/components directory. </a:t>
            </a:r>
          </a:p>
          <a:p>
            <a:pPr marL="0" indent="0">
              <a:buNone/>
            </a:pPr>
            <a:r>
              <a:rPr lang="en-US" dirty="0">
                <a:latin typeface="Times New Roman" panose="02020603050405020304" pitchFamily="18" charset="0"/>
                <a:cs typeface="Times New Roman" panose="02020603050405020304" pitchFamily="18" charset="0"/>
              </a:rPr>
              <a:t>You may also create components within subdirectories:</a:t>
            </a:r>
          </a:p>
          <a:p>
            <a:pPr marL="0" indent="0">
              <a:buNone/>
            </a:pPr>
            <a:r>
              <a:rPr lang="en-US" dirty="0">
                <a:latin typeface="Times New Roman" panose="02020603050405020304" pitchFamily="18" charset="0"/>
                <a:cs typeface="Times New Roman" panose="02020603050405020304" pitchFamily="18" charset="0"/>
              </a:rPr>
              <a:t>php artisan </a:t>
            </a:r>
            <a:r>
              <a:rPr lang="en-US" dirty="0" err="1">
                <a:latin typeface="Times New Roman" panose="02020603050405020304" pitchFamily="18" charset="0"/>
                <a:cs typeface="Times New Roman" panose="02020603050405020304" pitchFamily="18" charset="0"/>
              </a:rPr>
              <a:t>make:component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DirectoryName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Component_name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15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Rendering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display a component, you may use a Blade component tag within one of your Blade templates. Blade component tags start with the string x- followed by the kebab case name of the component class.</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a:cs typeface="Times New Roman" panose="02020603050405020304" pitchFamily="18" charset="0"/>
              </a:rPr>
              <a:t>&lt;x-component-name/&gt;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&lt;x-card/&gt;</a:t>
            </a:r>
          </a:p>
          <a:p>
            <a:pPr marL="0" indent="0">
              <a:buNone/>
            </a:pPr>
            <a:r>
              <a:rPr lang="en-US" sz="2400" dirty="0">
                <a:cs typeface="Times New Roman" panose="02020603050405020304" pitchFamily="18" charset="0"/>
              </a:rPr>
              <a:t>&lt;x-user-profile/&gt;</a:t>
            </a:r>
          </a:p>
        </p:txBody>
      </p:sp>
    </p:spTree>
    <p:extLst>
      <p:ext uri="{BB962C8B-B14F-4D97-AF65-F5344CB8AC3E}">
        <p14:creationId xmlns:p14="http://schemas.microsoft.com/office/powerpoint/2010/main" val="303584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Rendering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the component class is nested deeper within the App\View\Components directory, you may use the . character to indicate directory nesting. </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a:cs typeface="Times New Roman" panose="02020603050405020304" pitchFamily="18" charset="0"/>
              </a:rPr>
              <a:t>&lt;x-</a:t>
            </a:r>
            <a:r>
              <a:rPr lang="en-US" sz="2400" dirty="0" err="1">
                <a:cs typeface="Times New Roman" panose="02020603050405020304" pitchFamily="18" charset="0"/>
              </a:rPr>
              <a:t>directory.component</a:t>
            </a:r>
            <a:r>
              <a:rPr lang="en-US" sz="2400" dirty="0">
                <a:cs typeface="Times New Roman" panose="02020603050405020304" pitchFamily="18" charset="0"/>
              </a:rPr>
              <a:t>-name/&gt;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cs typeface="Times New Roman" panose="02020603050405020304" pitchFamily="18" charset="0"/>
              </a:rPr>
              <a:t>&lt;x-</a:t>
            </a:r>
            <a:r>
              <a:rPr lang="en-US" sz="2400" dirty="0" err="1">
                <a:cs typeface="Times New Roman" panose="02020603050405020304" pitchFamily="18" charset="0"/>
              </a:rPr>
              <a:t>include.header</a:t>
            </a:r>
            <a:r>
              <a:rPr lang="en-US" sz="2400" dirty="0">
                <a:cs typeface="Times New Roman" panose="02020603050405020304" pitchFamily="18" charset="0"/>
              </a:rPr>
              <a:t>/&gt;</a:t>
            </a:r>
          </a:p>
        </p:txBody>
      </p:sp>
    </p:spTree>
    <p:extLst>
      <p:ext uri="{BB962C8B-B14F-4D97-AF65-F5344CB8AC3E}">
        <p14:creationId xmlns:p14="http://schemas.microsoft.com/office/powerpoint/2010/main" val="258265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Passing Data to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may pass data to Blade components using HTML attributes. </a:t>
            </a:r>
          </a:p>
          <a:p>
            <a:pPr marL="0" indent="0">
              <a:buNone/>
            </a:pPr>
            <a:r>
              <a:rPr lang="en-US" sz="2400" dirty="0">
                <a:latin typeface="Times New Roman" panose="02020603050405020304" pitchFamily="18" charset="0"/>
                <a:cs typeface="Times New Roman" panose="02020603050405020304" pitchFamily="18" charset="0"/>
              </a:rPr>
              <a:t>Hard-coded, primitive values may be passed to the component using simple HTML attribute strings. </a:t>
            </a:r>
          </a:p>
          <a:p>
            <a:pPr marL="0" indent="0">
              <a:buNone/>
            </a:pPr>
            <a:r>
              <a:rPr lang="en-US" sz="2400" dirty="0">
                <a:latin typeface="Times New Roman" panose="02020603050405020304" pitchFamily="18" charset="0"/>
                <a:cs typeface="Times New Roman" panose="02020603050405020304" pitchFamily="18" charset="0"/>
              </a:rPr>
              <a:t>PHP expressions and variables should be passed to the component via attributes that use the : character as a prefix.</a:t>
            </a:r>
          </a:p>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da-DK" sz="2400" dirty="0">
                <a:cs typeface="Times New Roman" panose="02020603050405020304" pitchFamily="18" charset="0"/>
              </a:rPr>
              <a:t>&lt;x-card title= ”Card Title”  :description=$desc /&gt;</a:t>
            </a:r>
          </a:p>
          <a:p>
            <a:pPr marL="0" indent="0">
              <a:buNone/>
            </a:pPr>
            <a:endParaRPr lang="da-DK" sz="2400" dirty="0">
              <a:latin typeface="Times New Roman" panose="02020603050405020304" pitchFamily="18" charset="0"/>
              <a:cs typeface="Times New Roman" panose="02020603050405020304" pitchFamily="18" charset="0"/>
            </a:endParaRPr>
          </a:p>
          <a:p>
            <a:pPr marL="0" indent="0">
              <a:buNone/>
            </a:pPr>
            <a:r>
              <a:rPr lang="da-DK"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097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Defining Data in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6059055" cy="5175069"/>
          </a:xfrm>
        </p:spPr>
        <p:txBody>
          <a:bodyPr>
            <a:noAutofit/>
          </a:bodyPr>
          <a:lstStyle/>
          <a:p>
            <a:pPr marL="0" indent="0">
              <a:buNone/>
            </a:pPr>
            <a:r>
              <a:rPr lang="da-DK" sz="2000" dirty="0">
                <a:cs typeface="Times New Roman" panose="02020603050405020304" pitchFamily="18" charset="0"/>
              </a:rPr>
              <a:t> &lt;?php</a:t>
            </a:r>
          </a:p>
          <a:p>
            <a:pPr marL="0" indent="0">
              <a:buNone/>
            </a:pPr>
            <a:r>
              <a:rPr lang="da-DK" sz="2000" dirty="0">
                <a:cs typeface="Times New Roman" panose="02020603050405020304" pitchFamily="18" charset="0"/>
              </a:rPr>
              <a:t>namespace App\View\Components;</a:t>
            </a:r>
          </a:p>
          <a:p>
            <a:pPr marL="0" indent="0">
              <a:buNone/>
            </a:pPr>
            <a:r>
              <a:rPr lang="da-DK" sz="2000" dirty="0">
                <a:cs typeface="Times New Roman" panose="02020603050405020304" pitchFamily="18" charset="0"/>
              </a:rPr>
              <a:t>use Illuminate\View\Component;</a:t>
            </a:r>
          </a:p>
          <a:p>
            <a:pPr marL="0" indent="0">
              <a:buNone/>
            </a:pPr>
            <a:r>
              <a:rPr lang="da-DK" sz="2000" dirty="0">
                <a:cs typeface="Times New Roman" panose="02020603050405020304" pitchFamily="18" charset="0"/>
              </a:rPr>
              <a:t>class Card extends Component {</a:t>
            </a:r>
          </a:p>
          <a:p>
            <a:pPr marL="0" indent="0">
              <a:buNone/>
            </a:pPr>
            <a:r>
              <a:rPr lang="da-DK" sz="2000" dirty="0">
                <a:cs typeface="Times New Roman" panose="02020603050405020304" pitchFamily="18" charset="0"/>
              </a:rPr>
              <a:t>    public $title;</a:t>
            </a:r>
          </a:p>
          <a:p>
            <a:pPr marL="0" indent="0">
              <a:buNone/>
            </a:pPr>
            <a:r>
              <a:rPr lang="da-DK" sz="2000" dirty="0">
                <a:cs typeface="Times New Roman" panose="02020603050405020304" pitchFamily="18" charset="0"/>
              </a:rPr>
              <a:t>    public $description;</a:t>
            </a:r>
          </a:p>
          <a:p>
            <a:pPr marL="0" indent="0">
              <a:buNone/>
            </a:pPr>
            <a:r>
              <a:rPr lang="da-DK" sz="2000" dirty="0">
                <a:cs typeface="Times New Roman" panose="02020603050405020304" pitchFamily="18" charset="0"/>
              </a:rPr>
              <a:t>    public function __construct($title, $description)   {</a:t>
            </a:r>
          </a:p>
          <a:p>
            <a:pPr marL="0" indent="0">
              <a:buNone/>
            </a:pPr>
            <a:r>
              <a:rPr lang="da-DK" sz="2000" dirty="0">
                <a:cs typeface="Times New Roman" panose="02020603050405020304" pitchFamily="18" charset="0"/>
              </a:rPr>
              <a:t>        $this-&gt;title = $title;</a:t>
            </a:r>
          </a:p>
          <a:p>
            <a:pPr marL="0" indent="0">
              <a:buNone/>
            </a:pPr>
            <a:r>
              <a:rPr lang="da-DK" sz="2000" dirty="0">
                <a:cs typeface="Times New Roman" panose="02020603050405020304" pitchFamily="18" charset="0"/>
              </a:rPr>
              <a:t>        $this-&gt;description = $description;</a:t>
            </a:r>
          </a:p>
          <a:p>
            <a:pPr marL="0" indent="0">
              <a:buNone/>
            </a:pPr>
            <a:r>
              <a:rPr lang="da-DK" sz="2000" dirty="0">
                <a:cs typeface="Times New Roman" panose="02020603050405020304" pitchFamily="18" charset="0"/>
              </a:rPr>
              <a:t>    }</a:t>
            </a:r>
          </a:p>
          <a:p>
            <a:pPr marL="0" indent="0">
              <a:buNone/>
            </a:pPr>
            <a:r>
              <a:rPr lang="da-DK" sz="2000" dirty="0">
                <a:cs typeface="Times New Roman" panose="02020603050405020304" pitchFamily="18" charset="0"/>
              </a:rPr>
              <a:t>    public function render()  {</a:t>
            </a:r>
          </a:p>
          <a:p>
            <a:pPr marL="0" indent="0">
              <a:buNone/>
            </a:pPr>
            <a:r>
              <a:rPr lang="da-DK" sz="2000" dirty="0">
                <a:cs typeface="Times New Roman" panose="02020603050405020304" pitchFamily="18" charset="0"/>
              </a:rPr>
              <a:t>        return view('components.card');</a:t>
            </a:r>
          </a:p>
          <a:p>
            <a:pPr marL="0" indent="0">
              <a:buNone/>
            </a:pPr>
            <a:r>
              <a:rPr lang="da-DK" sz="2000" dirty="0">
                <a:cs typeface="Times New Roman" panose="02020603050405020304" pitchFamily="18" charset="0"/>
              </a:rPr>
              <a:t>    }  }</a:t>
            </a:r>
            <a:endParaRPr lang="en-US" sz="2000" dirty="0">
              <a:cs typeface="Times New Roman" panose="02020603050405020304" pitchFamily="18" charset="0"/>
            </a:endParaRPr>
          </a:p>
        </p:txBody>
      </p:sp>
      <p:sp>
        <p:nvSpPr>
          <p:cNvPr id="4" name="Rectangle 3">
            <a:extLst>
              <a:ext uri="{FF2B5EF4-FFF2-40B4-BE49-F238E27FC236}">
                <a16:creationId xmlns:a16="http://schemas.microsoft.com/office/drawing/2014/main" id="{35D55438-3A3A-49E9-83CF-941140F46569}"/>
              </a:ext>
            </a:extLst>
          </p:cNvPr>
          <p:cNvSpPr/>
          <p:nvPr/>
        </p:nvSpPr>
        <p:spPr>
          <a:xfrm>
            <a:off x="6096000" y="2108261"/>
            <a:ext cx="3655401" cy="707886"/>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sz="2000" dirty="0"/>
              <a:t>Define the component's required data in its class constructor.</a:t>
            </a:r>
          </a:p>
        </p:txBody>
      </p:sp>
      <p:cxnSp>
        <p:nvCxnSpPr>
          <p:cNvPr id="6" name="Straight Arrow Connector 5">
            <a:extLst>
              <a:ext uri="{FF2B5EF4-FFF2-40B4-BE49-F238E27FC236}">
                <a16:creationId xmlns:a16="http://schemas.microsoft.com/office/drawing/2014/main" id="{60CB4FBE-DF3F-440A-A85B-31FBF3383DE2}"/>
              </a:ext>
            </a:extLst>
          </p:cNvPr>
          <p:cNvCxnSpPr>
            <a:cxnSpLocks/>
            <a:stCxn id="4" idx="1"/>
          </p:cNvCxnSpPr>
          <p:nvPr/>
        </p:nvCxnSpPr>
        <p:spPr>
          <a:xfrm flipH="1">
            <a:off x="4987636" y="2462204"/>
            <a:ext cx="1108364" cy="1093796"/>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sp>
        <p:nvSpPr>
          <p:cNvPr id="8" name="Rectangle 7">
            <a:extLst>
              <a:ext uri="{FF2B5EF4-FFF2-40B4-BE49-F238E27FC236}">
                <a16:creationId xmlns:a16="http://schemas.microsoft.com/office/drawing/2014/main" id="{8ED3C955-B4F3-42E2-8D5C-45962C275A51}"/>
              </a:ext>
            </a:extLst>
          </p:cNvPr>
          <p:cNvSpPr/>
          <p:nvPr/>
        </p:nvSpPr>
        <p:spPr>
          <a:xfrm>
            <a:off x="5412508" y="4399639"/>
            <a:ext cx="6169891" cy="1323439"/>
          </a:xfrm>
          <a:prstGeom prst="rect">
            <a:avLst/>
          </a:prstGeom>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public properties on a component will automatically be made available to the component's view.</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not necessary to pass the data to the view from the component's render method</a:t>
            </a:r>
          </a:p>
        </p:txBody>
      </p:sp>
    </p:spTree>
    <p:extLst>
      <p:ext uri="{BB962C8B-B14F-4D97-AF65-F5344CB8AC3E}">
        <p14:creationId xmlns:p14="http://schemas.microsoft.com/office/powerpoint/2010/main" val="242762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500"/>
                                        <p:tgtEl>
                                          <p:spTgt spid="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500"/>
                                        <p:tgtEl>
                                          <p:spTgt spid="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8">
                                            <p:txEl>
                                              <p:pRg st="0" end="0"/>
                                            </p:txEl>
                                          </p:spTgt>
                                        </p:tgtEl>
                                        <p:attrNameLst>
                                          <p:attrName>style.visibility</p:attrName>
                                        </p:attrNameLst>
                                      </p:cBhvr>
                                      <p:to>
                                        <p:strVal val="visible"/>
                                      </p:to>
                                    </p:set>
                                    <p:animEffect transition="in" filter="fade">
                                      <p:cBhvr>
                                        <p:cTn id="80" dur="500"/>
                                        <p:tgtEl>
                                          <p:spTgt spid="8">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8">
                                            <p:txEl>
                                              <p:pRg st="1" end="1"/>
                                            </p:txEl>
                                          </p:spTgt>
                                        </p:tgtEl>
                                        <p:attrNameLst>
                                          <p:attrName>style.visibility</p:attrName>
                                        </p:attrNameLst>
                                      </p:cBhvr>
                                      <p:to>
                                        <p:strVal val="visible"/>
                                      </p:to>
                                    </p:set>
                                    <p:animEffect transition="in" filter="fade">
                                      <p:cBhvr>
                                        <p:cTn id="8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Component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When your component is rendered, you may display the contents of your component's public variables by echoing the variables by name.</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latin typeface="Times New Roman" panose="02020603050405020304" pitchFamily="18" charset="0"/>
                <a:cs typeface="Times New Roman" panose="02020603050405020304" pitchFamily="18" charset="0"/>
              </a:rPr>
              <a:t>{{$title}}</a:t>
            </a:r>
          </a:p>
          <a:p>
            <a:pPr marL="0" indent="0">
              <a:buNone/>
            </a:pPr>
            <a:r>
              <a:rPr lang="en-US" sz="2400" dirty="0">
                <a:latin typeface="Times New Roman" panose="02020603050405020304" pitchFamily="18" charset="0"/>
                <a:cs typeface="Times New Roman" panose="02020603050405020304" pitchFamily="18" charset="0"/>
              </a:rPr>
              <a:t>{{$description}}</a:t>
            </a:r>
          </a:p>
        </p:txBody>
      </p:sp>
    </p:spTree>
    <p:extLst>
      <p:ext uri="{BB962C8B-B14F-4D97-AF65-F5344CB8AC3E}">
        <p14:creationId xmlns:p14="http://schemas.microsoft.com/office/powerpoint/2010/main" val="253191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Casing</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Component constructor arguments should be specified using camelCase, while kebab-case should be used when referencing the argument names in your HTML attributes.</a:t>
            </a:r>
          </a:p>
          <a:p>
            <a:pPr marL="0" indent="0">
              <a:buNone/>
            </a:pPr>
            <a:r>
              <a:rPr lang="en-US" sz="2400" dirty="0">
                <a:latin typeface="Times New Roman" panose="02020603050405020304" pitchFamily="18" charset="0"/>
                <a:cs typeface="Times New Roman" panose="02020603050405020304" pitchFamily="18" charset="0"/>
              </a:rPr>
              <a:t>public function __construct($</a:t>
            </a:r>
            <a:r>
              <a:rPr lang="en-US" sz="2400" dirty="0" err="1">
                <a:latin typeface="Times New Roman" panose="02020603050405020304" pitchFamily="18" charset="0"/>
                <a:cs typeface="Times New Roman" panose="02020603050405020304" pitchFamily="18" charset="0"/>
              </a:rPr>
              <a:t>subTitle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$this-&gt;</a:t>
            </a:r>
            <a:r>
              <a:rPr lang="en-US" sz="2400" dirty="0" err="1">
                <a:latin typeface="Times New Roman" panose="02020603050405020304" pitchFamily="18" charset="0"/>
                <a:cs typeface="Times New Roman" panose="02020603050405020304" pitchFamily="18" charset="0"/>
              </a:rPr>
              <a:t>subTitle</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subTitle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&lt;x-card sub-title=“Card Subtitle" /&gt;</a:t>
            </a:r>
          </a:p>
        </p:txBody>
      </p:sp>
    </p:spTree>
    <p:extLst>
      <p:ext uri="{BB962C8B-B14F-4D97-AF65-F5344CB8AC3E}">
        <p14:creationId xmlns:p14="http://schemas.microsoft.com/office/powerpoint/2010/main" val="41869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Component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r>
              <a:rPr lang="en-US" sz="2400" dirty="0">
                <a:latin typeface="Times New Roman" panose="02020603050405020304" pitchFamily="18" charset="0"/>
                <a:cs typeface="Times New Roman" panose="02020603050405020304" pitchFamily="18" charset="0"/>
              </a:rPr>
              <a:t>Defining Method in Component</a:t>
            </a:r>
          </a:p>
          <a:p>
            <a:pPr marL="285750" indent="0">
              <a:buNone/>
            </a:pPr>
            <a:r>
              <a:rPr lang="en-US" sz="2400" dirty="0">
                <a:cs typeface="Times New Roman" panose="02020603050405020304" pitchFamily="18" charset="0"/>
              </a:rPr>
              <a:t>public function </a:t>
            </a:r>
            <a:r>
              <a:rPr lang="en-US" sz="2400" dirty="0" err="1">
                <a:cs typeface="Times New Roman" panose="02020603050405020304" pitchFamily="18" charset="0"/>
              </a:rPr>
              <a:t>addNumber</a:t>
            </a:r>
            <a:r>
              <a:rPr lang="en-US" sz="2400" dirty="0">
                <a:cs typeface="Times New Roman" panose="02020603050405020304" pitchFamily="18" charset="0"/>
              </a:rPr>
              <a:t>($a)</a:t>
            </a:r>
          </a:p>
          <a:p>
            <a:pPr marL="285750" indent="0">
              <a:buNone/>
            </a:pPr>
            <a:r>
              <a:rPr lang="en-US" sz="2400" dirty="0">
                <a:cs typeface="Times New Roman" panose="02020603050405020304" pitchFamily="18" charset="0"/>
              </a:rPr>
              <a:t>{</a:t>
            </a:r>
          </a:p>
          <a:p>
            <a:pPr marL="285750" indent="0">
              <a:buNone/>
            </a:pPr>
            <a:r>
              <a:rPr lang="en-US" sz="2400" dirty="0">
                <a:cs typeface="Times New Roman" panose="02020603050405020304" pitchFamily="18" charset="0"/>
              </a:rPr>
              <a:t>    return $a + 20;</a:t>
            </a:r>
          </a:p>
          <a:p>
            <a:pPr marL="285750" indent="0">
              <a:buNone/>
            </a:pPr>
            <a:r>
              <a:rPr lang="en-US" sz="2400" dirty="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Calling Component Method</a:t>
            </a:r>
          </a:p>
          <a:p>
            <a:pPr marL="230188" indent="0">
              <a:buNone/>
            </a:pPr>
            <a:r>
              <a:rPr lang="en-US" sz="2400" dirty="0">
                <a:cs typeface="Times New Roman" panose="02020603050405020304" pitchFamily="18" charset="0"/>
              </a:rPr>
              <a:t>{{$</a:t>
            </a:r>
            <a:r>
              <a:rPr lang="en-US" sz="2400" dirty="0" err="1">
                <a:cs typeface="Times New Roman" panose="02020603050405020304" pitchFamily="18" charset="0"/>
              </a:rPr>
              <a:t>addNumber</a:t>
            </a:r>
            <a:r>
              <a:rPr lang="en-US" sz="2400" dirty="0">
                <a:cs typeface="Times New Roman" panose="02020603050405020304" pitchFamily="18" charset="0"/>
              </a:rPr>
              <a:t>(10)}}</a:t>
            </a:r>
          </a:p>
        </p:txBody>
      </p:sp>
    </p:spTree>
    <p:extLst>
      <p:ext uri="{BB962C8B-B14F-4D97-AF65-F5344CB8AC3E}">
        <p14:creationId xmlns:p14="http://schemas.microsoft.com/office/powerpoint/2010/main" val="18284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Component Attributes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r>
              <a:rPr lang="en-US" sz="2400" dirty="0">
                <a:latin typeface="Times New Roman" panose="02020603050405020304" pitchFamily="18" charset="0"/>
                <a:cs typeface="Times New Roman" panose="02020603050405020304" pitchFamily="18" charset="0"/>
              </a:rPr>
              <a:t>Defining Attributes in Component</a:t>
            </a:r>
          </a:p>
          <a:p>
            <a:pPr marL="285750" indent="0">
              <a:buNone/>
            </a:pPr>
            <a:r>
              <a:rPr lang="da-DK" sz="2400" dirty="0">
                <a:cs typeface="Times New Roman" panose="02020603050405020304" pitchFamily="18" charset="0"/>
              </a:rPr>
              <a:t>&lt;x-card </a:t>
            </a:r>
            <a:r>
              <a:rPr lang="en-US" sz="2400" dirty="0">
                <a:cs typeface="Times New Roman" panose="02020603050405020304" pitchFamily="18" charset="0"/>
              </a:rPr>
              <a:t>title='Card Title 1' sub-title='Card Subtitle 1' :description=$desc</a:t>
            </a:r>
            <a:r>
              <a:rPr lang="da-DK" sz="2400" dirty="0">
                <a:cs typeface="Times New Roman" panose="02020603050405020304" pitchFamily="18" charset="0"/>
              </a:rPr>
              <a:t> class=”myclass"/&gt;</a:t>
            </a:r>
          </a:p>
          <a:p>
            <a:pPr marL="28575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Using Attributes</a:t>
            </a:r>
          </a:p>
          <a:p>
            <a:pPr marL="230188" indent="0">
              <a:buNone/>
            </a:pPr>
            <a:r>
              <a:rPr lang="fr-FR" sz="2400" dirty="0">
                <a:cs typeface="Times New Roman" panose="02020603050405020304" pitchFamily="18" charset="0"/>
              </a:rPr>
              <a:t>&lt;div {{ $</a:t>
            </a:r>
            <a:r>
              <a:rPr lang="fr-FR" sz="2400" dirty="0" err="1">
                <a:cs typeface="Times New Roman" panose="02020603050405020304" pitchFamily="18" charset="0"/>
              </a:rPr>
              <a:t>attributes</a:t>
            </a:r>
            <a:r>
              <a:rPr lang="fr-FR" sz="2400" dirty="0">
                <a:cs typeface="Times New Roman" panose="02020603050405020304" pitchFamily="18" charset="0"/>
              </a:rPr>
              <a:t> }}&gt;</a:t>
            </a:r>
          </a:p>
          <a:p>
            <a:pPr marL="230188" indent="0">
              <a:buNone/>
            </a:pPr>
            <a:r>
              <a:rPr lang="fr-FR" sz="2400" dirty="0">
                <a:cs typeface="Times New Roman" panose="02020603050405020304" pitchFamily="18" charset="0"/>
              </a:rPr>
              <a:t>    &lt;!-- Component content --&gt;</a:t>
            </a:r>
          </a:p>
          <a:p>
            <a:pPr marL="230188" indent="0">
              <a:buNone/>
            </a:pPr>
            <a:r>
              <a:rPr lang="fr-FR" sz="2400" dirty="0">
                <a:cs typeface="Times New Roman" panose="02020603050405020304" pitchFamily="18" charset="0"/>
              </a:rPr>
              <a:t>&lt;/div&gt;</a:t>
            </a:r>
          </a:p>
          <a:p>
            <a:pPr marL="230188" indent="0">
              <a:buNone/>
            </a:pPr>
            <a:endParaRPr lang="fr-FR" sz="2400" dirty="0">
              <a:cs typeface="Times New Roman" panose="02020603050405020304" pitchFamily="18" charset="0"/>
            </a:endParaRPr>
          </a:p>
          <a:p>
            <a:pPr marL="230188" indent="0">
              <a:buNone/>
            </a:pPr>
            <a:r>
              <a:rPr lang="en-US" sz="2400" dirty="0">
                <a:cs typeface="Times New Roman" panose="02020603050405020304" pitchFamily="18" charset="0"/>
              </a:rPr>
              <a:t>All of the attributes that are not part of the component's constructor will automatically be added to the component's "attribute bag". This attribute bag is automatically made available to the component via the $attributes variable. </a:t>
            </a:r>
          </a:p>
        </p:txBody>
      </p:sp>
    </p:spTree>
    <p:extLst>
      <p:ext uri="{BB962C8B-B14F-4D97-AF65-F5344CB8AC3E}">
        <p14:creationId xmlns:p14="http://schemas.microsoft.com/office/powerpoint/2010/main" val="1198264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Anonymous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Anonymous components provide a mechanism for managing a component via a single file. Anonymous components utilize a single view file and have no associated class.</a:t>
            </a:r>
          </a:p>
          <a:p>
            <a:pPr marL="0" indent="0">
              <a:buNone/>
            </a:pPr>
            <a:r>
              <a:rPr lang="en-US" dirty="0">
                <a:latin typeface="Times New Roman" panose="02020603050405020304" pitchFamily="18" charset="0"/>
                <a:cs typeface="Times New Roman" panose="02020603050405020304" pitchFamily="18" charset="0"/>
              </a:rPr>
              <a:t>To define an anonymous component, you only need to place a Blade template within your resources/views/components directory.</a:t>
            </a:r>
          </a:p>
          <a:p>
            <a:pPr marL="0" indent="0">
              <a:buNone/>
            </a:pPr>
            <a:r>
              <a:rPr lang="en-US"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resources/views/components/</a:t>
            </a:r>
            <a:r>
              <a:rPr lang="en-US" dirty="0" err="1">
                <a:latin typeface="Times New Roman" panose="02020603050405020304" pitchFamily="18" charset="0"/>
                <a:cs typeface="Times New Roman" panose="02020603050405020304" pitchFamily="18" charset="0"/>
              </a:rPr>
              <a:t>card.blade.php</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7322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Rendering Anonymous Component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399"/>
            <a:ext cx="10972800" cy="5175069"/>
          </a:xfrm>
        </p:spPr>
        <p:txBody>
          <a:bodyPr>
            <a:normAutofit/>
          </a:bodyPr>
          <a:lstStyle/>
          <a:p>
            <a:pPr marL="0" indent="0">
              <a:buNone/>
            </a:pPr>
            <a:r>
              <a:rPr lang="en-US" dirty="0">
                <a:cs typeface="Times New Roman" panose="02020603050405020304" pitchFamily="18" charset="0"/>
              </a:rPr>
              <a:t>&lt;x-card /&gt;</a:t>
            </a:r>
          </a:p>
          <a:p>
            <a:pPr marL="0" indent="0">
              <a:buNone/>
            </a:pPr>
            <a:r>
              <a:rPr lang="en-US" dirty="0">
                <a:cs typeface="Times New Roman" panose="02020603050405020304" pitchFamily="18" charset="0"/>
              </a:rPr>
              <a:t>&lt;x-card title='Card Title 1'/&gt;</a:t>
            </a:r>
          </a:p>
        </p:txBody>
      </p:sp>
    </p:spTree>
    <p:extLst>
      <p:ext uri="{BB962C8B-B14F-4D97-AF65-F5344CB8AC3E}">
        <p14:creationId xmlns:p14="http://schemas.microsoft.com/office/powerpoint/2010/main" val="98631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658</TotalTime>
  <Words>700</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Component</vt:lpstr>
      <vt:lpstr>Class Based Component</vt:lpstr>
      <vt:lpstr>Rendering Component</vt:lpstr>
      <vt:lpstr>Rendering Component</vt:lpstr>
      <vt:lpstr>Passing Data to Component</vt:lpstr>
      <vt:lpstr>Defining Data in Component</vt:lpstr>
      <vt:lpstr>Displaying Component Data</vt:lpstr>
      <vt:lpstr>Casing</vt:lpstr>
      <vt:lpstr>Component Method</vt:lpstr>
      <vt:lpstr>Component Attributes</vt:lpstr>
      <vt:lpstr>Anonymous Component</vt:lpstr>
      <vt:lpstr>Rendering Anonymous Component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163</cp:revision>
  <dcterms:created xsi:type="dcterms:W3CDTF">2020-01-16T07:28:28Z</dcterms:created>
  <dcterms:modified xsi:type="dcterms:W3CDTF">2021-03-26T17:08:13Z</dcterms:modified>
</cp:coreProperties>
</file>