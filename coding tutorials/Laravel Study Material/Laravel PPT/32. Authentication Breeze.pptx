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6" r:id="rId2"/>
    <p:sldId id="277" r:id="rId3"/>
    <p:sldId id="278" r:id="rId4"/>
    <p:sldId id="280" r:id="rId5"/>
    <p:sldId id="281" r:id="rId6"/>
    <p:sldId id="282" r:id="rId7"/>
    <p:sldId id="283" r:id="rId8"/>
    <p:sldId id="285" r:id="rId9"/>
    <p:sldId id="286" r:id="rId10"/>
    <p:sldId id="290" r:id="rId11"/>
    <p:sldId id="291" r:id="rId12"/>
    <p:sldId id="29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1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C3F35-3C31-4FCC-B762-8FA83DB948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C11F85-AF32-484E-B7DE-BAD2167DF4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17C33E-110C-43CE-8805-5FD96AF6EB41}"/>
              </a:ext>
            </a:extLst>
          </p:cNvPr>
          <p:cNvSpPr>
            <a:spLocks noGrp="1"/>
          </p:cNvSpPr>
          <p:nvPr>
            <p:ph type="dt" sz="half" idx="10"/>
          </p:nvPr>
        </p:nvSpPr>
        <p:spPr/>
        <p:txBody>
          <a:bodyPr/>
          <a:lstStyle/>
          <a:p>
            <a:fld id="{D6424074-C14C-4063-9727-25396F45EE8B}" type="datetimeFigureOut">
              <a:rPr lang="en-US" smtClean="0"/>
              <a:t>4/22/2021</a:t>
            </a:fld>
            <a:endParaRPr lang="en-US"/>
          </a:p>
        </p:txBody>
      </p:sp>
      <p:sp>
        <p:nvSpPr>
          <p:cNvPr id="5" name="Footer Placeholder 4">
            <a:extLst>
              <a:ext uri="{FF2B5EF4-FFF2-40B4-BE49-F238E27FC236}">
                <a16:creationId xmlns:a16="http://schemas.microsoft.com/office/drawing/2014/main" id="{C41E970A-36AA-461D-BFF5-A7073A89A8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824AC1-CF3D-4264-B44C-4AC3694EAFFB}"/>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786153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D500-4B8D-424C-8E02-B591E74EC5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EC130C-93BE-4086-A02D-A4D7DF5A46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B33FFA-4982-4138-A83F-360E42BC9F3D}"/>
              </a:ext>
            </a:extLst>
          </p:cNvPr>
          <p:cNvSpPr>
            <a:spLocks noGrp="1"/>
          </p:cNvSpPr>
          <p:nvPr>
            <p:ph type="dt" sz="half" idx="10"/>
          </p:nvPr>
        </p:nvSpPr>
        <p:spPr/>
        <p:txBody>
          <a:bodyPr/>
          <a:lstStyle/>
          <a:p>
            <a:fld id="{D6424074-C14C-4063-9727-25396F45EE8B}" type="datetimeFigureOut">
              <a:rPr lang="en-US" smtClean="0"/>
              <a:t>4/22/2021</a:t>
            </a:fld>
            <a:endParaRPr lang="en-US"/>
          </a:p>
        </p:txBody>
      </p:sp>
      <p:sp>
        <p:nvSpPr>
          <p:cNvPr id="5" name="Footer Placeholder 4">
            <a:extLst>
              <a:ext uri="{FF2B5EF4-FFF2-40B4-BE49-F238E27FC236}">
                <a16:creationId xmlns:a16="http://schemas.microsoft.com/office/drawing/2014/main" id="{F6E70961-FF6B-4014-ABD0-D52345560C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84993-0B9F-4D18-A786-A001E4813A34}"/>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01319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9AFEF-9148-490C-A07D-66025A3890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F19A05-8FC1-4F08-A6DF-48B5588EC6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06C234-7D79-4017-A28E-009351AFBF7A}"/>
              </a:ext>
            </a:extLst>
          </p:cNvPr>
          <p:cNvSpPr>
            <a:spLocks noGrp="1"/>
          </p:cNvSpPr>
          <p:nvPr>
            <p:ph type="dt" sz="half" idx="10"/>
          </p:nvPr>
        </p:nvSpPr>
        <p:spPr/>
        <p:txBody>
          <a:bodyPr/>
          <a:lstStyle/>
          <a:p>
            <a:fld id="{D6424074-C14C-4063-9727-25396F45EE8B}" type="datetimeFigureOut">
              <a:rPr lang="en-US" smtClean="0"/>
              <a:t>4/22/2021</a:t>
            </a:fld>
            <a:endParaRPr lang="en-US"/>
          </a:p>
        </p:txBody>
      </p:sp>
      <p:sp>
        <p:nvSpPr>
          <p:cNvPr id="5" name="Footer Placeholder 4">
            <a:extLst>
              <a:ext uri="{FF2B5EF4-FFF2-40B4-BE49-F238E27FC236}">
                <a16:creationId xmlns:a16="http://schemas.microsoft.com/office/drawing/2014/main" id="{24E09164-4C4A-4127-B3F2-BB08C8341E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D9619-5D24-4157-A6FD-5834D0A22E4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269312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FB17-9AD1-4F3B-AA4E-56593842DE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C4D886-9A3F-42F3-AB90-9B4FCED533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D4B41A-A242-49E8-8BC4-FCD743948B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2A4D90-D5C8-487E-B4C9-B9DE8D5915F6}"/>
              </a:ext>
            </a:extLst>
          </p:cNvPr>
          <p:cNvSpPr>
            <a:spLocks noGrp="1"/>
          </p:cNvSpPr>
          <p:nvPr>
            <p:ph type="dt" sz="half" idx="10"/>
          </p:nvPr>
        </p:nvSpPr>
        <p:spPr/>
        <p:txBody>
          <a:bodyPr/>
          <a:lstStyle/>
          <a:p>
            <a:fld id="{D6424074-C14C-4063-9727-25396F45EE8B}" type="datetimeFigureOut">
              <a:rPr lang="en-US" smtClean="0"/>
              <a:t>4/22/2021</a:t>
            </a:fld>
            <a:endParaRPr lang="en-US"/>
          </a:p>
        </p:txBody>
      </p:sp>
      <p:sp>
        <p:nvSpPr>
          <p:cNvPr id="6" name="Footer Placeholder 5">
            <a:extLst>
              <a:ext uri="{FF2B5EF4-FFF2-40B4-BE49-F238E27FC236}">
                <a16:creationId xmlns:a16="http://schemas.microsoft.com/office/drawing/2014/main" id="{596AE19E-19C8-4D55-9148-C3B99134A6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966303-18AD-4792-A099-E495F2C519C3}"/>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304587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7564-7E6D-44C1-8EAE-6A4E965C25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E3F7CD-9F80-48DE-AC2D-8C68C18BCC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0FAB47-FABF-4808-B75D-EE89F7DDCE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A02129-2ED0-4522-9D50-7E1E317320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1CDBFA-5E0F-4440-971C-EA63B08383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005AA4-F250-48C7-A79B-B9159994BE7C}"/>
              </a:ext>
            </a:extLst>
          </p:cNvPr>
          <p:cNvSpPr>
            <a:spLocks noGrp="1"/>
          </p:cNvSpPr>
          <p:nvPr>
            <p:ph type="dt" sz="half" idx="10"/>
          </p:nvPr>
        </p:nvSpPr>
        <p:spPr/>
        <p:txBody>
          <a:bodyPr/>
          <a:lstStyle/>
          <a:p>
            <a:fld id="{D6424074-C14C-4063-9727-25396F45EE8B}" type="datetimeFigureOut">
              <a:rPr lang="en-US" smtClean="0"/>
              <a:t>4/22/2021</a:t>
            </a:fld>
            <a:endParaRPr lang="en-US"/>
          </a:p>
        </p:txBody>
      </p:sp>
      <p:sp>
        <p:nvSpPr>
          <p:cNvPr id="8" name="Footer Placeholder 7">
            <a:extLst>
              <a:ext uri="{FF2B5EF4-FFF2-40B4-BE49-F238E27FC236}">
                <a16:creationId xmlns:a16="http://schemas.microsoft.com/office/drawing/2014/main" id="{A32781D2-D5BD-480F-BB83-53C263FB8D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C12F3E-3AE8-47A7-BA0C-210DE2BE59AE}"/>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437172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CDEC-80DD-44FD-87ED-767C2FA308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292CCD-4B75-45FB-98A6-7358737527E3}"/>
              </a:ext>
            </a:extLst>
          </p:cNvPr>
          <p:cNvSpPr>
            <a:spLocks noGrp="1"/>
          </p:cNvSpPr>
          <p:nvPr>
            <p:ph type="dt" sz="half" idx="10"/>
          </p:nvPr>
        </p:nvSpPr>
        <p:spPr/>
        <p:txBody>
          <a:bodyPr/>
          <a:lstStyle/>
          <a:p>
            <a:fld id="{D6424074-C14C-4063-9727-25396F45EE8B}" type="datetimeFigureOut">
              <a:rPr lang="en-US" smtClean="0"/>
              <a:t>4/22/2021</a:t>
            </a:fld>
            <a:endParaRPr lang="en-US"/>
          </a:p>
        </p:txBody>
      </p:sp>
      <p:sp>
        <p:nvSpPr>
          <p:cNvPr id="4" name="Footer Placeholder 3">
            <a:extLst>
              <a:ext uri="{FF2B5EF4-FFF2-40B4-BE49-F238E27FC236}">
                <a16:creationId xmlns:a16="http://schemas.microsoft.com/office/drawing/2014/main" id="{8C9243F9-A523-4595-950A-A86EFB8DA9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68C2E0-2E4D-4B36-979D-F2375420BBBA}"/>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041280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E46FD8-EC6C-42A7-98E1-FC56EEE826C4}"/>
              </a:ext>
            </a:extLst>
          </p:cNvPr>
          <p:cNvSpPr>
            <a:spLocks noGrp="1"/>
          </p:cNvSpPr>
          <p:nvPr>
            <p:ph type="dt" sz="half" idx="10"/>
          </p:nvPr>
        </p:nvSpPr>
        <p:spPr/>
        <p:txBody>
          <a:bodyPr/>
          <a:lstStyle/>
          <a:p>
            <a:fld id="{D6424074-C14C-4063-9727-25396F45EE8B}" type="datetimeFigureOut">
              <a:rPr lang="en-US" smtClean="0"/>
              <a:t>4/22/2021</a:t>
            </a:fld>
            <a:endParaRPr lang="en-US"/>
          </a:p>
        </p:txBody>
      </p:sp>
      <p:sp>
        <p:nvSpPr>
          <p:cNvPr id="3" name="Footer Placeholder 2">
            <a:extLst>
              <a:ext uri="{FF2B5EF4-FFF2-40B4-BE49-F238E27FC236}">
                <a16:creationId xmlns:a16="http://schemas.microsoft.com/office/drawing/2014/main" id="{B9E0800C-B826-41B4-A243-B36296B649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E187CB-862A-46BE-A68E-D4A82FE94C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146676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8E107-3892-4E64-BDDA-CDF25A25C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4A345D-808F-4F5C-A693-EE1BD803D6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EB5494-E2C2-4E1A-A55C-B6F965B43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032549-0479-4245-9491-0EDF264A8EFC}"/>
              </a:ext>
            </a:extLst>
          </p:cNvPr>
          <p:cNvSpPr>
            <a:spLocks noGrp="1"/>
          </p:cNvSpPr>
          <p:nvPr>
            <p:ph type="dt" sz="half" idx="10"/>
          </p:nvPr>
        </p:nvSpPr>
        <p:spPr/>
        <p:txBody>
          <a:bodyPr/>
          <a:lstStyle/>
          <a:p>
            <a:fld id="{D6424074-C14C-4063-9727-25396F45EE8B}" type="datetimeFigureOut">
              <a:rPr lang="en-US" smtClean="0"/>
              <a:t>4/22/2021</a:t>
            </a:fld>
            <a:endParaRPr lang="en-US"/>
          </a:p>
        </p:txBody>
      </p:sp>
      <p:sp>
        <p:nvSpPr>
          <p:cNvPr id="6" name="Footer Placeholder 5">
            <a:extLst>
              <a:ext uri="{FF2B5EF4-FFF2-40B4-BE49-F238E27FC236}">
                <a16:creationId xmlns:a16="http://schemas.microsoft.com/office/drawing/2014/main" id="{F42DB5CF-F4F7-4439-AE72-E5E794AF62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4244DC-B202-469A-AC18-C6FBC47C059C}"/>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47530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2DE7F-8D96-4394-B3C4-E90625F4DC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B5D2BA-AFFA-4D89-A128-DCEE73ADC9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2A3167-3ED5-4E1C-95CA-2C0DA32931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9F1B83-D833-46FB-B8F9-FA04CBF20F50}"/>
              </a:ext>
            </a:extLst>
          </p:cNvPr>
          <p:cNvSpPr>
            <a:spLocks noGrp="1"/>
          </p:cNvSpPr>
          <p:nvPr>
            <p:ph type="dt" sz="half" idx="10"/>
          </p:nvPr>
        </p:nvSpPr>
        <p:spPr/>
        <p:txBody>
          <a:bodyPr/>
          <a:lstStyle/>
          <a:p>
            <a:fld id="{D6424074-C14C-4063-9727-25396F45EE8B}" type="datetimeFigureOut">
              <a:rPr lang="en-US" smtClean="0"/>
              <a:t>4/22/2021</a:t>
            </a:fld>
            <a:endParaRPr lang="en-US"/>
          </a:p>
        </p:txBody>
      </p:sp>
      <p:sp>
        <p:nvSpPr>
          <p:cNvPr id="6" name="Footer Placeholder 5">
            <a:extLst>
              <a:ext uri="{FF2B5EF4-FFF2-40B4-BE49-F238E27FC236}">
                <a16:creationId xmlns:a16="http://schemas.microsoft.com/office/drawing/2014/main" id="{76C36967-54F8-4897-9D64-D7332874BE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926CB3-4534-4D33-B3B6-4717B20F3ADD}"/>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480921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0591D-71AB-44B0-A8FF-8DA89DF43B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99BF31-FDD0-4B03-9E4C-18FA15FB82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535DB6-B91A-42DA-8722-A16D02B6CBE5}"/>
              </a:ext>
            </a:extLst>
          </p:cNvPr>
          <p:cNvSpPr>
            <a:spLocks noGrp="1"/>
          </p:cNvSpPr>
          <p:nvPr>
            <p:ph type="dt" sz="half" idx="10"/>
          </p:nvPr>
        </p:nvSpPr>
        <p:spPr/>
        <p:txBody>
          <a:bodyPr/>
          <a:lstStyle/>
          <a:p>
            <a:fld id="{D6424074-C14C-4063-9727-25396F45EE8B}" type="datetimeFigureOut">
              <a:rPr lang="en-US" smtClean="0"/>
              <a:t>4/22/2021</a:t>
            </a:fld>
            <a:endParaRPr lang="en-US"/>
          </a:p>
        </p:txBody>
      </p:sp>
      <p:sp>
        <p:nvSpPr>
          <p:cNvPr id="5" name="Footer Placeholder 4">
            <a:extLst>
              <a:ext uri="{FF2B5EF4-FFF2-40B4-BE49-F238E27FC236}">
                <a16:creationId xmlns:a16="http://schemas.microsoft.com/office/drawing/2014/main" id="{8F704C1A-3BFB-4306-8451-0366BAB2FA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E47995-D404-46E1-B86F-17C3C8B09E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72496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B0D8ED-73E1-4FE3-BF6D-5D9C5BAF4C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F26129-7B22-402F-AFC8-1067547D08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2C7EC3-A12B-4D69-A61D-07E268ECD2FC}"/>
              </a:ext>
            </a:extLst>
          </p:cNvPr>
          <p:cNvSpPr>
            <a:spLocks noGrp="1"/>
          </p:cNvSpPr>
          <p:nvPr>
            <p:ph type="dt" sz="half" idx="10"/>
          </p:nvPr>
        </p:nvSpPr>
        <p:spPr/>
        <p:txBody>
          <a:bodyPr/>
          <a:lstStyle/>
          <a:p>
            <a:fld id="{D6424074-C14C-4063-9727-25396F45EE8B}" type="datetimeFigureOut">
              <a:rPr lang="en-US" smtClean="0"/>
              <a:t>4/22/2021</a:t>
            </a:fld>
            <a:endParaRPr lang="en-US"/>
          </a:p>
        </p:txBody>
      </p:sp>
      <p:sp>
        <p:nvSpPr>
          <p:cNvPr id="5" name="Footer Placeholder 4">
            <a:extLst>
              <a:ext uri="{FF2B5EF4-FFF2-40B4-BE49-F238E27FC236}">
                <a16:creationId xmlns:a16="http://schemas.microsoft.com/office/drawing/2014/main" id="{06BABADA-90D3-48E7-B44C-D632B1A8F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B1A7B-8555-421A-99B8-5ADAA6942206}"/>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136660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4AD56-CD23-40BA-A489-EAD1F37F48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3F5D0B-5BF7-4414-99DD-09FA3E5D69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B946D8-FBAF-4329-8716-8812B9BA77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424074-C14C-4063-9727-25396F45EE8B}" type="datetimeFigureOut">
              <a:rPr lang="en-US" smtClean="0"/>
              <a:t>4/22/2021</a:t>
            </a:fld>
            <a:endParaRPr lang="en-US"/>
          </a:p>
        </p:txBody>
      </p:sp>
      <p:sp>
        <p:nvSpPr>
          <p:cNvPr id="5" name="Footer Placeholder 4">
            <a:extLst>
              <a:ext uri="{FF2B5EF4-FFF2-40B4-BE49-F238E27FC236}">
                <a16:creationId xmlns:a16="http://schemas.microsoft.com/office/drawing/2014/main" id="{8AE5A8AF-D0BF-43C3-8DA2-2C1303E88F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43433D-FDF1-4749-8452-EE98C76555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727D84-FC1B-473D-99C4-9E18DD8D8E63}" type="slidenum">
              <a:rPr lang="en-US" smtClean="0"/>
              <a:t>‹#›</a:t>
            </a:fld>
            <a:endParaRPr lang="en-US"/>
          </a:p>
        </p:txBody>
      </p:sp>
    </p:spTree>
    <p:extLst>
      <p:ext uri="{BB962C8B-B14F-4D97-AF65-F5344CB8AC3E}">
        <p14:creationId xmlns:p14="http://schemas.microsoft.com/office/powerpoint/2010/main" val="1921063491"/>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Authentication</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Laravel strives to give you the tools you need to implement authentication quickly, securely, and easily.</a:t>
            </a:r>
          </a:p>
          <a:p>
            <a:pPr marL="0" indent="0">
              <a:buNone/>
            </a:pPr>
            <a:r>
              <a:rPr lang="en-US" sz="2400" dirty="0">
                <a:latin typeface="Times New Roman" panose="02020603050405020304" pitchFamily="18" charset="0"/>
                <a:cs typeface="Times New Roman" panose="02020603050405020304" pitchFamily="18" charset="0"/>
              </a:rPr>
              <a:t>Laravel's authentication facilities are made up of "guards" and "providers". </a:t>
            </a:r>
          </a:p>
          <a:p>
            <a:pPr marL="0" indent="0">
              <a:buNone/>
            </a:pPr>
            <a:r>
              <a:rPr lang="en-US" sz="2400" dirty="0">
                <a:latin typeface="Times New Roman" panose="02020603050405020304" pitchFamily="18" charset="0"/>
                <a:cs typeface="Times New Roman" panose="02020603050405020304" pitchFamily="18" charset="0"/>
              </a:rPr>
              <a:t>Guards define how users are authenticated for each request. </a:t>
            </a:r>
          </a:p>
          <a:p>
            <a:pPr marL="0" indent="0">
              <a:buNone/>
            </a:pPr>
            <a:r>
              <a:rPr lang="en-US" sz="2400" dirty="0">
                <a:latin typeface="Times New Roman" panose="02020603050405020304" pitchFamily="18" charset="0"/>
                <a:cs typeface="Times New Roman" panose="02020603050405020304" pitchFamily="18" charset="0"/>
              </a:rPr>
              <a:t>Providers define how users are retrieved from your persistent storage.</a:t>
            </a:r>
          </a:p>
          <a:p>
            <a:pPr marL="0" indent="0">
              <a:buNone/>
            </a:pPr>
            <a:r>
              <a:rPr lang="en-US" sz="2400" dirty="0">
                <a:latin typeface="Times New Roman" panose="02020603050405020304" pitchFamily="18" charset="0"/>
                <a:cs typeface="Times New Roman" panose="02020603050405020304" pitchFamily="18" charset="0"/>
              </a:rPr>
              <a:t>Application's authentication configuration file is located at config/</a:t>
            </a:r>
            <a:r>
              <a:rPr lang="en-US" sz="2400" dirty="0" err="1">
                <a:latin typeface="Times New Roman" panose="02020603050405020304" pitchFamily="18" charset="0"/>
                <a:cs typeface="Times New Roman" panose="02020603050405020304" pitchFamily="18" charset="0"/>
              </a:rPr>
              <a:t>auth.php</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Laravel Breeze</a:t>
            </a:r>
          </a:p>
          <a:p>
            <a:r>
              <a:rPr lang="en-US" sz="2400" dirty="0">
                <a:latin typeface="Times New Roman" panose="02020603050405020304" pitchFamily="18" charset="0"/>
                <a:cs typeface="Times New Roman" panose="02020603050405020304" pitchFamily="18" charset="0"/>
              </a:rPr>
              <a:t>Laravel Jetstream</a:t>
            </a:r>
          </a:p>
          <a:p>
            <a:r>
              <a:rPr lang="en-US" sz="2400" dirty="0">
                <a:latin typeface="Times New Roman" panose="02020603050405020304" pitchFamily="18" charset="0"/>
                <a:cs typeface="Times New Roman" panose="02020603050405020304" pitchFamily="18" charset="0"/>
              </a:rPr>
              <a:t>Laravel Fortify</a:t>
            </a:r>
          </a:p>
        </p:txBody>
      </p:sp>
    </p:spTree>
    <p:extLst>
      <p:ext uri="{BB962C8B-B14F-4D97-AF65-F5344CB8AC3E}">
        <p14:creationId xmlns:p14="http://schemas.microsoft.com/office/powerpoint/2010/main" val="1577048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Authentication</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347447"/>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User Model - Laravel includes an App\Models\User Eloquent model in your app/Models directory. This model may be used with the default Eloquent authentication driver.</a:t>
            </a:r>
          </a:p>
          <a:p>
            <a:pPr marL="0" indent="0">
              <a:buNone/>
            </a:pPr>
            <a:r>
              <a:rPr lang="en-US" sz="2000" dirty="0">
                <a:cs typeface="Times New Roman" panose="02020603050405020304" pitchFamily="18" charset="0"/>
              </a:rPr>
              <a:t>Schema::create('users', function (Blueprint $table) {</a:t>
            </a:r>
          </a:p>
          <a:p>
            <a:pPr marL="0" indent="0">
              <a:buNone/>
            </a:pPr>
            <a:r>
              <a:rPr lang="en-US" sz="2000" dirty="0">
                <a:cs typeface="Times New Roman" panose="02020603050405020304" pitchFamily="18" charset="0"/>
              </a:rPr>
              <a:t>            $table-&gt;id();</a:t>
            </a:r>
          </a:p>
          <a:p>
            <a:pPr marL="0" indent="0">
              <a:buNone/>
            </a:pPr>
            <a:r>
              <a:rPr lang="en-US" sz="2000" dirty="0">
                <a:cs typeface="Times New Roman" panose="02020603050405020304" pitchFamily="18" charset="0"/>
              </a:rPr>
              <a:t>            $table-&gt;string('name');</a:t>
            </a:r>
          </a:p>
          <a:p>
            <a:pPr marL="0" indent="0">
              <a:buNone/>
            </a:pPr>
            <a:r>
              <a:rPr lang="en-US" sz="2000" dirty="0">
                <a:cs typeface="Times New Roman" panose="02020603050405020304" pitchFamily="18" charset="0"/>
              </a:rPr>
              <a:t>            $table-&gt;string('email')-&gt;unique();</a:t>
            </a:r>
          </a:p>
          <a:p>
            <a:pPr marL="0" indent="0">
              <a:buNone/>
            </a:pPr>
            <a:r>
              <a:rPr lang="en-US" sz="2000" dirty="0">
                <a:cs typeface="Times New Roman" panose="02020603050405020304" pitchFamily="18" charset="0"/>
              </a:rPr>
              <a:t>            $table-&gt;timestamp('</a:t>
            </a:r>
            <a:r>
              <a:rPr lang="en-US" sz="2000" dirty="0" err="1">
                <a:cs typeface="Times New Roman" panose="02020603050405020304" pitchFamily="18" charset="0"/>
              </a:rPr>
              <a:t>email_verified_at</a:t>
            </a:r>
            <a:r>
              <a:rPr lang="en-US" sz="2000" dirty="0">
                <a:cs typeface="Times New Roman" panose="02020603050405020304" pitchFamily="18" charset="0"/>
              </a:rPr>
              <a:t>')-&gt;nullable();</a:t>
            </a:r>
          </a:p>
          <a:p>
            <a:pPr marL="0" indent="0">
              <a:buNone/>
            </a:pPr>
            <a:r>
              <a:rPr lang="en-US" sz="2000" dirty="0">
                <a:cs typeface="Times New Roman" panose="02020603050405020304" pitchFamily="18" charset="0"/>
              </a:rPr>
              <a:t>            $table-&gt;string('password');</a:t>
            </a:r>
          </a:p>
          <a:p>
            <a:pPr marL="0" indent="0">
              <a:buNone/>
            </a:pPr>
            <a:r>
              <a:rPr lang="en-US" sz="2000" dirty="0">
                <a:cs typeface="Times New Roman" panose="02020603050405020304" pitchFamily="18" charset="0"/>
              </a:rPr>
              <a:t>            $table-&gt;</a:t>
            </a:r>
            <a:r>
              <a:rPr lang="en-US" sz="2000" dirty="0" err="1">
                <a:cs typeface="Times New Roman" panose="02020603050405020304" pitchFamily="18" charset="0"/>
              </a:rPr>
              <a:t>rememberToken</a:t>
            </a:r>
            <a:r>
              <a:rPr lang="en-US" sz="2000" dirty="0">
                <a:cs typeface="Times New Roman" panose="02020603050405020304" pitchFamily="18" charset="0"/>
              </a:rPr>
              <a:t>();</a:t>
            </a:r>
          </a:p>
          <a:p>
            <a:pPr marL="0" indent="0">
              <a:buNone/>
            </a:pPr>
            <a:r>
              <a:rPr lang="en-US" sz="2000" dirty="0">
                <a:cs typeface="Times New Roman" panose="02020603050405020304" pitchFamily="18" charset="0"/>
              </a:rPr>
              <a:t>            $table-&gt;timestamps();</a:t>
            </a:r>
          </a:p>
          <a:p>
            <a:pPr marL="0" indent="0">
              <a:buNone/>
            </a:pPr>
            <a:r>
              <a:rPr lang="en-US" sz="2000" dirty="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password column is at least 60 characters in length.</a:t>
            </a:r>
          </a:p>
          <a:p>
            <a:pPr marL="0" indent="0">
              <a:buNone/>
            </a:pPr>
            <a:r>
              <a:rPr lang="en-US" sz="2000" dirty="0" err="1">
                <a:latin typeface="Times New Roman" panose="02020603050405020304" pitchFamily="18" charset="0"/>
                <a:cs typeface="Times New Roman" panose="02020603050405020304" pitchFamily="18" charset="0"/>
              </a:rPr>
              <a:t>rememberToken</a:t>
            </a:r>
            <a:r>
              <a:rPr lang="en-US" sz="2000" dirty="0">
                <a:latin typeface="Times New Roman" panose="02020603050405020304" pitchFamily="18" charset="0"/>
                <a:cs typeface="Times New Roman" panose="02020603050405020304" pitchFamily="18" charset="0"/>
              </a:rPr>
              <a:t> will be used to store a token for users that select the "remember me" option when logging into your application. It is nullable and string of 100 characters.</a:t>
            </a:r>
          </a:p>
        </p:txBody>
      </p:sp>
    </p:spTree>
    <p:extLst>
      <p:ext uri="{BB962C8B-B14F-4D97-AF65-F5344CB8AC3E}">
        <p14:creationId xmlns:p14="http://schemas.microsoft.com/office/powerpoint/2010/main" val="1140647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Laravel Breeze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418909"/>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Laravel Breeze is a simple, minimal implementation of all of Laravel's authentication features, including login, registration, password reset, email verification, and password confirmation. Laravel Breeze's view layer is comprised of simple Blade templates styled with Tailwind CSS.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Create Laravel Project – </a:t>
            </a:r>
            <a:r>
              <a:rPr lang="en-US" sz="2400" dirty="0" err="1">
                <a:latin typeface="Times New Roman" panose="02020603050405020304" pitchFamily="18" charset="0"/>
                <a:cs typeface="Times New Roman" panose="02020603050405020304" pitchFamily="18" charset="0"/>
              </a:rPr>
              <a:t>laravel</a:t>
            </a:r>
            <a:r>
              <a:rPr lang="en-US" sz="2400" dirty="0">
                <a:latin typeface="Times New Roman" panose="02020603050405020304" pitchFamily="18" charset="0"/>
                <a:cs typeface="Times New Roman" panose="02020603050405020304" pitchFamily="18" charset="0"/>
              </a:rPr>
              <a:t> new </a:t>
            </a:r>
            <a:r>
              <a:rPr lang="en-US" sz="2400" dirty="0" err="1">
                <a:latin typeface="Times New Roman" panose="02020603050405020304" pitchFamily="18" charset="0"/>
                <a:cs typeface="Times New Roman" panose="02020603050405020304" pitchFamily="18" charset="0"/>
              </a:rPr>
              <a:t>project_name</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Configure Database</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Migrate Migration files – php artisan migrate</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Install Laravel Breeze – composer require Laravel/breeze --dev</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Publish Auth resources – php artisan </a:t>
            </a:r>
            <a:r>
              <a:rPr lang="en-US" sz="2400" dirty="0" err="1">
                <a:latin typeface="Times New Roman" panose="02020603050405020304" pitchFamily="18" charset="0"/>
                <a:cs typeface="Times New Roman" panose="02020603050405020304" pitchFamily="18" charset="0"/>
              </a:rPr>
              <a:t>breeze:install</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Compile Assets – </a:t>
            </a: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install and </a:t>
            </a: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run dev</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Migrate – php artisan migrate </a:t>
            </a:r>
          </a:p>
          <a:p>
            <a:pPr marL="0" indent="0">
              <a:buNone/>
            </a:pPr>
            <a:r>
              <a:rPr lang="en-US" sz="2400" i="1" dirty="0">
                <a:latin typeface="Times New Roman" panose="02020603050405020304" pitchFamily="18" charset="0"/>
                <a:cs typeface="Times New Roman" panose="02020603050405020304" pitchFamily="18" charset="0"/>
              </a:rPr>
              <a:t>All of Breeze's routes are defined within the routes/</a:t>
            </a:r>
            <a:r>
              <a:rPr lang="en-US" sz="2400" i="1" dirty="0" err="1">
                <a:latin typeface="Times New Roman" panose="02020603050405020304" pitchFamily="18" charset="0"/>
                <a:cs typeface="Times New Roman" panose="02020603050405020304" pitchFamily="18" charset="0"/>
              </a:rPr>
              <a:t>auth.php</a:t>
            </a:r>
            <a:r>
              <a:rPr lang="en-US" sz="2400" i="1" dirty="0">
                <a:latin typeface="Times New Roman" panose="02020603050405020304" pitchFamily="18" charset="0"/>
                <a:cs typeface="Times New Roman" panose="02020603050405020304" pitchFamily="18" charset="0"/>
              </a:rPr>
              <a:t> file.</a:t>
            </a:r>
          </a:p>
        </p:txBody>
      </p:sp>
    </p:spTree>
    <p:extLst>
      <p:ext uri="{BB962C8B-B14F-4D97-AF65-F5344CB8AC3E}">
        <p14:creationId xmlns:p14="http://schemas.microsoft.com/office/powerpoint/2010/main" val="3663158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Retrieving Authenticated User</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You may access the authenticated user via the Auth facade's user method:</a:t>
            </a:r>
          </a:p>
          <a:p>
            <a:pPr marL="0" indent="0">
              <a:buNone/>
            </a:pPr>
            <a:r>
              <a:rPr lang="en-US" sz="2400" dirty="0">
                <a:latin typeface="Times New Roman" panose="02020603050405020304" pitchFamily="18" charset="0"/>
                <a:cs typeface="Times New Roman" panose="02020603050405020304" pitchFamily="18" charset="0"/>
              </a:rPr>
              <a:t>use Illuminate\Support\Facades\Auth;</a:t>
            </a:r>
          </a:p>
          <a:p>
            <a:pPr marL="0" indent="0">
              <a:buNone/>
            </a:pPr>
            <a:r>
              <a:rPr lang="en-US" sz="2400" dirty="0">
                <a:latin typeface="Times New Roman" panose="02020603050405020304" pitchFamily="18" charset="0"/>
                <a:cs typeface="Times New Roman" panose="02020603050405020304" pitchFamily="18" charset="0"/>
              </a:rPr>
              <a:t>// Retrieve the currently authenticated user</a:t>
            </a:r>
          </a:p>
          <a:p>
            <a:pPr marL="0" indent="0">
              <a:buNone/>
            </a:pPr>
            <a:r>
              <a:rPr lang="en-US" sz="2400" dirty="0">
                <a:latin typeface="Times New Roman" panose="02020603050405020304" pitchFamily="18" charset="0"/>
                <a:cs typeface="Times New Roman" panose="02020603050405020304" pitchFamily="18" charset="0"/>
              </a:rPr>
              <a:t>$user = Auth::user();</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Retrieve the currently authenticated user's ID</a:t>
            </a:r>
          </a:p>
          <a:p>
            <a:pPr marL="0" indent="0">
              <a:buNone/>
            </a:pPr>
            <a:r>
              <a:rPr lang="en-US" sz="2400" dirty="0">
                <a:latin typeface="Times New Roman" panose="02020603050405020304" pitchFamily="18" charset="0"/>
                <a:cs typeface="Times New Roman" panose="02020603050405020304" pitchFamily="18" charset="0"/>
              </a:rPr>
              <a:t>$id = Auth::id();</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From Controller </a:t>
            </a:r>
          </a:p>
          <a:p>
            <a:pPr marL="0" indent="0">
              <a:buNone/>
            </a:pPr>
            <a:r>
              <a:rPr lang="en-US" sz="2400" dirty="0">
                <a:latin typeface="Times New Roman" panose="02020603050405020304" pitchFamily="18" charset="0"/>
                <a:cs typeface="Times New Roman" panose="02020603050405020304" pitchFamily="18" charset="0"/>
              </a:rPr>
              <a:t>public function update(Request $request)    {   $request-&gt;user()    }</a:t>
            </a:r>
          </a:p>
        </p:txBody>
      </p:sp>
    </p:spTree>
    <p:extLst>
      <p:ext uri="{BB962C8B-B14F-4D97-AF65-F5344CB8AC3E}">
        <p14:creationId xmlns:p14="http://schemas.microsoft.com/office/powerpoint/2010/main" val="1944977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User is Authenticated or not</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To determine if the user making the incoming HTTP request is authenticated, you may use the check method on the Auth facade. This method will return true if the user is authenticated:</a:t>
            </a:r>
          </a:p>
          <a:p>
            <a:pPr marL="0" indent="0">
              <a:buNone/>
            </a:pPr>
            <a:r>
              <a:rPr lang="en-US" sz="2400" dirty="0">
                <a:latin typeface="Times New Roman" panose="02020603050405020304" pitchFamily="18" charset="0"/>
                <a:cs typeface="Times New Roman" panose="02020603050405020304" pitchFamily="18" charset="0"/>
              </a:rPr>
              <a:t>use Illuminate\Support\Facades\Auth;</a:t>
            </a:r>
          </a:p>
          <a:p>
            <a:pPr marL="0" indent="0">
              <a:buNone/>
            </a:pPr>
            <a:r>
              <a:rPr lang="en-US" sz="2400" dirty="0">
                <a:latin typeface="Times New Roman" panose="02020603050405020304" pitchFamily="18" charset="0"/>
                <a:cs typeface="Times New Roman" panose="02020603050405020304" pitchFamily="18" charset="0"/>
              </a:rPr>
              <a:t>if (Auth::check()) {</a:t>
            </a:r>
          </a:p>
          <a:p>
            <a:pPr marL="0" indent="0">
              <a:buNone/>
            </a:pPr>
            <a:r>
              <a:rPr lang="en-US" sz="2400" dirty="0">
                <a:latin typeface="Times New Roman" panose="02020603050405020304" pitchFamily="18" charset="0"/>
                <a:cs typeface="Times New Roman" panose="02020603050405020304" pitchFamily="18" charset="0"/>
              </a:rPr>
              <a:t>    // The user is logged in...</a:t>
            </a:r>
          </a:p>
          <a:p>
            <a:pPr marL="0" indent="0">
              <a:buNone/>
            </a:pP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05341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Protecting Routes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Route middleware can be used to only allow authenticated users to access a given route. </a:t>
            </a:r>
          </a:p>
          <a:p>
            <a:pPr marL="0" indent="0">
              <a:buNone/>
            </a:pPr>
            <a:r>
              <a:rPr lang="en-US" sz="2400" dirty="0">
                <a:latin typeface="Times New Roman" panose="02020603050405020304" pitchFamily="18" charset="0"/>
                <a:cs typeface="Times New Roman" panose="02020603050405020304" pitchFamily="18" charset="0"/>
              </a:rPr>
              <a:t>Laravel ships with an auth middleware, which references the Illuminate\Auth\Middleware\Authenticate class. </a:t>
            </a:r>
          </a:p>
          <a:p>
            <a:pPr marL="0" indent="0">
              <a:buNone/>
            </a:pPr>
            <a:r>
              <a:rPr lang="en-US" sz="2400" dirty="0">
                <a:latin typeface="Times New Roman" panose="02020603050405020304" pitchFamily="18" charset="0"/>
                <a:cs typeface="Times New Roman" panose="02020603050405020304" pitchFamily="18" charset="0"/>
              </a:rPr>
              <a:t>Since this middleware is already registered in your application's HTTP kernel, all you need to do is attach the middleware to a route definition.</a:t>
            </a:r>
          </a:p>
          <a:p>
            <a:pPr marL="0" indent="0">
              <a:buNone/>
            </a:pPr>
            <a:r>
              <a:rPr lang="en-US" sz="2400" dirty="0">
                <a:latin typeface="Times New Roman" panose="02020603050405020304" pitchFamily="18" charset="0"/>
                <a:cs typeface="Times New Roman" panose="02020603050405020304" pitchFamily="18" charset="0"/>
              </a:rPr>
              <a:t>Route::get(‘/report', function () {</a:t>
            </a:r>
          </a:p>
          <a:p>
            <a:pPr marL="0" indent="0">
              <a:buNone/>
            </a:pPr>
            <a:r>
              <a:rPr lang="en-US" sz="2400" dirty="0">
                <a:latin typeface="Times New Roman" panose="02020603050405020304" pitchFamily="18" charset="0"/>
                <a:cs typeface="Times New Roman" panose="02020603050405020304" pitchFamily="18" charset="0"/>
              </a:rPr>
              <a:t>    // Only authenticated users may access this route...</a:t>
            </a:r>
          </a:p>
          <a:p>
            <a:pPr marL="0" indent="0">
              <a:buNone/>
            </a:pPr>
            <a:r>
              <a:rPr lang="en-US" sz="2400" dirty="0">
                <a:latin typeface="Times New Roman" panose="02020603050405020304" pitchFamily="18" charset="0"/>
                <a:cs typeface="Times New Roman" panose="02020603050405020304" pitchFamily="18" charset="0"/>
              </a:rPr>
              <a:t>})-&gt;middleware('auth');</a:t>
            </a:r>
          </a:p>
        </p:txBody>
      </p:sp>
    </p:spTree>
    <p:extLst>
      <p:ext uri="{BB962C8B-B14F-4D97-AF65-F5344CB8AC3E}">
        <p14:creationId xmlns:p14="http://schemas.microsoft.com/office/powerpoint/2010/main" val="1539418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Redirecting Unauthenticated User</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When the auth middleware detects an unauthenticated user, it will redirect the user to the login named route. </a:t>
            </a:r>
          </a:p>
          <a:p>
            <a:pPr marL="0" indent="0">
              <a:buNone/>
            </a:pPr>
            <a:r>
              <a:rPr lang="en-US" sz="2400" dirty="0">
                <a:latin typeface="Times New Roman" panose="02020603050405020304" pitchFamily="18" charset="0"/>
                <a:cs typeface="Times New Roman" panose="02020603050405020304" pitchFamily="18" charset="0"/>
              </a:rPr>
              <a:t>You may modify this behavior by updating the </a:t>
            </a:r>
            <a:r>
              <a:rPr lang="en-US" sz="2400" dirty="0" err="1">
                <a:latin typeface="Times New Roman" panose="02020603050405020304" pitchFamily="18" charset="0"/>
                <a:cs typeface="Times New Roman" panose="02020603050405020304" pitchFamily="18" charset="0"/>
              </a:rPr>
              <a:t>redirectTo</a:t>
            </a:r>
            <a:r>
              <a:rPr lang="en-US" sz="2400" dirty="0">
                <a:latin typeface="Times New Roman" panose="02020603050405020304" pitchFamily="18" charset="0"/>
                <a:cs typeface="Times New Roman" panose="02020603050405020304" pitchFamily="18" charset="0"/>
              </a:rPr>
              <a:t> function in your application's app/Http/Middleware/</a:t>
            </a:r>
            <a:r>
              <a:rPr lang="en-US" sz="2400" dirty="0" err="1">
                <a:latin typeface="Times New Roman" panose="02020603050405020304" pitchFamily="18" charset="0"/>
                <a:cs typeface="Times New Roman" panose="02020603050405020304" pitchFamily="18" charset="0"/>
              </a:rPr>
              <a:t>Authenticate.php</a:t>
            </a:r>
            <a:r>
              <a:rPr lang="en-US" sz="2400" dirty="0">
                <a:latin typeface="Times New Roman" panose="02020603050405020304" pitchFamily="18" charset="0"/>
                <a:cs typeface="Times New Roman" panose="02020603050405020304" pitchFamily="18" charset="0"/>
              </a:rPr>
              <a:t> file.</a:t>
            </a:r>
          </a:p>
          <a:p>
            <a:pPr marL="0" indent="0">
              <a:buNone/>
            </a:pPr>
            <a:r>
              <a:rPr lang="en-US" sz="2400" dirty="0">
                <a:latin typeface="Times New Roman" panose="02020603050405020304" pitchFamily="18" charset="0"/>
                <a:cs typeface="Times New Roman" panose="02020603050405020304" pitchFamily="18" charset="0"/>
              </a:rPr>
              <a:t>protected function </a:t>
            </a:r>
            <a:r>
              <a:rPr lang="en-US" sz="2400" dirty="0" err="1">
                <a:latin typeface="Times New Roman" panose="02020603050405020304" pitchFamily="18" charset="0"/>
                <a:cs typeface="Times New Roman" panose="02020603050405020304" pitchFamily="18" charset="0"/>
              </a:rPr>
              <a:t>redirectTo</a:t>
            </a:r>
            <a:r>
              <a:rPr lang="en-US" sz="2400" dirty="0">
                <a:latin typeface="Times New Roman" panose="02020603050405020304" pitchFamily="18" charset="0"/>
                <a:cs typeface="Times New Roman" panose="02020603050405020304" pitchFamily="18" charset="0"/>
              </a:rPr>
              <a:t>($request)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    return route('login');</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6250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Login Throttling</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If you are using the Laravel Breeze or Laravel Jetstream starter kits, rate limiting will automatically be applied to login attempts. </a:t>
            </a:r>
          </a:p>
          <a:p>
            <a:pPr marL="0" indent="0">
              <a:buNone/>
            </a:pPr>
            <a:r>
              <a:rPr lang="en-US" sz="2400" dirty="0">
                <a:latin typeface="Times New Roman" panose="02020603050405020304" pitchFamily="18" charset="0"/>
                <a:cs typeface="Times New Roman" panose="02020603050405020304" pitchFamily="18" charset="0"/>
              </a:rPr>
              <a:t>By default, the user will not be able to login for one minute if they fail to provide the correct credentials after several attempts. </a:t>
            </a:r>
          </a:p>
          <a:p>
            <a:pPr marL="0" indent="0">
              <a:buNone/>
            </a:pPr>
            <a:r>
              <a:rPr lang="en-US" sz="2400" dirty="0">
                <a:latin typeface="Times New Roman" panose="02020603050405020304" pitchFamily="18" charset="0"/>
                <a:cs typeface="Times New Roman" panose="02020603050405020304" pitchFamily="18" charset="0"/>
              </a:rPr>
              <a:t>The throttling is unique to the user's username / email address and their IP address.</a:t>
            </a:r>
          </a:p>
        </p:txBody>
      </p:sp>
    </p:spTree>
    <p:extLst>
      <p:ext uri="{BB962C8B-B14F-4D97-AF65-F5344CB8AC3E}">
        <p14:creationId xmlns:p14="http://schemas.microsoft.com/office/powerpoint/2010/main" val="3593553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Remembering User</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Many web applications provide a "remember me" checkbox on their login form. </a:t>
            </a:r>
          </a:p>
          <a:p>
            <a:pPr marL="0" indent="0">
              <a:buNone/>
            </a:pPr>
            <a:r>
              <a:rPr lang="en-US" sz="2000" dirty="0">
                <a:latin typeface="Times New Roman" panose="02020603050405020304" pitchFamily="18" charset="0"/>
                <a:cs typeface="Times New Roman" panose="02020603050405020304" pitchFamily="18" charset="0"/>
              </a:rPr>
              <a:t>If you would like to provide "remember me" functionality in your application, you may pass a </a:t>
            </a:r>
            <a:r>
              <a:rPr lang="en-US" sz="2000" dirty="0" err="1">
                <a:latin typeface="Times New Roman" panose="02020603050405020304" pitchFamily="18" charset="0"/>
                <a:cs typeface="Times New Roman" panose="02020603050405020304" pitchFamily="18" charset="0"/>
              </a:rPr>
              <a:t>boolean</a:t>
            </a:r>
            <a:r>
              <a:rPr lang="en-US" sz="2000" dirty="0">
                <a:latin typeface="Times New Roman" panose="02020603050405020304" pitchFamily="18" charset="0"/>
                <a:cs typeface="Times New Roman" panose="02020603050405020304" pitchFamily="18" charset="0"/>
              </a:rPr>
              <a:t> value as the second argument to the attempt method.</a:t>
            </a:r>
          </a:p>
          <a:p>
            <a:pPr marL="0" indent="0">
              <a:buNone/>
            </a:pPr>
            <a:r>
              <a:rPr lang="en-US" sz="2000" dirty="0">
                <a:latin typeface="Times New Roman" panose="02020603050405020304" pitchFamily="18" charset="0"/>
                <a:cs typeface="Times New Roman" panose="02020603050405020304" pitchFamily="18" charset="0"/>
              </a:rPr>
              <a:t>When this value is true, Laravel will keep the user authenticated indefinitely or until they manually logout. </a:t>
            </a:r>
          </a:p>
          <a:p>
            <a:pPr marL="0" indent="0">
              <a:buNone/>
            </a:pPr>
            <a:r>
              <a:rPr lang="en-US" sz="2000" dirty="0">
                <a:latin typeface="Times New Roman" panose="02020603050405020304" pitchFamily="18" charset="0"/>
                <a:cs typeface="Times New Roman" panose="02020603050405020304" pitchFamily="18" charset="0"/>
              </a:rPr>
              <a:t>Your users table must include the string </a:t>
            </a:r>
            <a:r>
              <a:rPr lang="en-US" sz="2000" dirty="0" err="1">
                <a:latin typeface="Times New Roman" panose="02020603050405020304" pitchFamily="18" charset="0"/>
                <a:cs typeface="Times New Roman" panose="02020603050405020304" pitchFamily="18" charset="0"/>
              </a:rPr>
              <a:t>remember_token</a:t>
            </a:r>
            <a:r>
              <a:rPr lang="en-US" sz="2000" dirty="0">
                <a:latin typeface="Times New Roman" panose="02020603050405020304" pitchFamily="18" charset="0"/>
                <a:cs typeface="Times New Roman" panose="02020603050405020304" pitchFamily="18" charset="0"/>
              </a:rPr>
              <a:t> column, which will be used to store the "remember me" token. </a:t>
            </a:r>
          </a:p>
          <a:p>
            <a:pPr marL="0" indent="0">
              <a:buNone/>
            </a:pPr>
            <a:r>
              <a:rPr lang="en-US" sz="2000" dirty="0">
                <a:latin typeface="Times New Roman" panose="02020603050405020304" pitchFamily="18" charset="0"/>
                <a:cs typeface="Times New Roman" panose="02020603050405020304" pitchFamily="18" charset="0"/>
              </a:rPr>
              <a:t>The users table migration included with new Laravel applications already includes this column.</a:t>
            </a:r>
          </a:p>
          <a:p>
            <a:pPr marL="0" indent="0">
              <a:buNone/>
            </a:pPr>
            <a:r>
              <a:rPr lang="en-US" sz="2000" dirty="0">
                <a:latin typeface="Times New Roman" panose="02020603050405020304" pitchFamily="18" charset="0"/>
                <a:cs typeface="Times New Roman" panose="02020603050405020304" pitchFamily="18" charset="0"/>
              </a:rPr>
              <a:t>use Illuminate\Support\Facades\Auth;</a:t>
            </a:r>
          </a:p>
          <a:p>
            <a:pPr marL="0" indent="0">
              <a:buNone/>
            </a:pPr>
            <a:r>
              <a:rPr lang="en-US" sz="2000" dirty="0">
                <a:latin typeface="Times New Roman" panose="02020603050405020304" pitchFamily="18" charset="0"/>
                <a:cs typeface="Times New Roman" panose="02020603050405020304" pitchFamily="18" charset="0"/>
              </a:rPr>
              <a:t>if (Auth::attempt(['email' =&gt; $email, 'password' =&gt; $password], $remember)) {</a:t>
            </a:r>
          </a:p>
          <a:p>
            <a:pPr marL="0" indent="0">
              <a:buNone/>
            </a:pPr>
            <a:r>
              <a:rPr lang="en-US" sz="2000" dirty="0">
                <a:latin typeface="Times New Roman" panose="02020603050405020304" pitchFamily="18" charset="0"/>
                <a:cs typeface="Times New Roman" panose="02020603050405020304" pitchFamily="18" charset="0"/>
              </a:rPr>
              <a:t>    // The user is being remembered.</a:t>
            </a:r>
          </a:p>
          <a:p>
            <a:pPr marL="0" indent="0">
              <a:buNone/>
            </a:pP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94303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Logging Out</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To manually log users out of your application, you may use the logout method provided by the Auth facade. This will remove the authentication information from the user's session so that subsequent requests are not authenticated.</a:t>
            </a:r>
          </a:p>
          <a:p>
            <a:pPr marL="0" indent="0">
              <a:buNone/>
            </a:pPr>
            <a:r>
              <a:rPr lang="en-US" sz="2000" dirty="0">
                <a:latin typeface="Times New Roman" panose="02020603050405020304" pitchFamily="18" charset="0"/>
                <a:cs typeface="Times New Roman" panose="02020603050405020304" pitchFamily="18" charset="0"/>
              </a:rPr>
              <a:t>In addition to calling the logout method, it is recommended that you invalidate the user's session and regenerate their CSRF token. After logging the user out, you would typically redirect the user to the root of your application.</a:t>
            </a:r>
          </a:p>
          <a:p>
            <a:pPr marL="0" indent="0">
              <a:buNone/>
            </a:pPr>
            <a:r>
              <a:rPr lang="en-US" sz="2000" dirty="0">
                <a:latin typeface="Times New Roman" panose="02020603050405020304" pitchFamily="18" charset="0"/>
                <a:cs typeface="Times New Roman" panose="02020603050405020304" pitchFamily="18" charset="0"/>
              </a:rPr>
              <a:t>use Illuminate\Support\Facades\Auth;</a:t>
            </a:r>
          </a:p>
          <a:p>
            <a:pPr marL="0" indent="0">
              <a:buNone/>
            </a:pPr>
            <a:r>
              <a:rPr lang="en-US" sz="2000" dirty="0">
                <a:latin typeface="Times New Roman" panose="02020603050405020304" pitchFamily="18" charset="0"/>
                <a:cs typeface="Times New Roman" panose="02020603050405020304" pitchFamily="18" charset="0"/>
              </a:rPr>
              <a:t>public function logout(Request $request) {</a:t>
            </a:r>
          </a:p>
          <a:p>
            <a:pPr marL="0" indent="0">
              <a:buNone/>
            </a:pPr>
            <a:r>
              <a:rPr lang="en-US" sz="2000" dirty="0">
                <a:latin typeface="Times New Roman" panose="02020603050405020304" pitchFamily="18" charset="0"/>
                <a:cs typeface="Times New Roman" panose="02020603050405020304" pitchFamily="18" charset="0"/>
              </a:rPr>
              <a:t>    Auth::logout();</a:t>
            </a:r>
          </a:p>
          <a:p>
            <a:pPr marL="0" indent="0">
              <a:buNone/>
            </a:pPr>
            <a:r>
              <a:rPr lang="en-US" sz="2000" dirty="0">
                <a:latin typeface="Times New Roman" panose="02020603050405020304" pitchFamily="18" charset="0"/>
                <a:cs typeface="Times New Roman" panose="02020603050405020304" pitchFamily="18" charset="0"/>
              </a:rPr>
              <a:t>    $request-&gt;session()-&gt;invalidate();</a:t>
            </a:r>
          </a:p>
          <a:p>
            <a:pPr marL="0" indent="0">
              <a:buNone/>
            </a:pPr>
            <a:r>
              <a:rPr lang="en-US" sz="2000" dirty="0">
                <a:latin typeface="Times New Roman" panose="02020603050405020304" pitchFamily="18" charset="0"/>
                <a:cs typeface="Times New Roman" panose="02020603050405020304" pitchFamily="18" charset="0"/>
              </a:rPr>
              <a:t>    $request-&gt;session()-&gt;</a:t>
            </a:r>
            <a:r>
              <a:rPr lang="en-US" sz="2000" dirty="0" err="1">
                <a:latin typeface="Times New Roman" panose="02020603050405020304" pitchFamily="18" charset="0"/>
                <a:cs typeface="Times New Roman" panose="02020603050405020304" pitchFamily="18" charset="0"/>
              </a:rPr>
              <a:t>regenerateToken</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return redirect('/');</a:t>
            </a:r>
          </a:p>
          <a:p>
            <a:pPr marL="0" indent="0">
              <a:buNone/>
            </a:pP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45334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Login</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Change Login Attempts – </a:t>
            </a:r>
          </a:p>
          <a:p>
            <a:pPr marL="0" indent="0">
              <a:buNone/>
            </a:pPr>
            <a:r>
              <a:rPr lang="en-US" sz="2000" dirty="0">
                <a:latin typeface="Times New Roman" panose="02020603050405020304" pitchFamily="18" charset="0"/>
                <a:cs typeface="Times New Roman" panose="02020603050405020304" pitchFamily="18" charset="0"/>
              </a:rPr>
              <a:t>App\Http\Requests\Auth\</a:t>
            </a:r>
            <a:r>
              <a:rPr lang="en-US" sz="2000" dirty="0" err="1">
                <a:latin typeface="Times New Roman" panose="02020603050405020304" pitchFamily="18" charset="0"/>
                <a:cs typeface="Times New Roman" panose="02020603050405020304" pitchFamily="18" charset="0"/>
              </a:rPr>
              <a:t>LoginRequest.php</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public function </a:t>
            </a:r>
            <a:r>
              <a:rPr lang="en-US" sz="2000" dirty="0" err="1">
                <a:latin typeface="Times New Roman" panose="02020603050405020304" pitchFamily="18" charset="0"/>
                <a:cs typeface="Times New Roman" panose="02020603050405020304" pitchFamily="18" charset="0"/>
              </a:rPr>
              <a:t>ensureIsNotRateLimited</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 Change Login Attempts</a:t>
            </a:r>
          </a:p>
          <a:p>
            <a:pPr marL="0" indent="0">
              <a:buNone/>
            </a:pPr>
            <a:r>
              <a:rPr lang="en-US" sz="2000" dirty="0">
                <a:latin typeface="Times New Roman" panose="02020603050405020304" pitchFamily="18" charset="0"/>
                <a:cs typeface="Times New Roman" panose="02020603050405020304" pitchFamily="18" charset="0"/>
              </a:rPr>
              <a:t>        if (! </a:t>
            </a:r>
            <a:r>
              <a:rPr lang="en-US" sz="2000" dirty="0" err="1">
                <a:latin typeface="Times New Roman" panose="02020603050405020304" pitchFamily="18" charset="0"/>
                <a:cs typeface="Times New Roman" panose="02020603050405020304" pitchFamily="18" charset="0"/>
              </a:rPr>
              <a:t>RateLimiter</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tooManyAttempts</a:t>
            </a:r>
            <a:r>
              <a:rPr lang="en-US" sz="2000" dirty="0">
                <a:latin typeface="Times New Roman" panose="02020603050405020304" pitchFamily="18" charset="0"/>
                <a:cs typeface="Times New Roman" panose="02020603050405020304" pitchFamily="18" charset="0"/>
              </a:rPr>
              <a:t>($this-&gt;</a:t>
            </a:r>
            <a:r>
              <a:rPr lang="en-US" sz="2000" dirty="0" err="1">
                <a:latin typeface="Times New Roman" panose="02020603050405020304" pitchFamily="18" charset="0"/>
                <a:cs typeface="Times New Roman" panose="02020603050405020304" pitchFamily="18" charset="0"/>
              </a:rPr>
              <a:t>throttleKey</a:t>
            </a:r>
            <a:r>
              <a:rPr lang="en-US" sz="2000" dirty="0">
                <a:latin typeface="Times New Roman" panose="02020603050405020304" pitchFamily="18" charset="0"/>
                <a:cs typeface="Times New Roman" panose="02020603050405020304" pitchFamily="18" charset="0"/>
              </a:rPr>
              <a:t>(), 5)) {      return;       }</a:t>
            </a:r>
          </a:p>
          <a:p>
            <a:pPr marL="0" indent="0">
              <a:buNone/>
            </a:pPr>
            <a:r>
              <a:rPr lang="en-US" sz="2000" dirty="0">
                <a:latin typeface="Times New Roman" panose="02020603050405020304" pitchFamily="18" charset="0"/>
                <a:cs typeface="Times New Roman" panose="02020603050405020304" pitchFamily="18" charset="0"/>
              </a:rPr>
              <a:t>        event(new Lockout($this));</a:t>
            </a:r>
          </a:p>
          <a:p>
            <a:pPr marL="0" indent="0">
              <a:buNone/>
            </a:pPr>
            <a:r>
              <a:rPr lang="en-US" sz="2000" dirty="0">
                <a:latin typeface="Times New Roman" panose="02020603050405020304" pitchFamily="18" charset="0"/>
                <a:cs typeface="Times New Roman" panose="02020603050405020304" pitchFamily="18" charset="0"/>
              </a:rPr>
              <a:t>        $seconds = </a:t>
            </a:r>
            <a:r>
              <a:rPr lang="en-US" sz="2000" dirty="0" err="1">
                <a:latin typeface="Times New Roman" panose="02020603050405020304" pitchFamily="18" charset="0"/>
                <a:cs typeface="Times New Roman" panose="02020603050405020304" pitchFamily="18" charset="0"/>
              </a:rPr>
              <a:t>RateLimiter</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availableIn</a:t>
            </a:r>
            <a:r>
              <a:rPr lang="en-US" sz="2000" dirty="0">
                <a:latin typeface="Times New Roman" panose="02020603050405020304" pitchFamily="18" charset="0"/>
                <a:cs typeface="Times New Roman" panose="02020603050405020304" pitchFamily="18" charset="0"/>
              </a:rPr>
              <a:t>($this-&gt;</a:t>
            </a:r>
            <a:r>
              <a:rPr lang="en-US" sz="2000" dirty="0" err="1">
                <a:latin typeface="Times New Roman" panose="02020603050405020304" pitchFamily="18" charset="0"/>
                <a:cs typeface="Times New Roman" panose="02020603050405020304" pitchFamily="18" charset="0"/>
              </a:rPr>
              <a:t>throttleKey</a:t>
            </a:r>
            <a:r>
              <a:rPr lang="en-US" sz="2000" dirty="0">
                <a:latin typeface="Times New Roman" panose="02020603050405020304" pitchFamily="18" charset="0"/>
                <a:cs typeface="Times New Roman" panose="02020603050405020304" pitchFamily="18" charset="0"/>
              </a:rPr>
              <a:t>());	// Change Login Throttle Time</a:t>
            </a:r>
          </a:p>
          <a:p>
            <a:pPr marL="0" indent="0">
              <a:buNone/>
            </a:pPr>
            <a:r>
              <a:rPr lang="en-US" sz="2000" dirty="0">
                <a:latin typeface="Times New Roman" panose="02020603050405020304" pitchFamily="18" charset="0"/>
                <a:cs typeface="Times New Roman" panose="02020603050405020304" pitchFamily="18" charset="0"/>
              </a:rPr>
              <a:t>        throw </a:t>
            </a:r>
            <a:r>
              <a:rPr lang="en-US" sz="2000" dirty="0" err="1">
                <a:latin typeface="Times New Roman" panose="02020603050405020304" pitchFamily="18" charset="0"/>
                <a:cs typeface="Times New Roman" panose="02020603050405020304" pitchFamily="18" charset="0"/>
              </a:rPr>
              <a:t>ValidationException</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withMessages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'email' =&gt; trans('</a:t>
            </a:r>
            <a:r>
              <a:rPr lang="en-US" sz="2000" dirty="0" err="1">
                <a:latin typeface="Times New Roman" panose="02020603050405020304" pitchFamily="18" charset="0"/>
                <a:cs typeface="Times New Roman" panose="02020603050405020304" pitchFamily="18" charset="0"/>
              </a:rPr>
              <a:t>auth.throttle</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'seconds' =&gt; $seconds,</a:t>
            </a:r>
          </a:p>
          <a:p>
            <a:pPr marL="0" indent="0">
              <a:buNone/>
            </a:pPr>
            <a:r>
              <a:rPr lang="en-US" sz="2000" dirty="0">
                <a:latin typeface="Times New Roman" panose="02020603050405020304" pitchFamily="18" charset="0"/>
                <a:cs typeface="Times New Roman" panose="02020603050405020304" pitchFamily="18" charset="0"/>
              </a:rPr>
              <a:t>                'minutes' =&gt; ceil($seconds / 60),</a:t>
            </a:r>
          </a:p>
          <a:p>
            <a:pPr marL="0" indent="0">
              <a:buNone/>
            </a:pPr>
            <a:r>
              <a:rPr lang="en-US" sz="2000" dirty="0">
                <a:latin typeface="Times New Roman" panose="02020603050405020304" pitchFamily="18" charset="0"/>
                <a:cs typeface="Times New Roman" panose="02020603050405020304" pitchFamily="18" charset="0"/>
              </a:rPr>
              <a:t>            ]),    ]);    }</a:t>
            </a:r>
          </a:p>
        </p:txBody>
      </p:sp>
    </p:spTree>
    <p:extLst>
      <p:ext uri="{BB962C8B-B14F-4D97-AF65-F5344CB8AC3E}">
        <p14:creationId xmlns:p14="http://schemas.microsoft.com/office/powerpoint/2010/main" val="2256343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Authentication</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Change Authentication related Messages</a:t>
            </a:r>
          </a:p>
          <a:p>
            <a:pPr marL="0" indent="0">
              <a:buNone/>
            </a:pPr>
            <a:r>
              <a:rPr lang="en-US" sz="2400" dirty="0">
                <a:latin typeface="Times New Roman" panose="02020603050405020304" pitchFamily="18" charset="0"/>
                <a:cs typeface="Times New Roman" panose="02020603050405020304" pitchFamily="18" charset="0"/>
              </a:rPr>
              <a:t>resources/</a:t>
            </a:r>
            <a:r>
              <a:rPr lang="en-US" sz="2400" dirty="0" err="1">
                <a:latin typeface="Times New Roman" panose="02020603050405020304" pitchFamily="18" charset="0"/>
                <a:cs typeface="Times New Roman" panose="02020603050405020304" pitchFamily="18" charset="0"/>
              </a:rPr>
              <a:t>lang</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auth.php</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66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580</TotalTime>
  <Words>1037</Words>
  <Application>Microsoft Office PowerPoint</Application>
  <PresentationFormat>Widescreen</PresentationFormat>
  <Paragraphs>103</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Times New Roman</vt:lpstr>
      <vt:lpstr>Wingdings</vt:lpstr>
      <vt:lpstr>Office Theme</vt:lpstr>
      <vt:lpstr>Authentication</vt:lpstr>
      <vt:lpstr>Authentication</vt:lpstr>
      <vt:lpstr>Laravel Breeze</vt:lpstr>
      <vt:lpstr>Retrieving Authenticated User</vt:lpstr>
      <vt:lpstr>User is Authenticated or not</vt:lpstr>
      <vt:lpstr>Protecting Routes</vt:lpstr>
      <vt:lpstr>Redirecting Unauthenticated User</vt:lpstr>
      <vt:lpstr>Login Throttling</vt:lpstr>
      <vt:lpstr>Remembering User</vt:lpstr>
      <vt:lpstr>Logging Out</vt:lpstr>
      <vt:lpstr>Login</vt:lpstr>
      <vt:lpstr>Authentication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Install Laravel</dc:title>
  <dc:creator>RK</dc:creator>
  <cp:lastModifiedBy>RK</cp:lastModifiedBy>
  <cp:revision>109</cp:revision>
  <dcterms:created xsi:type="dcterms:W3CDTF">2020-01-16T07:28:28Z</dcterms:created>
  <dcterms:modified xsi:type="dcterms:W3CDTF">2021-04-22T08:34:57Z</dcterms:modified>
</cp:coreProperties>
</file>