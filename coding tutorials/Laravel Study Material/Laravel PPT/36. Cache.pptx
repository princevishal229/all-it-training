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6" r:id="rId2"/>
    <p:sldId id="283" r:id="rId3"/>
    <p:sldId id="294" r:id="rId4"/>
    <p:sldId id="295" r:id="rId5"/>
    <p:sldId id="291" r:id="rId6"/>
    <p:sldId id="292" r:id="rId7"/>
    <p:sldId id="279" r:id="rId8"/>
    <p:sldId id="281" r:id="rId9"/>
    <p:sldId id="285" r:id="rId10"/>
    <p:sldId id="293" r:id="rId11"/>
    <p:sldId id="284" r:id="rId12"/>
    <p:sldId id="289" r:id="rId13"/>
    <p:sldId id="290" r:id="rId14"/>
    <p:sldId id="277"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16"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C3F35-3C31-4FCC-B762-8FA83DB9484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DC11F85-AF32-484E-B7DE-BAD2167DF4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917C33E-110C-43CE-8805-5FD96AF6EB41}"/>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5" name="Footer Placeholder 4">
            <a:extLst>
              <a:ext uri="{FF2B5EF4-FFF2-40B4-BE49-F238E27FC236}">
                <a16:creationId xmlns:a16="http://schemas.microsoft.com/office/drawing/2014/main" id="{C41E970A-36AA-461D-BFF5-A7073A89A8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824AC1-CF3D-4264-B44C-4AC3694EAFFB}"/>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786153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29D500-4B8D-424C-8E02-B591E74EC53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0EC130C-93BE-4086-A02D-A4D7DF5A464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CB33FFA-4982-4138-A83F-360E42BC9F3D}"/>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5" name="Footer Placeholder 4">
            <a:extLst>
              <a:ext uri="{FF2B5EF4-FFF2-40B4-BE49-F238E27FC236}">
                <a16:creationId xmlns:a16="http://schemas.microsoft.com/office/drawing/2014/main" id="{F6E70961-FF6B-4014-ABD0-D52345560C5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CB84993-0B9F-4D18-A786-A001E4813A34}"/>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01319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F9AFEF-9148-490C-A07D-66025A3890E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95F19A05-8FC1-4F08-A6DF-48B5588EC69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706C234-7D79-4017-A28E-009351AFBF7A}"/>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5" name="Footer Placeholder 4">
            <a:extLst>
              <a:ext uri="{FF2B5EF4-FFF2-40B4-BE49-F238E27FC236}">
                <a16:creationId xmlns:a16="http://schemas.microsoft.com/office/drawing/2014/main" id="{24E09164-4C4A-4127-B3F2-BB08C8341E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FFD9619-5D24-4157-A6FD-5834D0A22E4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26931204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1FB17-9AD1-4F3B-AA4E-56593842DE4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4D886-9A3F-42F3-AB90-9B4FCED533B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BD4B41A-A242-49E8-8BC4-FCD743948B4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D2A4D90-D5C8-487E-B4C9-B9DE8D5915F6}"/>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6" name="Footer Placeholder 5">
            <a:extLst>
              <a:ext uri="{FF2B5EF4-FFF2-40B4-BE49-F238E27FC236}">
                <a16:creationId xmlns:a16="http://schemas.microsoft.com/office/drawing/2014/main" id="{596AE19E-19C8-4D55-9148-C3B99134A60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B966303-18AD-4792-A099-E495F2C519C3}"/>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3045879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287564-7E6D-44C1-8EAE-6A4E965C255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FE3F7CD-9F80-48DE-AC2D-8C68C18BCC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00FAB47-FABF-4808-B75D-EE89F7DDCE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8A02129-2ED0-4522-9D50-7E1E317320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21CDBFA-5E0F-4440-971C-EA63B08383E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D005AA4-F250-48C7-A79B-B9159994BE7C}"/>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8" name="Footer Placeholder 7">
            <a:extLst>
              <a:ext uri="{FF2B5EF4-FFF2-40B4-BE49-F238E27FC236}">
                <a16:creationId xmlns:a16="http://schemas.microsoft.com/office/drawing/2014/main" id="{A32781D2-D5BD-480F-BB83-53C263FB8D5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AC12F3E-3AE8-47A7-BA0C-210DE2BE59AE}"/>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4371725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CDEC-80DD-44FD-87ED-767C2FA308B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17292CCD-4B75-45FB-98A6-7358737527E3}"/>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4" name="Footer Placeholder 3">
            <a:extLst>
              <a:ext uri="{FF2B5EF4-FFF2-40B4-BE49-F238E27FC236}">
                <a16:creationId xmlns:a16="http://schemas.microsoft.com/office/drawing/2014/main" id="{8C9243F9-A523-4595-950A-A86EFB8DA91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A68C2E0-2E4D-4B36-979D-F2375420BBBA}"/>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0412807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CE46FD8-EC6C-42A7-98E1-FC56EEE826C4}"/>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3" name="Footer Placeholder 2">
            <a:extLst>
              <a:ext uri="{FF2B5EF4-FFF2-40B4-BE49-F238E27FC236}">
                <a16:creationId xmlns:a16="http://schemas.microsoft.com/office/drawing/2014/main" id="{B9E0800C-B826-41B4-A243-B36296B6496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1E187CB-862A-46BE-A68E-D4A82FE94C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1466768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8E107-3892-4E64-BDDA-CDF25A25C7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4A345D-808F-4F5C-A693-EE1BD803D67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EB5494-E2C2-4E1A-A55C-B6F965B43E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2032549-0479-4245-9491-0EDF264A8EFC}"/>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6" name="Footer Placeholder 5">
            <a:extLst>
              <a:ext uri="{FF2B5EF4-FFF2-40B4-BE49-F238E27FC236}">
                <a16:creationId xmlns:a16="http://schemas.microsoft.com/office/drawing/2014/main" id="{F42DB5CF-F4F7-4439-AE72-E5E794AF62C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F4244DC-B202-469A-AC18-C6FBC47C059C}"/>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47530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2DE7F-8D96-4394-B3C4-E90625F4DC4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FB5D2BA-AFFA-4D89-A128-DCEE73ADC9C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AF2A3167-3ED5-4E1C-95CA-2C0DA329317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09F1B83-D833-46FB-B8F9-FA04CBF20F50}"/>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6" name="Footer Placeholder 5">
            <a:extLst>
              <a:ext uri="{FF2B5EF4-FFF2-40B4-BE49-F238E27FC236}">
                <a16:creationId xmlns:a16="http://schemas.microsoft.com/office/drawing/2014/main" id="{76C36967-54F8-4897-9D64-D7332874BE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E926CB3-4534-4D33-B3B6-4717B20F3ADD}"/>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14809210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0591D-71AB-44B0-A8FF-8DA89DF43BE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399BF31-FDD0-4B03-9E4C-18FA15FB826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535DB6-B91A-42DA-8722-A16D02B6CBE5}"/>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5" name="Footer Placeholder 4">
            <a:extLst>
              <a:ext uri="{FF2B5EF4-FFF2-40B4-BE49-F238E27FC236}">
                <a16:creationId xmlns:a16="http://schemas.microsoft.com/office/drawing/2014/main" id="{8F704C1A-3BFB-4306-8451-0366BAB2FA8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E47995-D404-46E1-B86F-17C3C8B09EB0}"/>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2072496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B0D8ED-73E1-4FE3-BF6D-5D9C5BAF4C9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4F26129-7B22-402F-AFC8-1067547D087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2C7EC3-A12B-4D69-A61D-07E268ECD2FC}"/>
              </a:ext>
            </a:extLst>
          </p:cNvPr>
          <p:cNvSpPr>
            <a:spLocks noGrp="1"/>
          </p:cNvSpPr>
          <p:nvPr>
            <p:ph type="dt" sz="half" idx="10"/>
          </p:nvPr>
        </p:nvSpPr>
        <p:spPr/>
        <p:txBody>
          <a:bodyPr/>
          <a:lstStyle/>
          <a:p>
            <a:fld id="{D6424074-C14C-4063-9727-25396F45EE8B}" type="datetimeFigureOut">
              <a:rPr lang="en-US" smtClean="0"/>
              <a:t>4/29/2021</a:t>
            </a:fld>
            <a:endParaRPr lang="en-US"/>
          </a:p>
        </p:txBody>
      </p:sp>
      <p:sp>
        <p:nvSpPr>
          <p:cNvPr id="5" name="Footer Placeholder 4">
            <a:extLst>
              <a:ext uri="{FF2B5EF4-FFF2-40B4-BE49-F238E27FC236}">
                <a16:creationId xmlns:a16="http://schemas.microsoft.com/office/drawing/2014/main" id="{06BABADA-90D3-48E7-B44C-D632B1A8F3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0B1A7B-8555-421A-99B8-5ADAA6942206}"/>
              </a:ext>
            </a:extLst>
          </p:cNvPr>
          <p:cNvSpPr>
            <a:spLocks noGrp="1"/>
          </p:cNvSpPr>
          <p:nvPr>
            <p:ph type="sldNum" sz="quarter" idx="12"/>
          </p:nvPr>
        </p:nvSpPr>
        <p:spPr/>
        <p:txBody>
          <a:bodyPr/>
          <a:lstStyle/>
          <a:p>
            <a:fld id="{40727D84-FC1B-473D-99C4-9E18DD8D8E63}" type="slidenum">
              <a:rPr lang="en-US" smtClean="0"/>
              <a:t>‹#›</a:t>
            </a:fld>
            <a:endParaRPr lang="en-US"/>
          </a:p>
        </p:txBody>
      </p:sp>
    </p:spTree>
    <p:extLst>
      <p:ext uri="{BB962C8B-B14F-4D97-AF65-F5344CB8AC3E}">
        <p14:creationId xmlns:p14="http://schemas.microsoft.com/office/powerpoint/2010/main" val="31366605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8D4AD56-CD23-40BA-A489-EAD1F37F481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F3F5D0B-5BF7-4414-99DD-09FA3E5D69B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B946D8-FBAF-4329-8716-8812B9BA77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6424074-C14C-4063-9727-25396F45EE8B}" type="datetimeFigureOut">
              <a:rPr lang="en-US" smtClean="0"/>
              <a:t>4/29/2021</a:t>
            </a:fld>
            <a:endParaRPr lang="en-US"/>
          </a:p>
        </p:txBody>
      </p:sp>
      <p:sp>
        <p:nvSpPr>
          <p:cNvPr id="5" name="Footer Placeholder 4">
            <a:extLst>
              <a:ext uri="{FF2B5EF4-FFF2-40B4-BE49-F238E27FC236}">
                <a16:creationId xmlns:a16="http://schemas.microsoft.com/office/drawing/2014/main" id="{8AE5A8AF-D0BF-43C3-8DA2-2C1303E88F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843433D-FDF1-4749-8452-EE98C765555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0727D84-FC1B-473D-99C4-9E18DD8D8E63}" type="slidenum">
              <a:rPr lang="en-US" smtClean="0"/>
              <a:t>‹#›</a:t>
            </a:fld>
            <a:endParaRPr lang="en-US"/>
          </a:p>
        </p:txBody>
      </p:sp>
    </p:spTree>
    <p:extLst>
      <p:ext uri="{BB962C8B-B14F-4D97-AF65-F5344CB8AC3E}">
        <p14:creationId xmlns:p14="http://schemas.microsoft.com/office/powerpoint/2010/main" val="1921063491"/>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Your application's cache configuration file is located at config/</a:t>
            </a:r>
            <a:r>
              <a:rPr lang="en-US" sz="2400" dirty="0" err="1">
                <a:latin typeface="Times New Roman" panose="02020603050405020304" pitchFamily="18" charset="0"/>
                <a:cs typeface="Times New Roman" panose="02020603050405020304" pitchFamily="18" charset="0"/>
              </a:rPr>
              <a:t>cache.php</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By default, Laravel is configured to use the file cache driver, which stores the serialized, cached objects on the server's filesystem.</a:t>
            </a:r>
          </a:p>
          <a:p>
            <a:pPr marL="0" indent="0">
              <a:buNone/>
            </a:pPr>
            <a:r>
              <a:rPr lang="en-US" sz="2400" dirty="0">
                <a:latin typeface="Times New Roman" panose="02020603050405020304" pitchFamily="18" charset="0"/>
                <a:cs typeface="Times New Roman" panose="02020603050405020304" pitchFamily="18" charset="0"/>
              </a:rPr>
              <a:t>Laravel ships with several great drivers out of the box:</a:t>
            </a:r>
          </a:p>
          <a:p>
            <a:r>
              <a:rPr lang="en-US" sz="2400" dirty="0">
                <a:latin typeface="Times New Roman" panose="02020603050405020304" pitchFamily="18" charset="0"/>
                <a:cs typeface="Times New Roman" panose="02020603050405020304" pitchFamily="18" charset="0"/>
              </a:rPr>
              <a:t>file - cache are stored in storage/framework.</a:t>
            </a:r>
          </a:p>
          <a:p>
            <a:r>
              <a:rPr lang="en-US" sz="2400" dirty="0">
                <a:latin typeface="Times New Roman" panose="02020603050405020304" pitchFamily="18" charset="0"/>
                <a:cs typeface="Times New Roman" panose="02020603050405020304" pitchFamily="18" charset="0"/>
              </a:rPr>
              <a:t>database - cache are stored in a relational database.</a:t>
            </a:r>
          </a:p>
          <a:p>
            <a:r>
              <a:rPr lang="en-US" sz="2400" dirty="0" err="1">
                <a:latin typeface="Times New Roman" panose="02020603050405020304" pitchFamily="18" charset="0"/>
                <a:cs typeface="Times New Roman" panose="02020603050405020304" pitchFamily="18" charset="0"/>
              </a:rPr>
              <a:t>memcached</a:t>
            </a:r>
            <a:r>
              <a:rPr lang="en-US" sz="2400" dirty="0">
                <a:latin typeface="Times New Roman" panose="02020603050405020304" pitchFamily="18" charset="0"/>
                <a:cs typeface="Times New Roman" panose="02020603050405020304" pitchFamily="18" charset="0"/>
              </a:rPr>
              <a:t> / </a:t>
            </a:r>
            <a:r>
              <a:rPr lang="en-US" sz="2400" dirty="0" err="1">
                <a:latin typeface="Times New Roman" panose="02020603050405020304" pitchFamily="18" charset="0"/>
                <a:cs typeface="Times New Roman" panose="02020603050405020304" pitchFamily="18" charset="0"/>
              </a:rPr>
              <a:t>redis</a:t>
            </a:r>
            <a:r>
              <a:rPr lang="en-US" sz="2400" dirty="0">
                <a:latin typeface="Times New Roman" panose="02020603050405020304" pitchFamily="18" charset="0"/>
                <a:cs typeface="Times New Roman" panose="02020603050405020304" pitchFamily="18" charset="0"/>
              </a:rPr>
              <a:t> - cache are stored in one of these fast, cache based stores.</a:t>
            </a:r>
          </a:p>
          <a:p>
            <a:r>
              <a:rPr lang="en-US" sz="2400" dirty="0" err="1">
                <a:latin typeface="Times New Roman" panose="02020603050405020304" pitchFamily="18" charset="0"/>
                <a:cs typeface="Times New Roman" panose="02020603050405020304" pitchFamily="18" charset="0"/>
              </a:rPr>
              <a:t>dynamodb</a:t>
            </a:r>
            <a:r>
              <a:rPr lang="en-US" sz="2400" dirty="0">
                <a:latin typeface="Times New Roman" panose="02020603050405020304" pitchFamily="18" charset="0"/>
                <a:cs typeface="Times New Roman" panose="02020603050405020304" pitchFamily="18" charset="0"/>
              </a:rPr>
              <a:t> - cache are stored in AWS DynamoDB.</a:t>
            </a:r>
          </a:p>
          <a:p>
            <a:r>
              <a:rPr lang="en-US" sz="2400" dirty="0">
                <a:latin typeface="Times New Roman" panose="02020603050405020304" pitchFamily="18" charset="0"/>
                <a:cs typeface="Times New Roman" panose="02020603050405020304" pitchFamily="18" charset="0"/>
              </a:rPr>
              <a:t>array - cache are stored in a PHP array and will not be persisted.</a:t>
            </a:r>
          </a:p>
          <a:p>
            <a:endParaRPr lang="en-US" sz="2400" dirty="0">
              <a:latin typeface="Times New Roman" panose="02020603050405020304" pitchFamily="18" charset="0"/>
              <a:cs typeface="Times New Roman" panose="02020603050405020304" pitchFamily="18" charset="0"/>
            </a:endParaRPr>
          </a:p>
          <a:p>
            <a:pPr marL="0" indent="0">
              <a:buNone/>
            </a:pPr>
            <a:r>
              <a:rPr lang="en-US" sz="2400" dirty="0">
                <a:cs typeface="Times New Roman" panose="02020603050405020304" pitchFamily="18" charset="0"/>
              </a:rPr>
              <a:t>use Illuminate\Support\Facades\Cache;</a:t>
            </a:r>
          </a:p>
          <a:p>
            <a:pPr marL="0" indent="0">
              <a:buNone/>
            </a:pP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77048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3">
                                            <p:txEl>
                                              <p:pRg st="9" end="9"/>
                                            </p:txEl>
                                          </p:spTgt>
                                        </p:tgtEl>
                                        <p:attrNameLst>
                                          <p:attrName>style.visibility</p:attrName>
                                        </p:attrNameLst>
                                      </p:cBhvr>
                                      <p:to>
                                        <p:strVal val="visible"/>
                                      </p:to>
                                    </p:set>
                                    <p:animEffect transition="in" filter="fade">
                                      <p:cBhvr>
                                        <p:cTn id="47"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Storing Item in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There are two primary ways of working with cache data in Laravel: the global cache helper and Cache facade.</a:t>
            </a:r>
          </a:p>
          <a:p>
            <a:pPr marL="0" indent="0">
              <a:buNone/>
            </a:pPr>
            <a:r>
              <a:rPr lang="en-US" b="1" u="sng" dirty="0">
                <a:latin typeface="Times New Roman" panose="02020603050405020304" pitchFamily="18" charset="0"/>
                <a:cs typeface="Times New Roman" panose="02020603050405020304" pitchFamily="18" charset="0"/>
              </a:rPr>
              <a:t>Cache Facade</a:t>
            </a:r>
          </a:p>
          <a:p>
            <a:pPr marL="0" indent="0">
              <a:buNone/>
            </a:pPr>
            <a:r>
              <a:rPr lang="en-US" sz="2400" dirty="0">
                <a:latin typeface="Times New Roman" panose="02020603050405020304" pitchFamily="18" charset="0"/>
                <a:cs typeface="Times New Roman" panose="02020603050405020304" pitchFamily="18" charset="0"/>
              </a:rPr>
              <a:t>put() Method – You may use the put method on the Cache facade to store items in the cache.</a:t>
            </a:r>
          </a:p>
          <a:p>
            <a:pPr marL="0" indent="0">
              <a:buNone/>
            </a:pPr>
            <a:r>
              <a:rPr lang="en-US" sz="2400" dirty="0">
                <a:latin typeface="Times New Roman" panose="02020603050405020304" pitchFamily="18" charset="0"/>
                <a:cs typeface="Times New Roman" panose="02020603050405020304" pitchFamily="18" charset="0"/>
              </a:rPr>
              <a:t>Syntax:- Cache::put('key', 'value', $seconds = 10);</a:t>
            </a:r>
          </a:p>
          <a:p>
            <a:pPr marL="0" indent="0">
              <a:buNone/>
            </a:pPr>
            <a:r>
              <a:rPr lang="en-US" sz="2400" dirty="0">
                <a:latin typeface="Times New Roman" panose="02020603050405020304" pitchFamily="18" charset="0"/>
                <a:cs typeface="Times New Roman" panose="02020603050405020304" pitchFamily="18" charset="0"/>
              </a:rPr>
              <a:t>If the storage time is not passed to the put method, the item will be stored indefinitely:</a:t>
            </a:r>
          </a:p>
          <a:p>
            <a:pPr marL="0" indent="0">
              <a:buNone/>
            </a:pPr>
            <a:r>
              <a:rPr lang="en-US" sz="2400" dirty="0">
                <a:latin typeface="Times New Roman" panose="02020603050405020304" pitchFamily="18" charset="0"/>
                <a:cs typeface="Times New Roman" panose="02020603050405020304" pitchFamily="18" charset="0"/>
              </a:rPr>
              <a:t>Syntax:- Cache::put('key', 'value’);</a:t>
            </a:r>
          </a:p>
          <a:p>
            <a:pPr marL="0" indent="0">
              <a:buNone/>
            </a:pPr>
            <a:r>
              <a:rPr lang="en-US" sz="2400" dirty="0">
                <a:latin typeface="Times New Roman" panose="02020603050405020304" pitchFamily="18" charset="0"/>
                <a:cs typeface="Times New Roman" panose="02020603050405020304" pitchFamily="18" charset="0"/>
              </a:rPr>
              <a:t>Instead of passing the number of seconds as an integer, you may also pass a </a:t>
            </a:r>
            <a:r>
              <a:rPr lang="en-US" sz="2400" dirty="0" err="1">
                <a:latin typeface="Times New Roman" panose="02020603050405020304" pitchFamily="18" charset="0"/>
                <a:cs typeface="Times New Roman" panose="02020603050405020304" pitchFamily="18" charset="0"/>
              </a:rPr>
              <a:t>DateTime</a:t>
            </a:r>
            <a:r>
              <a:rPr lang="en-US" sz="2400" dirty="0">
                <a:latin typeface="Times New Roman" panose="02020603050405020304" pitchFamily="18" charset="0"/>
                <a:cs typeface="Times New Roman" panose="02020603050405020304" pitchFamily="18" charset="0"/>
              </a:rPr>
              <a:t> instance representing the desired expiration time of the cached item:</a:t>
            </a:r>
          </a:p>
          <a:p>
            <a:pPr marL="0" indent="0">
              <a:buNone/>
            </a:pPr>
            <a:r>
              <a:rPr lang="en-US" sz="2400" dirty="0">
                <a:latin typeface="Times New Roman" panose="02020603050405020304" pitchFamily="18" charset="0"/>
                <a:cs typeface="Times New Roman" panose="02020603050405020304" pitchFamily="18" charset="0"/>
              </a:rPr>
              <a:t>Syntax:- Cache::put('key', 'value', now()-&gt;</a:t>
            </a:r>
            <a:r>
              <a:rPr lang="en-US" sz="2400" dirty="0" err="1">
                <a:latin typeface="Times New Roman" panose="02020603050405020304" pitchFamily="18" charset="0"/>
                <a:cs typeface="Times New Roman" panose="02020603050405020304" pitchFamily="18" charset="0"/>
              </a:rPr>
              <a:t>addMinutes</a:t>
            </a:r>
            <a:r>
              <a:rPr lang="en-US" sz="2400"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1597957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Storing Item in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b="1" u="sng" dirty="0">
                <a:latin typeface="Times New Roman" panose="02020603050405020304" pitchFamily="18" charset="0"/>
                <a:cs typeface="Times New Roman" panose="02020603050405020304" pitchFamily="18" charset="0"/>
              </a:rPr>
              <a:t>Global Cache Helper</a:t>
            </a:r>
            <a:endParaRPr lang="en-US"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cache() function – This function is used to retrieve and store data via the cache. When the cache function is called with a single, string argument, it will return the value of the given key.</a:t>
            </a:r>
          </a:p>
          <a:p>
            <a:pPr marL="0" indent="0">
              <a:buNone/>
            </a:pPr>
            <a:r>
              <a:rPr lang="en-US" sz="2400" dirty="0">
                <a:latin typeface="Times New Roman" panose="02020603050405020304" pitchFamily="18" charset="0"/>
                <a:cs typeface="Times New Roman" panose="02020603050405020304" pitchFamily="18" charset="0"/>
              </a:rPr>
              <a:t>Syntax:- $value = cache('key’);</a:t>
            </a:r>
          </a:p>
          <a:p>
            <a:pPr marL="0" indent="0">
              <a:buNone/>
            </a:pPr>
            <a:r>
              <a:rPr lang="en-US" sz="2400" dirty="0">
                <a:latin typeface="Times New Roman" panose="02020603050405020304" pitchFamily="18" charset="0"/>
                <a:cs typeface="Times New Roman" panose="02020603050405020304" pitchFamily="18" charset="0"/>
              </a:rPr>
              <a:t>If you provide an array of key / value pairs and an expiration time to the function, it will store values in the cache for the specified duration.</a:t>
            </a:r>
          </a:p>
          <a:p>
            <a:pPr marL="0" indent="0">
              <a:buNone/>
            </a:pPr>
            <a:r>
              <a:rPr lang="en-US" sz="2400" dirty="0">
                <a:latin typeface="Times New Roman" panose="02020603050405020304" pitchFamily="18" charset="0"/>
                <a:cs typeface="Times New Roman" panose="02020603050405020304" pitchFamily="18" charset="0"/>
              </a:rPr>
              <a:t>Syntax:- </a:t>
            </a:r>
          </a:p>
          <a:p>
            <a:pPr marL="0" indent="0">
              <a:buNone/>
            </a:pPr>
            <a:r>
              <a:rPr lang="en-US" sz="2400" dirty="0">
                <a:latin typeface="Times New Roman" panose="02020603050405020304" pitchFamily="18" charset="0"/>
                <a:cs typeface="Times New Roman" panose="02020603050405020304" pitchFamily="18" charset="0"/>
              </a:rPr>
              <a:t>cache(['key' =&gt; 'value'], $seconds);</a:t>
            </a:r>
          </a:p>
          <a:p>
            <a:pPr marL="0" indent="0">
              <a:buNone/>
            </a:pPr>
            <a:r>
              <a:rPr lang="en-US" sz="2400" dirty="0">
                <a:latin typeface="Times New Roman" panose="02020603050405020304" pitchFamily="18" charset="0"/>
                <a:cs typeface="Times New Roman" panose="02020603050405020304" pitchFamily="18" charset="0"/>
              </a:rPr>
              <a:t>cache(['key' =&gt; 'value'], now()-&gt;</a:t>
            </a:r>
            <a:r>
              <a:rPr lang="en-US" sz="2400" dirty="0" err="1">
                <a:latin typeface="Times New Roman" panose="02020603050405020304" pitchFamily="18" charset="0"/>
                <a:cs typeface="Times New Roman" panose="02020603050405020304" pitchFamily="18" charset="0"/>
              </a:rPr>
              <a:t>addMinutes</a:t>
            </a:r>
            <a:r>
              <a:rPr lang="en-US" sz="2400" dirty="0">
                <a:latin typeface="Times New Roman" panose="02020603050405020304" pitchFamily="18" charset="0"/>
                <a:cs typeface="Times New Roman" panose="02020603050405020304" pitchFamily="18" charset="0"/>
              </a:rPr>
              <a:t>(10));</a:t>
            </a:r>
          </a:p>
        </p:txBody>
      </p:sp>
    </p:spTree>
    <p:extLst>
      <p:ext uri="{BB962C8B-B14F-4D97-AF65-F5344CB8AC3E}">
        <p14:creationId xmlns:p14="http://schemas.microsoft.com/office/powerpoint/2010/main" val="29672639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Storing Item in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Autofit/>
          </a:bodyPr>
          <a:lstStyle/>
          <a:p>
            <a:pPr marL="0" indent="0">
              <a:buNone/>
            </a:pPr>
            <a:r>
              <a:rPr lang="en-US" b="1" u="sng" dirty="0">
                <a:latin typeface="Times New Roman" panose="02020603050405020304" pitchFamily="18" charset="0"/>
                <a:cs typeface="Times New Roman" panose="02020603050405020304" pitchFamily="18" charset="0"/>
              </a:rPr>
              <a:t>Global Cache Helper</a:t>
            </a:r>
            <a:endParaRPr lang="en-US" dirty="0">
              <a:latin typeface="Times New Roman" panose="02020603050405020304" pitchFamily="18" charset="0"/>
              <a:cs typeface="Times New Roman" panose="02020603050405020304" pitchFamily="18" charset="0"/>
            </a:endParaRPr>
          </a:p>
          <a:p>
            <a:pPr marL="0" indent="0">
              <a:buNone/>
            </a:pPr>
            <a:r>
              <a:rPr lang="en-US" sz="2400" dirty="0">
                <a:latin typeface="Times New Roman" panose="02020603050405020304" pitchFamily="18" charset="0"/>
                <a:cs typeface="Times New Roman" panose="02020603050405020304" pitchFamily="18" charset="0"/>
              </a:rPr>
              <a:t>When the cache function is called without any arguments, it returns an instance of the Illuminate\Contracts\Cache\Factory implementation, allowing you to call other caching methods.</a:t>
            </a:r>
          </a:p>
          <a:p>
            <a:pPr marL="0" indent="0">
              <a:buNone/>
            </a:pPr>
            <a:r>
              <a:rPr lang="en-US" sz="2400"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cache()-&gt;remember('users', $seconds, function () {</a:t>
            </a:r>
          </a:p>
          <a:p>
            <a:pPr marL="0" indent="0">
              <a:buNone/>
            </a:pPr>
            <a:r>
              <a:rPr lang="en-US" sz="2400" dirty="0">
                <a:latin typeface="Times New Roman" panose="02020603050405020304" pitchFamily="18" charset="0"/>
                <a:cs typeface="Times New Roman" panose="02020603050405020304" pitchFamily="18" charset="0"/>
              </a:rPr>
              <a:t>    return DB::table('users')-&gt;get();</a:t>
            </a:r>
          </a:p>
          <a:p>
            <a:pPr marL="0" indent="0">
              <a:buNone/>
            </a:pPr>
            <a:r>
              <a:rPr lang="en-US" sz="24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7626887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Storing Item If Not Present</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add() method – This method is used when you only add the item to the cache if it does not already exist in the cache store. The method will return true if the item is actually added to the cache. Otherwise, the method will return false.</a:t>
            </a:r>
          </a:p>
          <a:p>
            <a:pPr marL="0" indent="0">
              <a:buNone/>
            </a:pPr>
            <a:r>
              <a:rPr lang="en-US" sz="2400" dirty="0">
                <a:latin typeface="Times New Roman" panose="02020603050405020304" pitchFamily="18" charset="0"/>
                <a:cs typeface="Times New Roman" panose="02020603050405020304" pitchFamily="18" charset="0"/>
              </a:rPr>
              <a:t>Syntax:- Cache::add('key', 'value', $seconds);</a:t>
            </a:r>
          </a:p>
        </p:txBody>
      </p:sp>
    </p:spTree>
    <p:extLst>
      <p:ext uri="{BB962C8B-B14F-4D97-AF65-F5344CB8AC3E}">
        <p14:creationId xmlns:p14="http://schemas.microsoft.com/office/powerpoint/2010/main" val="4170959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Storing Item Forever</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forever() Method – This method is used to store an item in the cache permanently. Since these items will not expire, they must be manually removed from the cache using the forget method.</a:t>
            </a:r>
          </a:p>
          <a:p>
            <a:pPr marL="0" indent="0">
              <a:buNone/>
            </a:pPr>
            <a:r>
              <a:rPr lang="en-US" sz="2400" dirty="0">
                <a:latin typeface="Times New Roman" panose="02020603050405020304" pitchFamily="18" charset="0"/>
                <a:cs typeface="Times New Roman" panose="02020603050405020304" pitchFamily="18" charset="0"/>
              </a:rPr>
              <a:t>Syntax:- Cache::forever('key', 'value');</a:t>
            </a:r>
          </a:p>
        </p:txBody>
      </p:sp>
    </p:spTree>
    <p:extLst>
      <p:ext uri="{BB962C8B-B14F-4D97-AF65-F5344CB8AC3E}">
        <p14:creationId xmlns:p14="http://schemas.microsoft.com/office/powerpoint/2010/main" val="3014720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Items from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get () Method – The Cache facade's get method is used to retrieve items from the cache. If the item does not exist in the cache, null will be returned. If you wish, you may pass a second argument to the get method specifying the default value you wish to be returned if the item doesn't exist.</a:t>
            </a:r>
          </a:p>
          <a:p>
            <a:pPr marL="0" indent="0">
              <a:buNone/>
            </a:pPr>
            <a:r>
              <a:rPr lang="en-US" sz="2400" dirty="0">
                <a:latin typeface="Times New Roman" panose="02020603050405020304" pitchFamily="18" charset="0"/>
                <a:cs typeface="Times New Roman" panose="02020603050405020304" pitchFamily="18" charset="0"/>
              </a:rPr>
              <a:t>Syntax:-</a:t>
            </a:r>
          </a:p>
          <a:p>
            <a:pPr marL="0" indent="0">
              <a:buNone/>
            </a:pPr>
            <a:r>
              <a:rPr lang="en-US" sz="2400" dirty="0">
                <a:latin typeface="Times New Roman" panose="02020603050405020304" pitchFamily="18" charset="0"/>
                <a:cs typeface="Times New Roman" panose="02020603050405020304" pitchFamily="18" charset="0"/>
              </a:rPr>
              <a:t>Cache::get('key’);</a:t>
            </a:r>
          </a:p>
          <a:p>
            <a:pPr marL="0" indent="0">
              <a:buNone/>
            </a:pPr>
            <a:r>
              <a:rPr lang="en-US" sz="2400" dirty="0">
                <a:latin typeface="Times New Roman" panose="02020603050405020304" pitchFamily="18" charset="0"/>
                <a:cs typeface="Times New Roman" panose="02020603050405020304" pitchFamily="18" charset="0"/>
              </a:rPr>
              <a:t>Cache::get('key', '</a:t>
            </a:r>
            <a:r>
              <a:rPr lang="en-US" sz="2400" dirty="0" err="1">
                <a:latin typeface="Times New Roman" panose="02020603050405020304" pitchFamily="18" charset="0"/>
                <a:cs typeface="Times New Roman" panose="02020603050405020304" pitchFamily="18" charset="0"/>
              </a:rPr>
              <a:t>default_value</a:t>
            </a:r>
            <a:r>
              <a:rPr lang="en-US" sz="2400" dirty="0">
                <a:latin typeface="Times New Roman" panose="02020603050405020304" pitchFamily="18" charset="0"/>
                <a:cs typeface="Times New Roman" panose="02020603050405020304" pitchFamily="18" charset="0"/>
              </a:rPr>
              <a:t>’);</a:t>
            </a:r>
          </a:p>
          <a:p>
            <a:pPr marL="0" indent="0">
              <a:buNone/>
            </a:pPr>
            <a:r>
              <a:rPr lang="en-US" sz="2400" dirty="0">
                <a:latin typeface="Times New Roman" panose="02020603050405020304" pitchFamily="18" charset="0"/>
                <a:cs typeface="Times New Roman" panose="02020603050405020304" pitchFamily="18" charset="0"/>
              </a:rPr>
              <a:t>Cache::get('key’, callback);</a:t>
            </a:r>
          </a:p>
        </p:txBody>
      </p:sp>
    </p:spTree>
    <p:extLst>
      <p:ext uri="{BB962C8B-B14F-4D97-AF65-F5344CB8AC3E}">
        <p14:creationId xmlns:p14="http://schemas.microsoft.com/office/powerpoint/2010/main" val="24360025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Item Exists in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has() Method –  The has method may be used to determine if an item exists in the cache. This method will also return false if the item exists but its value is null.</a:t>
            </a:r>
          </a:p>
          <a:p>
            <a:pPr marL="0" indent="0">
              <a:buNone/>
            </a:pPr>
            <a:r>
              <a:rPr lang="en-US" sz="2400" dirty="0">
                <a:cs typeface="Times New Roman" panose="02020603050405020304" pitchFamily="18" charset="0"/>
              </a:rPr>
              <a:t>Syntax:-</a:t>
            </a:r>
          </a:p>
          <a:p>
            <a:pPr marL="0" indent="0">
              <a:buNone/>
            </a:pPr>
            <a:r>
              <a:rPr lang="en-US" sz="2400" dirty="0">
                <a:cs typeface="Times New Roman" panose="02020603050405020304" pitchFamily="18" charset="0"/>
              </a:rPr>
              <a:t>if (Cache::has('key')) {</a:t>
            </a:r>
          </a:p>
          <a:p>
            <a:pPr marL="0" indent="0">
              <a:buNone/>
            </a:pPr>
            <a:r>
              <a:rPr lang="en-US" sz="2400" dirty="0">
                <a:cs typeface="Times New Roman" panose="02020603050405020304" pitchFamily="18" charset="0"/>
              </a:rPr>
              <a:t>    //</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866816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Removing Items from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forget() Method – This method is used to remove items from the cache.</a:t>
            </a:r>
          </a:p>
          <a:p>
            <a:pPr marL="0" indent="0">
              <a:buNone/>
            </a:pPr>
            <a:r>
              <a:rPr lang="en-US" sz="2400" dirty="0">
                <a:latin typeface="Times New Roman" panose="02020603050405020304" pitchFamily="18" charset="0"/>
                <a:cs typeface="Times New Roman" panose="02020603050405020304" pitchFamily="18" charset="0"/>
              </a:rPr>
              <a:t>Syntax:- Cache::forget('key’);</a:t>
            </a:r>
          </a:p>
          <a:p>
            <a:pPr marL="0" indent="0">
              <a:buNone/>
            </a:pPr>
            <a:endParaRPr lang="en-US" sz="2400" dirty="0">
              <a:latin typeface="Times New Roman" panose="02020603050405020304" pitchFamily="18" charset="0"/>
              <a:cs typeface="Times New Roman" panose="02020603050405020304" pitchFamily="18" charset="0"/>
            </a:endParaRPr>
          </a:p>
          <a:p>
            <a:pPr marL="0" indent="0">
              <a:buNone/>
            </a:pPr>
            <a:r>
              <a:rPr lang="en-US" sz="2400" dirty="0">
                <a:cs typeface="Times New Roman" panose="02020603050405020304" pitchFamily="18" charset="0"/>
              </a:rPr>
              <a:t>You may also remove items by providing a zero or negative number of expiration seconds.</a:t>
            </a:r>
          </a:p>
          <a:p>
            <a:pPr marL="0" indent="0">
              <a:buNone/>
            </a:pPr>
            <a:r>
              <a:rPr lang="en-US" sz="2400" dirty="0">
                <a:cs typeface="Times New Roman" panose="02020603050405020304" pitchFamily="18" charset="0"/>
              </a:rPr>
              <a:t>Syntax:-</a:t>
            </a:r>
          </a:p>
          <a:p>
            <a:pPr marL="0" indent="0">
              <a:buNone/>
            </a:pPr>
            <a:r>
              <a:rPr lang="en-US" sz="2400" dirty="0">
                <a:cs typeface="Times New Roman" panose="02020603050405020304" pitchFamily="18" charset="0"/>
              </a:rPr>
              <a:t>Cache::put('key', 'value', 0);</a:t>
            </a:r>
          </a:p>
          <a:p>
            <a:pPr marL="0" indent="0">
              <a:buNone/>
            </a:pPr>
            <a:r>
              <a:rPr lang="en-US" sz="2400" dirty="0">
                <a:cs typeface="Times New Roman" panose="02020603050405020304" pitchFamily="18" charset="0"/>
              </a:rPr>
              <a:t>Cache::put('key', 'value', -5);</a:t>
            </a:r>
          </a:p>
        </p:txBody>
      </p:sp>
    </p:spTree>
    <p:extLst>
      <p:ext uri="{BB962C8B-B14F-4D97-AF65-F5344CB8AC3E}">
        <p14:creationId xmlns:p14="http://schemas.microsoft.com/office/powerpoint/2010/main" val="27874748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fad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Clear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flush() Method – This method is used to clear the entire cache.</a:t>
            </a:r>
          </a:p>
          <a:p>
            <a:pPr marL="0" indent="0">
              <a:buNone/>
            </a:pPr>
            <a:r>
              <a:rPr lang="en-US" sz="2400" dirty="0">
                <a:latin typeface="Times New Roman" panose="02020603050405020304" pitchFamily="18" charset="0"/>
                <a:cs typeface="Times New Roman" panose="02020603050405020304" pitchFamily="18" charset="0"/>
              </a:rPr>
              <a:t>Syntax:- Cache::flush();</a:t>
            </a:r>
            <a:endParaRPr lang="en-US" sz="2400" dirty="0">
              <a:cs typeface="Times New Roman" panose="02020603050405020304" pitchFamily="18" charset="0"/>
            </a:endParaRPr>
          </a:p>
        </p:txBody>
      </p:sp>
    </p:spTree>
    <p:extLst>
      <p:ext uri="{BB962C8B-B14F-4D97-AF65-F5344CB8AC3E}">
        <p14:creationId xmlns:p14="http://schemas.microsoft.com/office/powerpoint/2010/main" val="602382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&amp; Store Item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cs typeface="Times New Roman" panose="02020603050405020304" pitchFamily="18" charset="0"/>
              </a:rPr>
              <a:t>remember() – Sometimes you may wish to retrieve an item from the cache, but also store a default value if the requested item doesn't exist.</a:t>
            </a:r>
          </a:p>
          <a:p>
            <a:pPr marL="0" indent="0">
              <a:buNone/>
            </a:pPr>
            <a:r>
              <a:rPr lang="en-US" sz="2400" dirty="0">
                <a:cs typeface="Times New Roman" panose="02020603050405020304" pitchFamily="18" charset="0"/>
              </a:rPr>
              <a:t>$value = Cache::remember('users', $seconds, function () {</a:t>
            </a:r>
          </a:p>
          <a:p>
            <a:pPr marL="0" indent="0">
              <a:buNone/>
            </a:pPr>
            <a:r>
              <a:rPr lang="en-US" sz="2400" dirty="0">
                <a:cs typeface="Times New Roman" panose="02020603050405020304" pitchFamily="18" charset="0"/>
              </a:rPr>
              <a:t>    return DB::table('users')-&gt;get();</a:t>
            </a:r>
          </a:p>
          <a:p>
            <a:pPr marL="0" indent="0">
              <a:buNone/>
            </a:pPr>
            <a:r>
              <a:rPr lang="en-US" sz="2400" dirty="0">
                <a:cs typeface="Times New Roman" panose="02020603050405020304" pitchFamily="18" charset="0"/>
              </a:rPr>
              <a:t>});</a:t>
            </a:r>
          </a:p>
          <a:p>
            <a:pPr marL="0" indent="0">
              <a:buNone/>
            </a:pPr>
            <a:endParaRPr lang="en-US" sz="2400" dirty="0">
              <a:cs typeface="Times New Roman" panose="02020603050405020304" pitchFamily="18" charset="0"/>
            </a:endParaRPr>
          </a:p>
          <a:p>
            <a:pPr marL="0" indent="0">
              <a:buNone/>
            </a:pPr>
            <a:r>
              <a:rPr lang="en-US" sz="2400" dirty="0">
                <a:cs typeface="Times New Roman" panose="02020603050405020304" pitchFamily="18" charset="0"/>
              </a:rPr>
              <a:t>If the item does not exist in the cache, the closure passed to the remember method will be executed and its result will be placed in the cache.</a:t>
            </a:r>
          </a:p>
          <a:p>
            <a:pPr marL="0" indent="0">
              <a:buNone/>
            </a:pPr>
            <a:endParaRPr lang="en-US" sz="2400" dirty="0">
              <a:cs typeface="Times New Roman" panose="02020603050405020304" pitchFamily="18" charset="0"/>
            </a:endParaRPr>
          </a:p>
        </p:txBody>
      </p:sp>
    </p:spTree>
    <p:extLst>
      <p:ext uri="{BB962C8B-B14F-4D97-AF65-F5344CB8AC3E}">
        <p14:creationId xmlns:p14="http://schemas.microsoft.com/office/powerpoint/2010/main" val="2284717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&amp; Store Item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cs typeface="Times New Roman" panose="02020603050405020304" pitchFamily="18" charset="0"/>
              </a:rPr>
              <a:t>You may use the </a:t>
            </a:r>
            <a:r>
              <a:rPr lang="en-US" sz="2400" dirty="0" err="1">
                <a:cs typeface="Times New Roman" panose="02020603050405020304" pitchFamily="18" charset="0"/>
              </a:rPr>
              <a:t>rememberForever</a:t>
            </a:r>
            <a:r>
              <a:rPr lang="en-US" sz="2400" dirty="0">
                <a:cs typeface="Times New Roman" panose="02020603050405020304" pitchFamily="18" charset="0"/>
              </a:rPr>
              <a:t> method to retrieve an item from the cache or store it forever if it does not exist:</a:t>
            </a:r>
          </a:p>
          <a:p>
            <a:pPr marL="0" indent="0">
              <a:buNone/>
            </a:pPr>
            <a:r>
              <a:rPr lang="en-US" sz="2400" dirty="0">
                <a:cs typeface="Times New Roman" panose="02020603050405020304" pitchFamily="18" charset="0"/>
              </a:rPr>
              <a:t>$value = Cache::</a:t>
            </a:r>
            <a:r>
              <a:rPr lang="en-US" sz="2400" dirty="0" err="1">
                <a:cs typeface="Times New Roman" panose="02020603050405020304" pitchFamily="18" charset="0"/>
              </a:rPr>
              <a:t>rememberForever</a:t>
            </a:r>
            <a:r>
              <a:rPr lang="en-US" sz="2400" dirty="0">
                <a:cs typeface="Times New Roman" panose="02020603050405020304" pitchFamily="18" charset="0"/>
              </a:rPr>
              <a:t>('users', function () {</a:t>
            </a:r>
          </a:p>
          <a:p>
            <a:pPr marL="0" indent="0">
              <a:buNone/>
            </a:pPr>
            <a:r>
              <a:rPr lang="en-US" sz="2400" dirty="0">
                <a:cs typeface="Times New Roman" panose="02020603050405020304" pitchFamily="18" charset="0"/>
              </a:rPr>
              <a:t>    return DB::table('users')-&gt;get();</a:t>
            </a:r>
          </a:p>
          <a:p>
            <a:pPr marL="0" indent="0">
              <a:buNone/>
            </a:pPr>
            <a:r>
              <a:rPr lang="en-US" sz="2400" dirty="0">
                <a:cs typeface="Times New Roman" panose="02020603050405020304" pitchFamily="18" charset="0"/>
              </a:rPr>
              <a:t>});</a:t>
            </a:r>
          </a:p>
        </p:txBody>
      </p:sp>
    </p:spTree>
    <p:extLst>
      <p:ext uri="{BB962C8B-B14F-4D97-AF65-F5344CB8AC3E}">
        <p14:creationId xmlns:p14="http://schemas.microsoft.com/office/powerpoint/2010/main" val="2148864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Retrieving &amp; Delete Item</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cs typeface="Times New Roman" panose="02020603050405020304" pitchFamily="18" charset="0"/>
              </a:rPr>
              <a:t>If you need to retrieve an item from the cache and then delete the item, you may use the pull method. Like the get method, null will be returned if the item does not exist in the cache.</a:t>
            </a:r>
          </a:p>
          <a:p>
            <a:pPr marL="0" indent="0">
              <a:buNone/>
            </a:pPr>
            <a:r>
              <a:rPr lang="en-US" sz="2400" dirty="0">
                <a:cs typeface="Times New Roman" panose="02020603050405020304" pitchFamily="18" charset="0"/>
              </a:rPr>
              <a:t>$value = Cache::pull('key');</a:t>
            </a:r>
          </a:p>
        </p:txBody>
      </p:sp>
    </p:spTree>
    <p:extLst>
      <p:ext uri="{BB962C8B-B14F-4D97-AF65-F5344CB8AC3E}">
        <p14:creationId xmlns:p14="http://schemas.microsoft.com/office/powerpoint/2010/main" val="15462568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DEFC7-EEF6-4C2B-AC53-0840FDFCA324}"/>
              </a:ext>
            </a:extLst>
          </p:cNvPr>
          <p:cNvSpPr>
            <a:spLocks noGrp="1"/>
          </p:cNvSpPr>
          <p:nvPr>
            <p:ph type="title"/>
          </p:nvPr>
        </p:nvSpPr>
        <p:spPr>
          <a:xfrm>
            <a:off x="609600" y="33805"/>
            <a:ext cx="10972800" cy="1143000"/>
          </a:xfrm>
        </p:spPr>
        <p:txBody>
          <a:bodyPr>
            <a:normAutofit/>
          </a:bodyPr>
          <a:lstStyle/>
          <a:p>
            <a:pPr algn="ctr"/>
            <a:r>
              <a:rPr lang="en-US" sz="5333" b="1" u="sng" dirty="0">
                <a:latin typeface="Times New Roman" panose="02020603050405020304" pitchFamily="18" charset="0"/>
                <a:cs typeface="Times New Roman" panose="02020603050405020304" pitchFamily="18" charset="0"/>
              </a:rPr>
              <a:t>Database Cache</a:t>
            </a:r>
          </a:p>
        </p:txBody>
      </p:sp>
      <p:sp>
        <p:nvSpPr>
          <p:cNvPr id="3" name="Content Placeholder 2">
            <a:extLst>
              <a:ext uri="{FF2B5EF4-FFF2-40B4-BE49-F238E27FC236}">
                <a16:creationId xmlns:a16="http://schemas.microsoft.com/office/drawing/2014/main" id="{9F618A35-B0DE-4C8A-8367-917ACE64CD39}"/>
              </a:ext>
            </a:extLst>
          </p:cNvPr>
          <p:cNvSpPr>
            <a:spLocks noGrp="1"/>
          </p:cNvSpPr>
          <p:nvPr>
            <p:ph idx="1"/>
          </p:nvPr>
        </p:nvSpPr>
        <p:spPr>
          <a:xfrm>
            <a:off x="609600" y="1295400"/>
            <a:ext cx="10972800" cy="4978400"/>
          </a:xfrm>
        </p:spPr>
        <p:txBody>
          <a:bodyPr>
            <a:normAutofit/>
          </a:bodyPr>
          <a:lstStyle/>
          <a:p>
            <a:pPr marL="0" indent="0">
              <a:buNone/>
            </a:pPr>
            <a:r>
              <a:rPr lang="en-US" sz="2400" dirty="0">
                <a:latin typeface="Times New Roman" panose="02020603050405020304" pitchFamily="18" charset="0"/>
                <a:cs typeface="Times New Roman" panose="02020603050405020304" pitchFamily="18" charset="0"/>
              </a:rPr>
              <a:t>When using the database cache driver, you will need to setup a table to contain the cache items. </a:t>
            </a:r>
          </a:p>
          <a:p>
            <a:pPr marL="0" indent="0">
              <a:buNone/>
            </a:pPr>
            <a:r>
              <a:rPr lang="en-US" sz="2400" dirty="0">
                <a:latin typeface="Times New Roman" panose="02020603050405020304" pitchFamily="18" charset="0"/>
                <a:cs typeface="Times New Roman" panose="02020603050405020304" pitchFamily="18" charset="0"/>
              </a:rPr>
              <a:t>php artisan </a:t>
            </a:r>
            <a:r>
              <a:rPr lang="en-US" sz="2400" dirty="0" err="1">
                <a:latin typeface="Times New Roman" panose="02020603050405020304" pitchFamily="18" charset="0"/>
                <a:cs typeface="Times New Roman" panose="02020603050405020304" pitchFamily="18" charset="0"/>
              </a:rPr>
              <a:t>cache:table</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913817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528</TotalTime>
  <Words>1006</Words>
  <Application>Microsoft Office PowerPoint</Application>
  <PresentationFormat>Widescreen</PresentationFormat>
  <Paragraphs>82</Paragraphs>
  <Slides>14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vt:i4>
      </vt:variant>
    </vt:vector>
  </HeadingPairs>
  <TitlesOfParts>
    <vt:vector size="19" baseType="lpstr">
      <vt:lpstr>Arial</vt:lpstr>
      <vt:lpstr>Calibri</vt:lpstr>
      <vt:lpstr>Calibri Light</vt:lpstr>
      <vt:lpstr>Times New Roman</vt:lpstr>
      <vt:lpstr>Office Theme</vt:lpstr>
      <vt:lpstr>Cache</vt:lpstr>
      <vt:lpstr>Storing Item in Cache</vt:lpstr>
      <vt:lpstr>Storing Item in Cache</vt:lpstr>
      <vt:lpstr>Storing Item in Cache</vt:lpstr>
      <vt:lpstr>Storing Item If Not Present</vt:lpstr>
      <vt:lpstr>Storing Item Forever</vt:lpstr>
      <vt:lpstr>Retrieving Items from Cache</vt:lpstr>
      <vt:lpstr>Item Exists in Cache</vt:lpstr>
      <vt:lpstr>Removing Items from Cache</vt:lpstr>
      <vt:lpstr>Clear Cache</vt:lpstr>
      <vt:lpstr>Retrieving &amp; Store Item</vt:lpstr>
      <vt:lpstr>Retrieving &amp; Store Item</vt:lpstr>
      <vt:lpstr>Retrieving &amp; Delete Item</vt:lpstr>
      <vt:lpstr>Database Cache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How to Install Laravel</dc:title>
  <dc:creator>RK</dc:creator>
  <cp:lastModifiedBy>RK</cp:lastModifiedBy>
  <cp:revision>136</cp:revision>
  <dcterms:created xsi:type="dcterms:W3CDTF">2020-01-16T07:28:28Z</dcterms:created>
  <dcterms:modified xsi:type="dcterms:W3CDTF">2021-04-29T06:47:42Z</dcterms:modified>
</cp:coreProperties>
</file>