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260" r:id="rId3"/>
    <p:sldId id="258" r:id="rId4"/>
    <p:sldId id="270" r:id="rId5"/>
    <p:sldId id="269" r:id="rId6"/>
    <p:sldId id="263" r:id="rId7"/>
    <p:sldId id="264" r:id="rId8"/>
    <p:sldId id="259" r:id="rId9"/>
    <p:sldId id="275" r:id="rId10"/>
    <p:sldId id="291" r:id="rId11"/>
    <p:sldId id="293" r:id="rId12"/>
    <p:sldId id="294" r:id="rId13"/>
    <p:sldId id="295" r:id="rId14"/>
    <p:sldId id="296" r:id="rId15"/>
    <p:sldId id="297" r:id="rId16"/>
    <p:sldId id="298" r:id="rId17"/>
    <p:sldId id="300" r:id="rId18"/>
    <p:sldId id="287" r:id="rId19"/>
    <p:sldId id="265" r:id="rId20"/>
    <p:sldId id="292" r:id="rId21"/>
    <p:sldId id="285" r:id="rId22"/>
    <p:sldId id="280" r:id="rId23"/>
    <p:sldId id="28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C3F35-3C31-4FCC-B762-8FA83DB948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C11F85-AF32-484E-B7DE-BAD2167DF4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17C33E-110C-43CE-8805-5FD96AF6EB41}"/>
              </a:ext>
            </a:extLst>
          </p:cNvPr>
          <p:cNvSpPr>
            <a:spLocks noGrp="1"/>
          </p:cNvSpPr>
          <p:nvPr>
            <p:ph type="dt" sz="half" idx="10"/>
          </p:nvPr>
        </p:nvSpPr>
        <p:spPr/>
        <p:txBody>
          <a:bodyPr/>
          <a:lstStyle/>
          <a:p>
            <a:fld id="{D6424074-C14C-4063-9727-25396F45EE8B}" type="datetimeFigureOut">
              <a:rPr lang="en-US" smtClean="0"/>
              <a:t>4/20/2021</a:t>
            </a:fld>
            <a:endParaRPr lang="en-US"/>
          </a:p>
        </p:txBody>
      </p:sp>
      <p:sp>
        <p:nvSpPr>
          <p:cNvPr id="5" name="Footer Placeholder 4">
            <a:extLst>
              <a:ext uri="{FF2B5EF4-FFF2-40B4-BE49-F238E27FC236}">
                <a16:creationId xmlns:a16="http://schemas.microsoft.com/office/drawing/2014/main" id="{C41E970A-36AA-461D-BFF5-A7073A89A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24AC1-CF3D-4264-B44C-4AC3694EAFFB}"/>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786153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D500-4B8D-424C-8E02-B591E74EC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EC130C-93BE-4086-A02D-A4D7DF5A46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33FFA-4982-4138-A83F-360E42BC9F3D}"/>
              </a:ext>
            </a:extLst>
          </p:cNvPr>
          <p:cNvSpPr>
            <a:spLocks noGrp="1"/>
          </p:cNvSpPr>
          <p:nvPr>
            <p:ph type="dt" sz="half" idx="10"/>
          </p:nvPr>
        </p:nvSpPr>
        <p:spPr/>
        <p:txBody>
          <a:bodyPr/>
          <a:lstStyle/>
          <a:p>
            <a:fld id="{D6424074-C14C-4063-9727-25396F45EE8B}" type="datetimeFigureOut">
              <a:rPr lang="en-US" smtClean="0"/>
              <a:t>4/20/2021</a:t>
            </a:fld>
            <a:endParaRPr lang="en-US"/>
          </a:p>
        </p:txBody>
      </p:sp>
      <p:sp>
        <p:nvSpPr>
          <p:cNvPr id="5" name="Footer Placeholder 4">
            <a:extLst>
              <a:ext uri="{FF2B5EF4-FFF2-40B4-BE49-F238E27FC236}">
                <a16:creationId xmlns:a16="http://schemas.microsoft.com/office/drawing/2014/main" id="{F6E70961-FF6B-4014-ABD0-D52345560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84993-0B9F-4D18-A786-A001E4813A34}"/>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01319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9AFEF-9148-490C-A07D-66025A3890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F19A05-8FC1-4F08-A6DF-48B5588EC6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06C234-7D79-4017-A28E-009351AFBF7A}"/>
              </a:ext>
            </a:extLst>
          </p:cNvPr>
          <p:cNvSpPr>
            <a:spLocks noGrp="1"/>
          </p:cNvSpPr>
          <p:nvPr>
            <p:ph type="dt" sz="half" idx="10"/>
          </p:nvPr>
        </p:nvSpPr>
        <p:spPr/>
        <p:txBody>
          <a:bodyPr/>
          <a:lstStyle/>
          <a:p>
            <a:fld id="{D6424074-C14C-4063-9727-25396F45EE8B}" type="datetimeFigureOut">
              <a:rPr lang="en-US" smtClean="0"/>
              <a:t>4/20/2021</a:t>
            </a:fld>
            <a:endParaRPr lang="en-US"/>
          </a:p>
        </p:txBody>
      </p:sp>
      <p:sp>
        <p:nvSpPr>
          <p:cNvPr id="5" name="Footer Placeholder 4">
            <a:extLst>
              <a:ext uri="{FF2B5EF4-FFF2-40B4-BE49-F238E27FC236}">
                <a16:creationId xmlns:a16="http://schemas.microsoft.com/office/drawing/2014/main" id="{24E09164-4C4A-4127-B3F2-BB08C8341E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D9619-5D24-4157-A6FD-5834D0A22E4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26931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FB17-9AD1-4F3B-AA4E-56593842DE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C4D886-9A3F-42F3-AB90-9B4FCED533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D4B41A-A242-49E8-8BC4-FCD743948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2A4D90-D5C8-487E-B4C9-B9DE8D5915F6}"/>
              </a:ext>
            </a:extLst>
          </p:cNvPr>
          <p:cNvSpPr>
            <a:spLocks noGrp="1"/>
          </p:cNvSpPr>
          <p:nvPr>
            <p:ph type="dt" sz="half" idx="10"/>
          </p:nvPr>
        </p:nvSpPr>
        <p:spPr/>
        <p:txBody>
          <a:bodyPr/>
          <a:lstStyle/>
          <a:p>
            <a:fld id="{D6424074-C14C-4063-9727-25396F45EE8B}" type="datetimeFigureOut">
              <a:rPr lang="en-US" smtClean="0"/>
              <a:t>4/20/2021</a:t>
            </a:fld>
            <a:endParaRPr lang="en-US"/>
          </a:p>
        </p:txBody>
      </p:sp>
      <p:sp>
        <p:nvSpPr>
          <p:cNvPr id="6" name="Footer Placeholder 5">
            <a:extLst>
              <a:ext uri="{FF2B5EF4-FFF2-40B4-BE49-F238E27FC236}">
                <a16:creationId xmlns:a16="http://schemas.microsoft.com/office/drawing/2014/main" id="{596AE19E-19C8-4D55-9148-C3B99134A6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966303-18AD-4792-A099-E495F2C519C3}"/>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304587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7564-7E6D-44C1-8EAE-6A4E965C25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E3F7CD-9F80-48DE-AC2D-8C68C18BCC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0FAB47-FABF-4808-B75D-EE89F7DDCE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A02129-2ED0-4522-9D50-7E1E317320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1CDBFA-5E0F-4440-971C-EA63B08383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005AA4-F250-48C7-A79B-B9159994BE7C}"/>
              </a:ext>
            </a:extLst>
          </p:cNvPr>
          <p:cNvSpPr>
            <a:spLocks noGrp="1"/>
          </p:cNvSpPr>
          <p:nvPr>
            <p:ph type="dt" sz="half" idx="10"/>
          </p:nvPr>
        </p:nvSpPr>
        <p:spPr/>
        <p:txBody>
          <a:bodyPr/>
          <a:lstStyle/>
          <a:p>
            <a:fld id="{D6424074-C14C-4063-9727-25396F45EE8B}" type="datetimeFigureOut">
              <a:rPr lang="en-US" smtClean="0"/>
              <a:t>4/20/2021</a:t>
            </a:fld>
            <a:endParaRPr lang="en-US"/>
          </a:p>
        </p:txBody>
      </p:sp>
      <p:sp>
        <p:nvSpPr>
          <p:cNvPr id="8" name="Footer Placeholder 7">
            <a:extLst>
              <a:ext uri="{FF2B5EF4-FFF2-40B4-BE49-F238E27FC236}">
                <a16:creationId xmlns:a16="http://schemas.microsoft.com/office/drawing/2014/main" id="{A32781D2-D5BD-480F-BB83-53C263FB8D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C12F3E-3AE8-47A7-BA0C-210DE2BE59AE}"/>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437172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CDEC-80DD-44FD-87ED-767C2FA308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292CCD-4B75-45FB-98A6-7358737527E3}"/>
              </a:ext>
            </a:extLst>
          </p:cNvPr>
          <p:cNvSpPr>
            <a:spLocks noGrp="1"/>
          </p:cNvSpPr>
          <p:nvPr>
            <p:ph type="dt" sz="half" idx="10"/>
          </p:nvPr>
        </p:nvSpPr>
        <p:spPr/>
        <p:txBody>
          <a:bodyPr/>
          <a:lstStyle/>
          <a:p>
            <a:fld id="{D6424074-C14C-4063-9727-25396F45EE8B}" type="datetimeFigureOut">
              <a:rPr lang="en-US" smtClean="0"/>
              <a:t>4/20/2021</a:t>
            </a:fld>
            <a:endParaRPr lang="en-US"/>
          </a:p>
        </p:txBody>
      </p:sp>
      <p:sp>
        <p:nvSpPr>
          <p:cNvPr id="4" name="Footer Placeholder 3">
            <a:extLst>
              <a:ext uri="{FF2B5EF4-FFF2-40B4-BE49-F238E27FC236}">
                <a16:creationId xmlns:a16="http://schemas.microsoft.com/office/drawing/2014/main" id="{8C9243F9-A523-4595-950A-A86EFB8DA9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68C2E0-2E4D-4B36-979D-F2375420BBBA}"/>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041280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E46FD8-EC6C-42A7-98E1-FC56EEE826C4}"/>
              </a:ext>
            </a:extLst>
          </p:cNvPr>
          <p:cNvSpPr>
            <a:spLocks noGrp="1"/>
          </p:cNvSpPr>
          <p:nvPr>
            <p:ph type="dt" sz="half" idx="10"/>
          </p:nvPr>
        </p:nvSpPr>
        <p:spPr/>
        <p:txBody>
          <a:bodyPr/>
          <a:lstStyle/>
          <a:p>
            <a:fld id="{D6424074-C14C-4063-9727-25396F45EE8B}" type="datetimeFigureOut">
              <a:rPr lang="en-US" smtClean="0"/>
              <a:t>4/20/2021</a:t>
            </a:fld>
            <a:endParaRPr lang="en-US"/>
          </a:p>
        </p:txBody>
      </p:sp>
      <p:sp>
        <p:nvSpPr>
          <p:cNvPr id="3" name="Footer Placeholder 2">
            <a:extLst>
              <a:ext uri="{FF2B5EF4-FFF2-40B4-BE49-F238E27FC236}">
                <a16:creationId xmlns:a16="http://schemas.microsoft.com/office/drawing/2014/main" id="{B9E0800C-B826-41B4-A243-B36296B649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E187CB-862A-46BE-A68E-D4A82FE94C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146676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8E107-3892-4E64-BDDA-CDF25A25C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4A345D-808F-4F5C-A693-EE1BD803D6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EB5494-E2C2-4E1A-A55C-B6F965B43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032549-0479-4245-9491-0EDF264A8EFC}"/>
              </a:ext>
            </a:extLst>
          </p:cNvPr>
          <p:cNvSpPr>
            <a:spLocks noGrp="1"/>
          </p:cNvSpPr>
          <p:nvPr>
            <p:ph type="dt" sz="half" idx="10"/>
          </p:nvPr>
        </p:nvSpPr>
        <p:spPr/>
        <p:txBody>
          <a:bodyPr/>
          <a:lstStyle/>
          <a:p>
            <a:fld id="{D6424074-C14C-4063-9727-25396F45EE8B}" type="datetimeFigureOut">
              <a:rPr lang="en-US" smtClean="0"/>
              <a:t>4/20/2021</a:t>
            </a:fld>
            <a:endParaRPr lang="en-US"/>
          </a:p>
        </p:txBody>
      </p:sp>
      <p:sp>
        <p:nvSpPr>
          <p:cNvPr id="6" name="Footer Placeholder 5">
            <a:extLst>
              <a:ext uri="{FF2B5EF4-FFF2-40B4-BE49-F238E27FC236}">
                <a16:creationId xmlns:a16="http://schemas.microsoft.com/office/drawing/2014/main" id="{F42DB5CF-F4F7-4439-AE72-E5E794AF62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4244DC-B202-469A-AC18-C6FBC47C059C}"/>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4753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DE7F-8D96-4394-B3C4-E90625F4DC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B5D2BA-AFFA-4D89-A128-DCEE73ADC9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2A3167-3ED5-4E1C-95CA-2C0DA3293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F1B83-D833-46FB-B8F9-FA04CBF20F50}"/>
              </a:ext>
            </a:extLst>
          </p:cNvPr>
          <p:cNvSpPr>
            <a:spLocks noGrp="1"/>
          </p:cNvSpPr>
          <p:nvPr>
            <p:ph type="dt" sz="half" idx="10"/>
          </p:nvPr>
        </p:nvSpPr>
        <p:spPr/>
        <p:txBody>
          <a:bodyPr/>
          <a:lstStyle/>
          <a:p>
            <a:fld id="{D6424074-C14C-4063-9727-25396F45EE8B}" type="datetimeFigureOut">
              <a:rPr lang="en-US" smtClean="0"/>
              <a:t>4/20/2021</a:t>
            </a:fld>
            <a:endParaRPr lang="en-US"/>
          </a:p>
        </p:txBody>
      </p:sp>
      <p:sp>
        <p:nvSpPr>
          <p:cNvPr id="6" name="Footer Placeholder 5">
            <a:extLst>
              <a:ext uri="{FF2B5EF4-FFF2-40B4-BE49-F238E27FC236}">
                <a16:creationId xmlns:a16="http://schemas.microsoft.com/office/drawing/2014/main" id="{76C36967-54F8-4897-9D64-D7332874BE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926CB3-4534-4D33-B3B6-4717B20F3ADD}"/>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480921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0591D-71AB-44B0-A8FF-8DA89DF43B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99BF31-FDD0-4B03-9E4C-18FA15FB82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535DB6-B91A-42DA-8722-A16D02B6CBE5}"/>
              </a:ext>
            </a:extLst>
          </p:cNvPr>
          <p:cNvSpPr>
            <a:spLocks noGrp="1"/>
          </p:cNvSpPr>
          <p:nvPr>
            <p:ph type="dt" sz="half" idx="10"/>
          </p:nvPr>
        </p:nvSpPr>
        <p:spPr/>
        <p:txBody>
          <a:bodyPr/>
          <a:lstStyle/>
          <a:p>
            <a:fld id="{D6424074-C14C-4063-9727-25396F45EE8B}" type="datetimeFigureOut">
              <a:rPr lang="en-US" smtClean="0"/>
              <a:t>4/20/2021</a:t>
            </a:fld>
            <a:endParaRPr lang="en-US"/>
          </a:p>
        </p:txBody>
      </p:sp>
      <p:sp>
        <p:nvSpPr>
          <p:cNvPr id="5" name="Footer Placeholder 4">
            <a:extLst>
              <a:ext uri="{FF2B5EF4-FFF2-40B4-BE49-F238E27FC236}">
                <a16:creationId xmlns:a16="http://schemas.microsoft.com/office/drawing/2014/main" id="{8F704C1A-3BFB-4306-8451-0366BAB2FA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47995-D404-46E1-B86F-17C3C8B09E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72496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B0D8ED-73E1-4FE3-BF6D-5D9C5BAF4C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F26129-7B22-402F-AFC8-1067547D08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2C7EC3-A12B-4D69-A61D-07E268ECD2FC}"/>
              </a:ext>
            </a:extLst>
          </p:cNvPr>
          <p:cNvSpPr>
            <a:spLocks noGrp="1"/>
          </p:cNvSpPr>
          <p:nvPr>
            <p:ph type="dt" sz="half" idx="10"/>
          </p:nvPr>
        </p:nvSpPr>
        <p:spPr/>
        <p:txBody>
          <a:bodyPr/>
          <a:lstStyle/>
          <a:p>
            <a:fld id="{D6424074-C14C-4063-9727-25396F45EE8B}" type="datetimeFigureOut">
              <a:rPr lang="en-US" smtClean="0"/>
              <a:t>4/20/2021</a:t>
            </a:fld>
            <a:endParaRPr lang="en-US"/>
          </a:p>
        </p:txBody>
      </p:sp>
      <p:sp>
        <p:nvSpPr>
          <p:cNvPr id="5" name="Footer Placeholder 4">
            <a:extLst>
              <a:ext uri="{FF2B5EF4-FFF2-40B4-BE49-F238E27FC236}">
                <a16:creationId xmlns:a16="http://schemas.microsoft.com/office/drawing/2014/main" id="{06BABADA-90D3-48E7-B44C-D632B1A8F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B1A7B-8555-421A-99B8-5ADAA6942206}"/>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136660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4AD56-CD23-40BA-A489-EAD1F37F48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3F5D0B-5BF7-4414-99DD-09FA3E5D69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946D8-FBAF-4329-8716-8812B9BA77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424074-C14C-4063-9727-25396F45EE8B}" type="datetimeFigureOut">
              <a:rPr lang="en-US" smtClean="0"/>
              <a:t>4/20/2021</a:t>
            </a:fld>
            <a:endParaRPr lang="en-US"/>
          </a:p>
        </p:txBody>
      </p:sp>
      <p:sp>
        <p:nvSpPr>
          <p:cNvPr id="5" name="Footer Placeholder 4">
            <a:extLst>
              <a:ext uri="{FF2B5EF4-FFF2-40B4-BE49-F238E27FC236}">
                <a16:creationId xmlns:a16="http://schemas.microsoft.com/office/drawing/2014/main" id="{8AE5A8AF-D0BF-43C3-8DA2-2C1303E88F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43433D-FDF1-4749-8452-EE98C7655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727D84-FC1B-473D-99C4-9E18DD8D8E63}" type="slidenum">
              <a:rPr lang="en-US" smtClean="0"/>
              <a:t>‹#›</a:t>
            </a:fld>
            <a:endParaRPr lang="en-US"/>
          </a:p>
        </p:txBody>
      </p:sp>
    </p:spTree>
    <p:extLst>
      <p:ext uri="{BB962C8B-B14F-4D97-AF65-F5344CB8AC3E}">
        <p14:creationId xmlns:p14="http://schemas.microsoft.com/office/powerpoint/2010/main" val="1921063491"/>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Relationships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Eloquent relationships are defined as methods on your Eloquent model classes.</a:t>
            </a:r>
          </a:p>
          <a:p>
            <a:r>
              <a:rPr lang="en-US" sz="2400" dirty="0">
                <a:latin typeface="Times New Roman" panose="02020603050405020304" pitchFamily="18" charset="0"/>
                <a:cs typeface="Times New Roman" panose="02020603050405020304" pitchFamily="18" charset="0"/>
              </a:rPr>
              <a:t>One To One</a:t>
            </a:r>
          </a:p>
          <a:p>
            <a:r>
              <a:rPr lang="en-US" sz="2400" dirty="0">
                <a:latin typeface="Times New Roman" panose="02020603050405020304" pitchFamily="18" charset="0"/>
                <a:cs typeface="Times New Roman" panose="02020603050405020304" pitchFamily="18" charset="0"/>
              </a:rPr>
              <a:t>One To Many</a:t>
            </a:r>
          </a:p>
          <a:p>
            <a:r>
              <a:rPr lang="en-US" sz="2400" dirty="0">
                <a:latin typeface="Times New Roman" panose="02020603050405020304" pitchFamily="18" charset="0"/>
                <a:cs typeface="Times New Roman" panose="02020603050405020304" pitchFamily="18" charset="0"/>
              </a:rPr>
              <a:t>Has One Through</a:t>
            </a:r>
          </a:p>
          <a:p>
            <a:r>
              <a:rPr lang="en-US" sz="2400" dirty="0">
                <a:latin typeface="Times New Roman" panose="02020603050405020304" pitchFamily="18" charset="0"/>
                <a:cs typeface="Times New Roman" panose="02020603050405020304" pitchFamily="18" charset="0"/>
              </a:rPr>
              <a:t>Has Many Through</a:t>
            </a:r>
          </a:p>
          <a:p>
            <a:r>
              <a:rPr lang="en-US" sz="2400" dirty="0">
                <a:latin typeface="Times New Roman" panose="02020603050405020304" pitchFamily="18" charset="0"/>
                <a:cs typeface="Times New Roman" panose="02020603050405020304" pitchFamily="18" charset="0"/>
              </a:rPr>
              <a:t>Many To Many</a:t>
            </a:r>
          </a:p>
          <a:p>
            <a:r>
              <a:rPr lang="en-US" sz="2400" dirty="0">
                <a:latin typeface="Times New Roman" panose="02020603050405020304" pitchFamily="18" charset="0"/>
                <a:cs typeface="Times New Roman" panose="02020603050405020304" pitchFamily="18" charset="0"/>
              </a:rPr>
              <a:t>One To One (Polymorphic)</a:t>
            </a:r>
          </a:p>
          <a:p>
            <a:r>
              <a:rPr lang="en-US" sz="2400" dirty="0">
                <a:latin typeface="Times New Roman" panose="02020603050405020304" pitchFamily="18" charset="0"/>
                <a:cs typeface="Times New Roman" panose="02020603050405020304" pitchFamily="18" charset="0"/>
              </a:rPr>
              <a:t>One To Many (Polymorphic)</a:t>
            </a:r>
          </a:p>
          <a:p>
            <a:r>
              <a:rPr lang="en-US" sz="2400" dirty="0">
                <a:latin typeface="Times New Roman" panose="02020603050405020304" pitchFamily="18" charset="0"/>
                <a:cs typeface="Times New Roman" panose="02020603050405020304" pitchFamily="18" charset="0"/>
              </a:rPr>
              <a:t>Many To Many (Polymorphic)</a:t>
            </a:r>
          </a:p>
        </p:txBody>
      </p:sp>
    </p:spTree>
    <p:extLst>
      <p:ext uri="{BB962C8B-B14F-4D97-AF65-F5344CB8AC3E}">
        <p14:creationId xmlns:p14="http://schemas.microsoft.com/office/powerpoint/2010/main" val="1577048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1"/>
            <a:ext cx="10972800" cy="960439"/>
          </a:xfrm>
        </p:spPr>
        <p:txBody>
          <a:bodyPr>
            <a:normAutofit/>
          </a:bodyPr>
          <a:lstStyle/>
          <a:p>
            <a:pPr algn="ctr"/>
            <a:r>
              <a:rPr lang="en-US" b="1" u="sng" dirty="0">
                <a:latin typeface="Times New Roman" pitchFamily="18" charset="0"/>
                <a:cs typeface="Times New Roman" pitchFamily="18" charset="0"/>
              </a:rPr>
              <a:t>One to One Relationship</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l="14760" r="13194"/>
          <a:stretch/>
        </p:blipFill>
        <p:spPr>
          <a:xfrm>
            <a:off x="8391236" y="2392732"/>
            <a:ext cx="1780426" cy="2471242"/>
          </a:xfrm>
          <a:prstGeom prst="rect">
            <a:avLst/>
          </a:prstGeom>
          <a:ln>
            <a:noFill/>
          </a:ln>
          <a:effectLst>
            <a:softEdge rad="112500"/>
          </a:effectLst>
        </p:spPr>
      </p:pic>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15052" r="12902"/>
          <a:stretch/>
        </p:blipFill>
        <p:spPr>
          <a:xfrm>
            <a:off x="1898221" y="2285540"/>
            <a:ext cx="1780425" cy="2471242"/>
          </a:xfrm>
          <a:prstGeom prst="rect">
            <a:avLst/>
          </a:prstGeom>
          <a:ln>
            <a:noFill/>
          </a:ln>
          <a:effectLst>
            <a:softEdge rad="112500"/>
          </a:effectLst>
        </p:spPr>
      </p:pic>
      <p:sp>
        <p:nvSpPr>
          <p:cNvPr id="5" name="TextBox 4"/>
          <p:cNvSpPr txBox="1"/>
          <p:nvPr/>
        </p:nvSpPr>
        <p:spPr>
          <a:xfrm>
            <a:off x="2269701" y="4674146"/>
            <a:ext cx="1037463" cy="379656"/>
          </a:xfrm>
          <a:prstGeom prst="rect">
            <a:avLst/>
          </a:prstGeom>
          <a:noFill/>
        </p:spPr>
        <p:txBody>
          <a:bodyPr wrap="none" rtlCol="0">
            <a:spAutoFit/>
          </a:bodyPr>
          <a:lstStyle/>
          <a:p>
            <a:r>
              <a:rPr lang="en-US" sz="1867" dirty="0">
                <a:latin typeface="Times New Roman" pitchFamily="18" charset="0"/>
                <a:cs typeface="Times New Roman" pitchFamily="18" charset="0"/>
              </a:rPr>
              <a:t>Husband</a:t>
            </a:r>
          </a:p>
        </p:txBody>
      </p:sp>
      <p:sp>
        <p:nvSpPr>
          <p:cNvPr id="6" name="TextBox 5"/>
          <p:cNvSpPr txBox="1"/>
          <p:nvPr/>
        </p:nvSpPr>
        <p:spPr>
          <a:xfrm>
            <a:off x="8955077" y="4879584"/>
            <a:ext cx="652743" cy="379656"/>
          </a:xfrm>
          <a:prstGeom prst="rect">
            <a:avLst/>
          </a:prstGeom>
          <a:noFill/>
        </p:spPr>
        <p:txBody>
          <a:bodyPr wrap="none" rtlCol="0">
            <a:spAutoFit/>
          </a:bodyPr>
          <a:lstStyle/>
          <a:p>
            <a:r>
              <a:rPr lang="en-US" sz="1867" dirty="0">
                <a:latin typeface="Times New Roman" pitchFamily="18" charset="0"/>
                <a:cs typeface="Times New Roman" pitchFamily="18" charset="0"/>
              </a:rPr>
              <a:t>Wife</a:t>
            </a:r>
          </a:p>
        </p:txBody>
      </p:sp>
      <p:sp>
        <p:nvSpPr>
          <p:cNvPr id="7" name="Left-Right Arrow 6"/>
          <p:cNvSpPr/>
          <p:nvPr/>
        </p:nvSpPr>
        <p:spPr>
          <a:xfrm>
            <a:off x="4140810" y="3370366"/>
            <a:ext cx="3766581" cy="465698"/>
          </a:xfrm>
          <a:prstGeom prst="lef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2400"/>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82598" y="2912404"/>
            <a:ext cx="1650126" cy="1529117"/>
          </a:xfrm>
          <a:prstGeom prst="rect">
            <a:avLst/>
          </a:prstGeom>
        </p:spPr>
      </p:pic>
      <p:sp>
        <p:nvSpPr>
          <p:cNvPr id="10" name="Content Placeholder 1">
            <a:extLst>
              <a:ext uri="{FF2B5EF4-FFF2-40B4-BE49-F238E27FC236}">
                <a16:creationId xmlns:a16="http://schemas.microsoft.com/office/drawing/2014/main" id="{352981A1-B9E4-48D2-8A7E-6E075FE758CA}"/>
              </a:ext>
            </a:extLst>
          </p:cNvPr>
          <p:cNvSpPr>
            <a:spLocks noGrp="1"/>
          </p:cNvSpPr>
          <p:nvPr>
            <p:ph idx="1"/>
          </p:nvPr>
        </p:nvSpPr>
        <p:spPr>
          <a:xfrm>
            <a:off x="838200" y="1046055"/>
            <a:ext cx="10515600" cy="947972"/>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A one-to-one relationship is a very basic type of database relationship</a:t>
            </a:r>
            <a:r>
              <a:rPr lang="en-US" sz="200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642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arn(inVertical)">
                                      <p:cBhvr>
                                        <p:cTn id="28" dur="500"/>
                                        <p:tgtEl>
                                          <p:spTgt spid="7"/>
                                        </p:tgtEl>
                                      </p:cBhvr>
                                    </p:animEffect>
                                  </p:childTnLst>
                                </p:cTn>
                              </p:par>
                              <p:par>
                                <p:cTn id="29" presetID="16" presetClass="entr" presetSubtype="21"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arn(inVertical)">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1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itchFamily="18" charset="0"/>
                <a:cs typeface="Times New Roman" pitchFamily="18" charset="0"/>
              </a:rPr>
              <a:t>One to One Relationship</a:t>
            </a:r>
          </a:p>
        </p:txBody>
      </p:sp>
      <p:sp>
        <p:nvSpPr>
          <p:cNvPr id="3" name="Content Placeholder 2">
            <a:extLst>
              <a:ext uri="{FF2B5EF4-FFF2-40B4-BE49-F238E27FC236}">
                <a16:creationId xmlns:a16="http://schemas.microsoft.com/office/drawing/2014/main" id="{1C7DD53C-D323-40AA-B621-8C5B4B9E3FF9}"/>
              </a:ext>
            </a:extLst>
          </p:cNvPr>
          <p:cNvSpPr>
            <a:spLocks noGrp="1"/>
          </p:cNvSpPr>
          <p:nvPr>
            <p:ph idx="1"/>
          </p:nvPr>
        </p:nvSpPr>
        <p:spPr>
          <a:xfrm>
            <a:off x="838200" y="1253331"/>
            <a:ext cx="10515600" cy="5286806"/>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To define a one-to-one relationship, use </a:t>
            </a:r>
            <a:r>
              <a:rPr lang="en-US" sz="2400" b="1" dirty="0" err="1">
                <a:latin typeface="Times New Roman" panose="02020603050405020304" pitchFamily="18" charset="0"/>
                <a:cs typeface="Times New Roman" panose="02020603050405020304" pitchFamily="18" charset="0"/>
              </a:rPr>
              <a:t>hasOne</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method and return its result. The </a:t>
            </a:r>
            <a:r>
              <a:rPr lang="en-US" sz="2400" dirty="0" err="1">
                <a:latin typeface="Times New Roman" panose="02020603050405020304" pitchFamily="18" charset="0"/>
                <a:cs typeface="Times New Roman" panose="02020603050405020304" pitchFamily="18" charset="0"/>
              </a:rPr>
              <a:t>hasOne</a:t>
            </a:r>
            <a:r>
              <a:rPr lang="en-US" sz="2400" dirty="0">
                <a:latin typeface="Times New Roman" panose="02020603050405020304" pitchFamily="18" charset="0"/>
                <a:cs typeface="Times New Roman" panose="02020603050405020304" pitchFamily="18" charset="0"/>
              </a:rPr>
              <a:t> method is available to your model via the model's Illuminate\Database\Eloquent\Model base class.</a:t>
            </a:r>
          </a:p>
          <a:p>
            <a:pPr marL="0" indent="0">
              <a:buNone/>
            </a:pPr>
            <a:r>
              <a:rPr lang="en-US" sz="2400" dirty="0">
                <a:latin typeface="Times New Roman" panose="02020603050405020304" pitchFamily="18" charset="0"/>
                <a:cs typeface="Times New Roman" panose="02020603050405020304" pitchFamily="18" charset="0"/>
              </a:rPr>
              <a:t>Syntax:- </a:t>
            </a:r>
            <a:r>
              <a:rPr lang="en-US" sz="2400" dirty="0" err="1">
                <a:latin typeface="Times New Roman" panose="02020603050405020304" pitchFamily="18" charset="0"/>
                <a:cs typeface="Times New Roman" panose="02020603050405020304" pitchFamily="18" charset="0"/>
              </a:rPr>
              <a:t>hasOne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Model_Class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foreign_key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local_key</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Model Class Name - The name of the related model class. </a:t>
            </a:r>
          </a:p>
          <a:p>
            <a:pPr marL="0" indent="0">
              <a:buNone/>
            </a:pPr>
            <a:r>
              <a:rPr lang="en-US" sz="2400" dirty="0">
                <a:latin typeface="Times New Roman" panose="02020603050405020304" pitchFamily="18" charset="0"/>
                <a:cs typeface="Times New Roman" panose="02020603050405020304" pitchFamily="18" charset="0"/>
              </a:rPr>
              <a:t>Foreign Key - Eloquent determines the foreign key of the relationship based on the parent model name. If you wish to override this convention, you may pass a second argument to the </a:t>
            </a:r>
            <a:r>
              <a:rPr lang="en-US" sz="2400" dirty="0" err="1">
                <a:latin typeface="Times New Roman" panose="02020603050405020304" pitchFamily="18" charset="0"/>
                <a:cs typeface="Times New Roman" panose="02020603050405020304" pitchFamily="18" charset="0"/>
              </a:rPr>
              <a:t>hasOne</a:t>
            </a:r>
            <a:r>
              <a:rPr lang="en-US" sz="2400" dirty="0">
                <a:latin typeface="Times New Roman" panose="02020603050405020304" pitchFamily="18" charset="0"/>
                <a:cs typeface="Times New Roman" panose="02020603050405020304" pitchFamily="18" charset="0"/>
              </a:rPr>
              <a:t> method.</a:t>
            </a:r>
          </a:p>
          <a:p>
            <a:pPr marL="0" indent="0">
              <a:buNone/>
            </a:pPr>
            <a:r>
              <a:rPr lang="en-US" sz="2400" dirty="0">
                <a:latin typeface="Times New Roman" panose="02020603050405020304" pitchFamily="18" charset="0"/>
                <a:cs typeface="Times New Roman" panose="02020603050405020304" pitchFamily="18" charset="0"/>
              </a:rPr>
              <a:t>Local Key - Eloquent assumes that the foreign key should have a value matching the primary key column of the parent. If you would like the relationship to use a primary key value other than id or your model's $</a:t>
            </a:r>
            <a:r>
              <a:rPr lang="en-US" sz="2400" dirty="0" err="1">
                <a:latin typeface="Times New Roman" panose="02020603050405020304" pitchFamily="18" charset="0"/>
                <a:cs typeface="Times New Roman" panose="02020603050405020304" pitchFamily="18" charset="0"/>
              </a:rPr>
              <a:t>primaryKey</a:t>
            </a:r>
            <a:r>
              <a:rPr lang="en-US" sz="2400" dirty="0">
                <a:latin typeface="Times New Roman" panose="02020603050405020304" pitchFamily="18" charset="0"/>
                <a:cs typeface="Times New Roman" panose="02020603050405020304" pitchFamily="18" charset="0"/>
              </a:rPr>
              <a:t> property, you may pass a third argument to the </a:t>
            </a:r>
            <a:r>
              <a:rPr lang="en-US" sz="2400" dirty="0" err="1">
                <a:latin typeface="Times New Roman" panose="02020603050405020304" pitchFamily="18" charset="0"/>
                <a:cs typeface="Times New Roman" panose="02020603050405020304" pitchFamily="18" charset="0"/>
              </a:rPr>
              <a:t>hasOne</a:t>
            </a:r>
            <a:r>
              <a:rPr lang="en-US" sz="2400" dirty="0">
                <a:latin typeface="Times New Roman" panose="02020603050405020304" pitchFamily="18" charset="0"/>
                <a:cs typeface="Times New Roman" panose="02020603050405020304" pitchFamily="18" charset="0"/>
              </a:rPr>
              <a:t> method.</a:t>
            </a:r>
          </a:p>
        </p:txBody>
      </p:sp>
    </p:spTree>
    <p:extLst>
      <p:ext uri="{BB962C8B-B14F-4D97-AF65-F5344CB8AC3E}">
        <p14:creationId xmlns:p14="http://schemas.microsoft.com/office/powerpoint/2010/main" val="363402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anose="02020603050405020304" pitchFamily="18" charset="0"/>
                <a:cs typeface="Times New Roman" panose="02020603050405020304" pitchFamily="18" charset="0"/>
              </a:rPr>
              <a:t>Inverse of One to One Relationship</a:t>
            </a:r>
          </a:p>
        </p:txBody>
      </p:sp>
      <p:sp>
        <p:nvSpPr>
          <p:cNvPr id="3" name="Content Placeholder 2">
            <a:extLst>
              <a:ext uri="{FF2B5EF4-FFF2-40B4-BE49-F238E27FC236}">
                <a16:creationId xmlns:a16="http://schemas.microsoft.com/office/drawing/2014/main" id="{1C7DD53C-D323-40AA-B621-8C5B4B9E3FF9}"/>
              </a:ext>
            </a:extLst>
          </p:cNvPr>
          <p:cNvSpPr>
            <a:spLocks noGrp="1"/>
          </p:cNvSpPr>
          <p:nvPr>
            <p:ph idx="1"/>
          </p:nvPr>
        </p:nvSpPr>
        <p:spPr>
          <a:xfrm>
            <a:off x="838200" y="1253331"/>
            <a:ext cx="10515600" cy="5286806"/>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We can define the inverse of a </a:t>
            </a:r>
            <a:r>
              <a:rPr lang="en-US" sz="2400" dirty="0" err="1">
                <a:latin typeface="Times New Roman" panose="02020603050405020304" pitchFamily="18" charset="0"/>
                <a:cs typeface="Times New Roman" panose="02020603050405020304" pitchFamily="18" charset="0"/>
              </a:rPr>
              <a:t>hasOne</a:t>
            </a:r>
            <a:r>
              <a:rPr lang="en-US" sz="2400" dirty="0">
                <a:latin typeface="Times New Roman" panose="02020603050405020304" pitchFamily="18" charset="0"/>
                <a:cs typeface="Times New Roman" panose="02020603050405020304" pitchFamily="18" charset="0"/>
              </a:rPr>
              <a:t> relationship using the </a:t>
            </a:r>
            <a:r>
              <a:rPr lang="en-US" sz="2400" dirty="0" err="1">
                <a:latin typeface="Times New Roman" panose="02020603050405020304" pitchFamily="18" charset="0"/>
                <a:cs typeface="Times New Roman" panose="02020603050405020304" pitchFamily="18" charset="0"/>
              </a:rPr>
              <a:t>belongsTo</a:t>
            </a:r>
            <a:r>
              <a:rPr lang="en-US" sz="2400" dirty="0">
                <a:latin typeface="Times New Roman" panose="02020603050405020304" pitchFamily="18" charset="0"/>
                <a:cs typeface="Times New Roman" panose="02020603050405020304" pitchFamily="18" charset="0"/>
              </a:rPr>
              <a:t> method.</a:t>
            </a:r>
          </a:p>
          <a:p>
            <a:pPr marL="0" indent="0">
              <a:buNone/>
            </a:pPr>
            <a:r>
              <a:rPr lang="en-US" sz="2400" dirty="0">
                <a:latin typeface="Times New Roman" panose="02020603050405020304" pitchFamily="18" charset="0"/>
                <a:cs typeface="Times New Roman" panose="02020603050405020304" pitchFamily="18" charset="0"/>
              </a:rPr>
              <a:t>Syntax:- </a:t>
            </a:r>
            <a:r>
              <a:rPr lang="en-US" sz="2400" dirty="0" err="1">
                <a:latin typeface="Times New Roman" panose="02020603050405020304" pitchFamily="18" charset="0"/>
                <a:cs typeface="Times New Roman" panose="02020603050405020304" pitchFamily="18" charset="0"/>
              </a:rPr>
              <a:t>belongsTo</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Model_Class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foreign_key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owner_key</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Model Class Name - The name of the related model class. </a:t>
            </a:r>
          </a:p>
          <a:p>
            <a:pPr marL="0" indent="0">
              <a:buNone/>
            </a:pPr>
            <a:r>
              <a:rPr lang="en-US" sz="2400" dirty="0">
                <a:latin typeface="Times New Roman" panose="02020603050405020304" pitchFamily="18" charset="0"/>
                <a:cs typeface="Times New Roman" panose="02020603050405020304" pitchFamily="18" charset="0"/>
              </a:rPr>
              <a:t>Foreign Key - Eloquent determines the foreign key name by examining the name of the relationship method and suffixing the method name with _id. you may pass a custom key name as the second argument to the </a:t>
            </a:r>
            <a:r>
              <a:rPr lang="en-US" sz="2400" dirty="0" err="1">
                <a:latin typeface="Times New Roman" panose="02020603050405020304" pitchFamily="18" charset="0"/>
                <a:cs typeface="Times New Roman" panose="02020603050405020304" pitchFamily="18" charset="0"/>
              </a:rPr>
              <a:t>belongsTo</a:t>
            </a:r>
            <a:r>
              <a:rPr lang="en-US" sz="2400" dirty="0">
                <a:latin typeface="Times New Roman" panose="02020603050405020304" pitchFamily="18" charset="0"/>
                <a:cs typeface="Times New Roman" panose="02020603050405020304" pitchFamily="18" charset="0"/>
              </a:rPr>
              <a:t> method.</a:t>
            </a:r>
          </a:p>
          <a:p>
            <a:pPr marL="0" indent="0">
              <a:buNone/>
            </a:pPr>
            <a:r>
              <a:rPr lang="en-US" sz="2400" dirty="0">
                <a:latin typeface="Times New Roman" panose="02020603050405020304" pitchFamily="18" charset="0"/>
                <a:cs typeface="Times New Roman" panose="02020603050405020304" pitchFamily="18" charset="0"/>
              </a:rPr>
              <a:t>Owner Key - If the parent model does not use id as its primary key, or you wish to find the associated model using a different column, you may pass a third argument to the </a:t>
            </a:r>
            <a:r>
              <a:rPr lang="en-US" sz="2400" dirty="0" err="1">
                <a:latin typeface="Times New Roman" panose="02020603050405020304" pitchFamily="18" charset="0"/>
                <a:cs typeface="Times New Roman" panose="02020603050405020304" pitchFamily="18" charset="0"/>
              </a:rPr>
              <a:t>belongsTo</a:t>
            </a:r>
            <a:r>
              <a:rPr lang="en-US" sz="2400" dirty="0">
                <a:latin typeface="Times New Roman" panose="02020603050405020304" pitchFamily="18" charset="0"/>
                <a:cs typeface="Times New Roman" panose="02020603050405020304" pitchFamily="18" charset="0"/>
              </a:rPr>
              <a:t> method specifying the parent table's custom key.</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5627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itchFamily="18" charset="0"/>
                <a:cs typeface="Times New Roman" pitchFamily="18" charset="0"/>
              </a:rPr>
              <a:t>One to One Relationship</a:t>
            </a:r>
          </a:p>
        </p:txBody>
      </p:sp>
      <p:sp>
        <p:nvSpPr>
          <p:cNvPr id="3" name="Content Placeholder 2">
            <a:extLst>
              <a:ext uri="{FF2B5EF4-FFF2-40B4-BE49-F238E27FC236}">
                <a16:creationId xmlns:a16="http://schemas.microsoft.com/office/drawing/2014/main" id="{1C7DD53C-D323-40AA-B621-8C5B4B9E3FF9}"/>
              </a:ext>
            </a:extLst>
          </p:cNvPr>
          <p:cNvSpPr>
            <a:spLocks noGrp="1"/>
          </p:cNvSpPr>
          <p:nvPr>
            <p:ph idx="1"/>
          </p:nvPr>
        </p:nvSpPr>
        <p:spPr>
          <a:xfrm>
            <a:off x="838200" y="1253331"/>
            <a:ext cx="4768273" cy="5286806"/>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&lt;?php</a:t>
            </a:r>
          </a:p>
          <a:p>
            <a:pPr marL="0" indent="0">
              <a:buNone/>
            </a:pPr>
            <a:r>
              <a:rPr lang="en-US" sz="2000" dirty="0">
                <a:latin typeface="Times New Roman" panose="02020603050405020304" pitchFamily="18" charset="0"/>
                <a:cs typeface="Times New Roman" panose="02020603050405020304" pitchFamily="18" charset="0"/>
              </a:rPr>
              <a:t>namespace App\Models;</a:t>
            </a:r>
          </a:p>
          <a:p>
            <a:pPr marL="0" indent="0">
              <a:buNone/>
            </a:pPr>
            <a:r>
              <a:rPr lang="en-US" sz="2000" dirty="0">
                <a:latin typeface="Times New Roman" panose="02020603050405020304" pitchFamily="18" charset="0"/>
                <a:cs typeface="Times New Roman" panose="02020603050405020304" pitchFamily="18" charset="0"/>
              </a:rPr>
              <a:t>use Illuminate\Database\Eloquent\Model;</a:t>
            </a:r>
          </a:p>
          <a:p>
            <a:pPr marL="0" indent="0">
              <a:buNone/>
            </a:pPr>
            <a:r>
              <a:rPr lang="en-US" sz="2000" dirty="0">
                <a:latin typeface="Times New Roman" panose="02020603050405020304" pitchFamily="18" charset="0"/>
                <a:cs typeface="Times New Roman" panose="02020603050405020304" pitchFamily="18" charset="0"/>
              </a:rPr>
              <a:t>class Customer extends Model</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public function mobile()</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return $this-&gt;</a:t>
            </a:r>
            <a:r>
              <a:rPr lang="en-US" sz="2000" dirty="0" err="1">
                <a:latin typeface="Times New Roman" panose="02020603050405020304" pitchFamily="18" charset="0"/>
                <a:cs typeface="Times New Roman" panose="02020603050405020304" pitchFamily="18" charset="0"/>
              </a:rPr>
              <a:t>hasOne</a:t>
            </a:r>
            <a:r>
              <a:rPr lang="en-US" sz="2000" dirty="0">
                <a:latin typeface="Times New Roman" panose="02020603050405020304" pitchFamily="18" charset="0"/>
                <a:cs typeface="Times New Roman" panose="02020603050405020304" pitchFamily="18" charset="0"/>
              </a:rPr>
              <a:t>(Mobile::class);</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p:txBody>
      </p:sp>
      <p:sp>
        <p:nvSpPr>
          <p:cNvPr id="4" name="Content Placeholder 2">
            <a:extLst>
              <a:ext uri="{FF2B5EF4-FFF2-40B4-BE49-F238E27FC236}">
                <a16:creationId xmlns:a16="http://schemas.microsoft.com/office/drawing/2014/main" id="{1410D829-8EF5-46E8-BB6A-26E5B7FD5563}"/>
              </a:ext>
            </a:extLst>
          </p:cNvPr>
          <p:cNvSpPr txBox="1">
            <a:spLocks/>
          </p:cNvSpPr>
          <p:nvPr/>
        </p:nvSpPr>
        <p:spPr>
          <a:xfrm>
            <a:off x="6449291" y="1118394"/>
            <a:ext cx="5327073" cy="528680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Times New Roman" panose="02020603050405020304" pitchFamily="18" charset="0"/>
                <a:cs typeface="Times New Roman" panose="02020603050405020304" pitchFamily="18" charset="0"/>
              </a:rPr>
              <a:t>&lt;?php</a:t>
            </a:r>
          </a:p>
          <a:p>
            <a:pPr marL="0" indent="0">
              <a:buNone/>
            </a:pPr>
            <a:r>
              <a:rPr lang="en-US" sz="2000" dirty="0">
                <a:latin typeface="Times New Roman" panose="02020603050405020304" pitchFamily="18" charset="0"/>
                <a:cs typeface="Times New Roman" panose="02020603050405020304" pitchFamily="18" charset="0"/>
              </a:rPr>
              <a:t>namespace App\Models;</a:t>
            </a:r>
          </a:p>
          <a:p>
            <a:pPr marL="0" indent="0">
              <a:buNone/>
            </a:pPr>
            <a:r>
              <a:rPr lang="en-US" sz="2000" dirty="0">
                <a:latin typeface="Times New Roman" panose="02020603050405020304" pitchFamily="18" charset="0"/>
                <a:cs typeface="Times New Roman" panose="02020603050405020304" pitchFamily="18" charset="0"/>
              </a:rPr>
              <a:t>use Illuminate\Database\Eloquent\Model;</a:t>
            </a:r>
          </a:p>
          <a:p>
            <a:pPr marL="0" indent="0">
              <a:buNone/>
            </a:pPr>
            <a:r>
              <a:rPr lang="en-US" sz="2000" dirty="0">
                <a:latin typeface="Times New Roman" panose="02020603050405020304" pitchFamily="18" charset="0"/>
                <a:cs typeface="Times New Roman" panose="02020603050405020304" pitchFamily="18" charset="0"/>
              </a:rPr>
              <a:t>class Mobile extends Model</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public function customer()</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return $this-&gt;</a:t>
            </a:r>
            <a:r>
              <a:rPr lang="en-US" sz="2000" dirty="0" err="1">
                <a:latin typeface="Times New Roman" panose="02020603050405020304" pitchFamily="18" charset="0"/>
                <a:cs typeface="Times New Roman" panose="02020603050405020304" pitchFamily="18" charset="0"/>
              </a:rPr>
              <a:t>belongsTo</a:t>
            </a:r>
            <a:r>
              <a:rPr lang="en-US" sz="2000" dirty="0">
                <a:latin typeface="Times New Roman" panose="02020603050405020304" pitchFamily="18" charset="0"/>
                <a:cs typeface="Times New Roman" panose="02020603050405020304" pitchFamily="18" charset="0"/>
              </a:rPr>
              <a:t>(Customer ::class);</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10666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0" end="0"/>
                                            </p:txEl>
                                          </p:spTgt>
                                        </p:tgtEl>
                                        <p:attrNameLst>
                                          <p:attrName>style.visibility</p:attrName>
                                        </p:attrNameLst>
                                      </p:cBhvr>
                                      <p:to>
                                        <p:strVal val="visible"/>
                                      </p:to>
                                    </p:set>
                                    <p:animEffect transition="in" filter="fade">
                                      <p:cBhvr>
                                        <p:cTn id="57" dur="500"/>
                                        <p:tgtEl>
                                          <p:spTgt spid="4">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1" end="1"/>
                                            </p:txEl>
                                          </p:spTgt>
                                        </p:tgtEl>
                                        <p:attrNameLst>
                                          <p:attrName>style.visibility</p:attrName>
                                        </p:attrNameLst>
                                      </p:cBhvr>
                                      <p:to>
                                        <p:strVal val="visible"/>
                                      </p:to>
                                    </p:set>
                                    <p:animEffect transition="in" filter="fade">
                                      <p:cBhvr>
                                        <p:cTn id="62" dur="500"/>
                                        <p:tgtEl>
                                          <p:spTgt spid="4">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2" end="2"/>
                                            </p:txEl>
                                          </p:spTgt>
                                        </p:tgtEl>
                                        <p:attrNameLst>
                                          <p:attrName>style.visibility</p:attrName>
                                        </p:attrNameLst>
                                      </p:cBhvr>
                                      <p:to>
                                        <p:strVal val="visible"/>
                                      </p:to>
                                    </p:set>
                                    <p:animEffect transition="in" filter="fade">
                                      <p:cBhvr>
                                        <p:cTn id="67" dur="500"/>
                                        <p:tgtEl>
                                          <p:spTgt spid="4">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3" end="3"/>
                                            </p:txEl>
                                          </p:spTgt>
                                        </p:tgtEl>
                                        <p:attrNameLst>
                                          <p:attrName>style.visibility</p:attrName>
                                        </p:attrNameLst>
                                      </p:cBhvr>
                                      <p:to>
                                        <p:strVal val="visible"/>
                                      </p:to>
                                    </p:set>
                                    <p:animEffect transition="in" filter="fade">
                                      <p:cBhvr>
                                        <p:cTn id="72" dur="500"/>
                                        <p:tgtEl>
                                          <p:spTgt spid="4">
                                            <p:txEl>
                                              <p:pRg st="3" end="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4" end="4"/>
                                            </p:txEl>
                                          </p:spTgt>
                                        </p:tgtEl>
                                        <p:attrNameLst>
                                          <p:attrName>style.visibility</p:attrName>
                                        </p:attrNameLst>
                                      </p:cBhvr>
                                      <p:to>
                                        <p:strVal val="visible"/>
                                      </p:to>
                                    </p:set>
                                    <p:animEffect transition="in" filter="fade">
                                      <p:cBhvr>
                                        <p:cTn id="77" dur="500"/>
                                        <p:tgtEl>
                                          <p:spTgt spid="4">
                                            <p:txEl>
                                              <p:pRg st="4" end="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5" end="5"/>
                                            </p:txEl>
                                          </p:spTgt>
                                        </p:tgtEl>
                                        <p:attrNameLst>
                                          <p:attrName>style.visibility</p:attrName>
                                        </p:attrNameLst>
                                      </p:cBhvr>
                                      <p:to>
                                        <p:strVal val="visible"/>
                                      </p:to>
                                    </p:set>
                                    <p:animEffect transition="in" filter="fade">
                                      <p:cBhvr>
                                        <p:cTn id="82" dur="500"/>
                                        <p:tgtEl>
                                          <p:spTgt spid="4">
                                            <p:txEl>
                                              <p:pRg st="5" end="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
                                            <p:txEl>
                                              <p:pRg st="6" end="6"/>
                                            </p:txEl>
                                          </p:spTgt>
                                        </p:tgtEl>
                                        <p:attrNameLst>
                                          <p:attrName>style.visibility</p:attrName>
                                        </p:attrNameLst>
                                      </p:cBhvr>
                                      <p:to>
                                        <p:strVal val="visible"/>
                                      </p:to>
                                    </p:set>
                                    <p:animEffect transition="in" filter="fade">
                                      <p:cBhvr>
                                        <p:cTn id="87" dur="500"/>
                                        <p:tgtEl>
                                          <p:spTgt spid="4">
                                            <p:txEl>
                                              <p:pRg st="6" end="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
                                            <p:txEl>
                                              <p:pRg st="7" end="7"/>
                                            </p:txEl>
                                          </p:spTgt>
                                        </p:tgtEl>
                                        <p:attrNameLst>
                                          <p:attrName>style.visibility</p:attrName>
                                        </p:attrNameLst>
                                      </p:cBhvr>
                                      <p:to>
                                        <p:strVal val="visible"/>
                                      </p:to>
                                    </p:set>
                                    <p:animEffect transition="in" filter="fade">
                                      <p:cBhvr>
                                        <p:cTn id="92" dur="500"/>
                                        <p:tgtEl>
                                          <p:spTgt spid="4">
                                            <p:txEl>
                                              <p:pRg st="7" end="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4">
                                            <p:txEl>
                                              <p:pRg st="8" end="8"/>
                                            </p:txEl>
                                          </p:spTgt>
                                        </p:tgtEl>
                                        <p:attrNameLst>
                                          <p:attrName>style.visibility</p:attrName>
                                        </p:attrNameLst>
                                      </p:cBhvr>
                                      <p:to>
                                        <p:strVal val="visible"/>
                                      </p:to>
                                    </p:set>
                                    <p:animEffect transition="in" filter="fade">
                                      <p:cBhvr>
                                        <p:cTn id="97" dur="500"/>
                                        <p:tgtEl>
                                          <p:spTgt spid="4">
                                            <p:txEl>
                                              <p:pRg st="8" end="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4">
                                            <p:txEl>
                                              <p:pRg st="9" end="9"/>
                                            </p:txEl>
                                          </p:spTgt>
                                        </p:tgtEl>
                                        <p:attrNameLst>
                                          <p:attrName>style.visibility</p:attrName>
                                        </p:attrNameLst>
                                      </p:cBhvr>
                                      <p:to>
                                        <p:strVal val="visible"/>
                                      </p:to>
                                    </p:set>
                                    <p:animEffect transition="in" filter="fade">
                                      <p:cBhvr>
                                        <p:cTn id="102"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49992"/>
            <a:ext cx="10515600" cy="996063"/>
          </a:xfrm>
        </p:spPr>
        <p:txBody>
          <a:bodyPr>
            <a:normAutofit/>
          </a:bodyPr>
          <a:lstStyle/>
          <a:p>
            <a:pPr algn="ctr"/>
            <a:r>
              <a:rPr lang="en-US" b="1" u="sng" dirty="0">
                <a:latin typeface="Times New Roman" pitchFamily="18" charset="0"/>
                <a:cs typeface="Times New Roman" pitchFamily="18" charset="0"/>
              </a:rPr>
              <a:t>One to Many Relationship</a:t>
            </a:r>
          </a:p>
        </p:txBody>
      </p:sp>
      <p:sp>
        <p:nvSpPr>
          <p:cNvPr id="2" name="Content Placeholder 1">
            <a:extLst>
              <a:ext uri="{FF2B5EF4-FFF2-40B4-BE49-F238E27FC236}">
                <a16:creationId xmlns:a16="http://schemas.microsoft.com/office/drawing/2014/main" id="{450864F3-E220-4A98-8E71-537A0EDBE964}"/>
              </a:ext>
            </a:extLst>
          </p:cNvPr>
          <p:cNvSpPr>
            <a:spLocks noGrp="1"/>
          </p:cNvSpPr>
          <p:nvPr>
            <p:ph idx="1"/>
          </p:nvPr>
        </p:nvSpPr>
        <p:spPr>
          <a:xfrm>
            <a:off x="838200" y="1046055"/>
            <a:ext cx="10515600" cy="947972"/>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A one-to-many relationship is used to define relationships where a single model is the parent to one or more child models.</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r="41143"/>
          <a:stretch/>
        </p:blipFill>
        <p:spPr>
          <a:xfrm>
            <a:off x="1763539" y="2169902"/>
            <a:ext cx="2092960" cy="4445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289" y="2169902"/>
            <a:ext cx="815024" cy="1893591"/>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21550" y="5011465"/>
            <a:ext cx="829945" cy="1508991"/>
          </a:xfrm>
          <a:prstGeom prst="rect">
            <a:avLst/>
          </a:prstGeom>
        </p:spPr>
      </p:pic>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8867678" y="3525800"/>
            <a:ext cx="795867" cy="1625600"/>
          </a:xfrm>
          <a:prstGeom prst="rect">
            <a:avLst/>
          </a:prstGeom>
        </p:spPr>
      </p:pic>
    </p:spTree>
    <p:extLst>
      <p:ext uri="{BB962C8B-B14F-4D97-AF65-F5344CB8AC3E}">
        <p14:creationId xmlns:p14="http://schemas.microsoft.com/office/powerpoint/2010/main" val="4003062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09600" y="134780"/>
            <a:ext cx="10972800" cy="858839"/>
          </a:xfrm>
        </p:spPr>
        <p:txBody>
          <a:bodyPr>
            <a:normAutofit/>
          </a:bodyPr>
          <a:lstStyle/>
          <a:p>
            <a:pPr algn="ctr"/>
            <a:r>
              <a:rPr lang="en-US" b="1" u="sng" dirty="0">
                <a:latin typeface="Times New Roman" pitchFamily="18" charset="0"/>
                <a:cs typeface="Times New Roman" pitchFamily="18" charset="0"/>
              </a:rPr>
              <a:t>One to Many Relationship</a:t>
            </a:r>
          </a:p>
        </p:txBody>
      </p:sp>
      <p:graphicFrame>
        <p:nvGraphicFramePr>
          <p:cNvPr id="11" name="Table 10">
            <a:extLst>
              <a:ext uri="{FF2B5EF4-FFF2-40B4-BE49-F238E27FC236}">
                <a16:creationId xmlns:a16="http://schemas.microsoft.com/office/drawing/2014/main" id="{DFBFEEA6-DFEA-4FB3-9604-DD6CCBF38BE6}"/>
              </a:ext>
            </a:extLst>
          </p:cNvPr>
          <p:cNvGraphicFramePr>
            <a:graphicFrameLocks noGrp="1"/>
          </p:cNvGraphicFramePr>
          <p:nvPr>
            <p:extLst>
              <p:ext uri="{D42A27DB-BD31-4B8C-83A1-F6EECF244321}">
                <p14:modId xmlns:p14="http://schemas.microsoft.com/office/powerpoint/2010/main" val="3380463457"/>
              </p:ext>
            </p:extLst>
          </p:nvPr>
        </p:nvGraphicFramePr>
        <p:xfrm>
          <a:off x="3813117" y="1526883"/>
          <a:ext cx="4114800" cy="2032000"/>
        </p:xfrm>
        <a:graphic>
          <a:graphicData uri="http://schemas.openxmlformats.org/drawingml/2006/table">
            <a:tbl>
              <a:tblPr firstRow="1" bandRow="1">
                <a:tableStyleId>{5940675A-B579-460E-94D1-54222C63F5DA}</a:tableStyleId>
              </a:tblPr>
              <a:tblGrid>
                <a:gridCol w="1186213">
                  <a:extLst>
                    <a:ext uri="{9D8B030D-6E8A-4147-A177-3AD203B41FA5}">
                      <a16:colId xmlns:a16="http://schemas.microsoft.com/office/drawing/2014/main" val="20000"/>
                    </a:ext>
                  </a:extLst>
                </a:gridCol>
                <a:gridCol w="1556987">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508000">
                <a:tc>
                  <a:txBody>
                    <a:bodyPr/>
                    <a:lstStyle/>
                    <a:p>
                      <a:pPr algn="ctr"/>
                      <a:r>
                        <a:rPr lang="en-US" sz="2100" b="1" dirty="0">
                          <a:latin typeface="Times New Roman" pitchFamily="18" charset="0"/>
                          <a:cs typeface="Times New Roman" pitchFamily="18" charset="0"/>
                        </a:rPr>
                        <a:t>ID</a:t>
                      </a:r>
                    </a:p>
                  </a:txBody>
                  <a:tcPr marL="121920" marR="121920" marT="60960" marB="60960">
                    <a:solidFill>
                      <a:schemeClr val="accent2"/>
                    </a:solidFill>
                  </a:tcPr>
                </a:tc>
                <a:tc>
                  <a:txBody>
                    <a:bodyPr/>
                    <a:lstStyle/>
                    <a:p>
                      <a:pPr algn="ctr"/>
                      <a:r>
                        <a:rPr lang="en-US" sz="2100" b="1" dirty="0">
                          <a:latin typeface="Times New Roman" pitchFamily="18" charset="0"/>
                          <a:cs typeface="Times New Roman" pitchFamily="18" charset="0"/>
                        </a:rPr>
                        <a:t>Username</a:t>
                      </a:r>
                    </a:p>
                  </a:txBody>
                  <a:tcPr marL="121920" marR="121920" marT="60960" marB="60960">
                    <a:solidFill>
                      <a:schemeClr val="accent2"/>
                    </a:solidFill>
                  </a:tcPr>
                </a:tc>
                <a:tc>
                  <a:txBody>
                    <a:bodyPr/>
                    <a:lstStyle/>
                    <a:p>
                      <a:pPr algn="ctr"/>
                      <a:r>
                        <a:rPr lang="en-US" sz="2100" b="1" dirty="0">
                          <a:latin typeface="Times New Roman" pitchFamily="18" charset="0"/>
                          <a:cs typeface="Times New Roman" pitchFamily="18" charset="0"/>
                        </a:rPr>
                        <a:t>Password</a:t>
                      </a:r>
                    </a:p>
                  </a:txBody>
                  <a:tcPr marL="121920" marR="121920" marT="60960" marB="60960">
                    <a:solidFill>
                      <a:schemeClr val="accent2"/>
                    </a:solidFill>
                  </a:tcPr>
                </a:tc>
                <a:extLst>
                  <a:ext uri="{0D108BD9-81ED-4DB2-BD59-A6C34878D82A}">
                    <a16:rowId xmlns:a16="http://schemas.microsoft.com/office/drawing/2014/main" val="10000"/>
                  </a:ext>
                </a:extLst>
              </a:tr>
              <a:tr h="508000">
                <a:tc>
                  <a:txBody>
                    <a:bodyPr/>
                    <a:lstStyle/>
                    <a:p>
                      <a:pPr algn="ctr"/>
                      <a:r>
                        <a:rPr lang="en-US" sz="1900" dirty="0">
                          <a:latin typeface="Times New Roman" pitchFamily="18" charset="0"/>
                          <a:cs typeface="Times New Roman" pitchFamily="18" charset="0"/>
                        </a:rPr>
                        <a:t>1</a:t>
                      </a:r>
                    </a:p>
                  </a:txBody>
                  <a:tcPr marL="121920" marR="121920" marT="60960" marB="60960"/>
                </a:tc>
                <a:tc>
                  <a:txBody>
                    <a:bodyPr/>
                    <a:lstStyle/>
                    <a:p>
                      <a:pPr algn="ctr"/>
                      <a:r>
                        <a:rPr lang="en-US" sz="1900" dirty="0">
                          <a:latin typeface="Times New Roman" pitchFamily="18" charset="0"/>
                          <a:cs typeface="Times New Roman" pitchFamily="18" charset="0"/>
                        </a:rPr>
                        <a:t>Rahul</a:t>
                      </a:r>
                    </a:p>
                  </a:txBody>
                  <a:tcPr marL="121920" marR="121920" marT="60960" marB="60960"/>
                </a:tc>
                <a:tc>
                  <a:txBody>
                    <a:bodyPr/>
                    <a:lstStyle/>
                    <a:p>
                      <a:pPr algn="ctr"/>
                      <a:r>
                        <a:rPr lang="en-US" sz="1900" dirty="0">
                          <a:latin typeface="Times New Roman" pitchFamily="18" charset="0"/>
                          <a:cs typeface="Times New Roman" pitchFamily="18" charset="0"/>
                        </a:rPr>
                        <a:t>rahul12</a:t>
                      </a:r>
                    </a:p>
                  </a:txBody>
                  <a:tcPr marL="121920" marR="121920" marT="60960" marB="60960"/>
                </a:tc>
                <a:extLst>
                  <a:ext uri="{0D108BD9-81ED-4DB2-BD59-A6C34878D82A}">
                    <a16:rowId xmlns:a16="http://schemas.microsoft.com/office/drawing/2014/main" val="10001"/>
                  </a:ext>
                </a:extLst>
              </a:tr>
              <a:tr h="508000">
                <a:tc>
                  <a:txBody>
                    <a:bodyPr/>
                    <a:lstStyle/>
                    <a:p>
                      <a:pPr algn="ctr"/>
                      <a:r>
                        <a:rPr lang="en-US" sz="1900" dirty="0">
                          <a:latin typeface="Times New Roman" pitchFamily="18" charset="0"/>
                          <a:cs typeface="Times New Roman" pitchFamily="18" charset="0"/>
                        </a:rPr>
                        <a:t>2</a:t>
                      </a:r>
                    </a:p>
                  </a:txBody>
                  <a:tcPr marL="121920" marR="121920" marT="60960" marB="60960"/>
                </a:tc>
                <a:tc>
                  <a:txBody>
                    <a:bodyPr/>
                    <a:lstStyle/>
                    <a:p>
                      <a:pPr algn="ctr"/>
                      <a:r>
                        <a:rPr lang="en-US" sz="1900" dirty="0" err="1">
                          <a:latin typeface="Times New Roman" pitchFamily="18" charset="0"/>
                          <a:cs typeface="Times New Roman" pitchFamily="18" charset="0"/>
                        </a:rPr>
                        <a:t>Sonam</a:t>
                      </a:r>
                      <a:endParaRPr lang="en-US" sz="1900" dirty="0">
                        <a:latin typeface="Times New Roman" pitchFamily="18" charset="0"/>
                        <a:cs typeface="Times New Roman" pitchFamily="18" charset="0"/>
                      </a:endParaRPr>
                    </a:p>
                  </a:txBody>
                  <a:tcPr marL="121920" marR="121920" marT="60960" marB="60960"/>
                </a:tc>
                <a:tc>
                  <a:txBody>
                    <a:bodyPr/>
                    <a:lstStyle/>
                    <a:p>
                      <a:pPr algn="ctr"/>
                      <a:r>
                        <a:rPr lang="en-US" sz="1900" dirty="0">
                          <a:latin typeface="Times New Roman" pitchFamily="18" charset="0"/>
                          <a:cs typeface="Times New Roman" pitchFamily="18" charset="0"/>
                        </a:rPr>
                        <a:t>sonam12</a:t>
                      </a:r>
                    </a:p>
                  </a:txBody>
                  <a:tcPr marL="121920" marR="121920" marT="60960" marB="60960"/>
                </a:tc>
                <a:extLst>
                  <a:ext uri="{0D108BD9-81ED-4DB2-BD59-A6C34878D82A}">
                    <a16:rowId xmlns:a16="http://schemas.microsoft.com/office/drawing/2014/main" val="10002"/>
                  </a:ext>
                </a:extLst>
              </a:tr>
              <a:tr h="508000">
                <a:tc>
                  <a:txBody>
                    <a:bodyPr/>
                    <a:lstStyle/>
                    <a:p>
                      <a:pPr algn="ctr"/>
                      <a:r>
                        <a:rPr lang="en-US" sz="1900" dirty="0">
                          <a:latin typeface="Times New Roman" pitchFamily="18" charset="0"/>
                          <a:cs typeface="Times New Roman" pitchFamily="18" charset="0"/>
                        </a:rPr>
                        <a:t>3</a:t>
                      </a:r>
                    </a:p>
                  </a:txBody>
                  <a:tcPr marL="121920" marR="121920" marT="60960" marB="60960"/>
                </a:tc>
                <a:tc>
                  <a:txBody>
                    <a:bodyPr/>
                    <a:lstStyle/>
                    <a:p>
                      <a:pPr algn="ctr"/>
                      <a:r>
                        <a:rPr lang="en-US" sz="1900" dirty="0" err="1">
                          <a:latin typeface="Times New Roman" pitchFamily="18" charset="0"/>
                          <a:cs typeface="Times New Roman" pitchFamily="18" charset="0"/>
                        </a:rPr>
                        <a:t>Kunal</a:t>
                      </a:r>
                      <a:endParaRPr lang="en-US" sz="1900" dirty="0">
                        <a:latin typeface="Times New Roman" pitchFamily="18" charset="0"/>
                        <a:cs typeface="Times New Roman" pitchFamily="18" charset="0"/>
                      </a:endParaRPr>
                    </a:p>
                  </a:txBody>
                  <a:tcPr marL="121920" marR="121920" marT="60960" marB="60960"/>
                </a:tc>
                <a:tc>
                  <a:txBody>
                    <a:bodyPr/>
                    <a:lstStyle/>
                    <a:p>
                      <a:pPr algn="ctr"/>
                      <a:r>
                        <a:rPr lang="en-US" sz="1900" dirty="0">
                          <a:latin typeface="Times New Roman" pitchFamily="18" charset="0"/>
                          <a:cs typeface="Times New Roman" pitchFamily="18" charset="0"/>
                        </a:rPr>
                        <a:t>kunal12</a:t>
                      </a:r>
                    </a:p>
                  </a:txBody>
                  <a:tcPr marL="121920" marR="121920" marT="60960" marB="60960"/>
                </a:tc>
                <a:extLst>
                  <a:ext uri="{0D108BD9-81ED-4DB2-BD59-A6C34878D82A}">
                    <a16:rowId xmlns:a16="http://schemas.microsoft.com/office/drawing/2014/main" val="10003"/>
                  </a:ext>
                </a:extLst>
              </a:tr>
            </a:tbl>
          </a:graphicData>
        </a:graphic>
      </p:graphicFrame>
      <p:graphicFrame>
        <p:nvGraphicFramePr>
          <p:cNvPr id="12" name="Table 11">
            <a:extLst>
              <a:ext uri="{FF2B5EF4-FFF2-40B4-BE49-F238E27FC236}">
                <a16:creationId xmlns:a16="http://schemas.microsoft.com/office/drawing/2014/main" id="{C87B8321-B425-4595-B0B0-9812921E2309}"/>
              </a:ext>
            </a:extLst>
          </p:cNvPr>
          <p:cNvGraphicFramePr>
            <a:graphicFrameLocks noGrp="1"/>
          </p:cNvGraphicFramePr>
          <p:nvPr>
            <p:extLst>
              <p:ext uri="{D42A27DB-BD31-4B8C-83A1-F6EECF244321}">
                <p14:modId xmlns:p14="http://schemas.microsoft.com/office/powerpoint/2010/main" val="3821032225"/>
              </p:ext>
            </p:extLst>
          </p:nvPr>
        </p:nvGraphicFramePr>
        <p:xfrm>
          <a:off x="3132748" y="4092147"/>
          <a:ext cx="4130766" cy="2032000"/>
        </p:xfrm>
        <a:graphic>
          <a:graphicData uri="http://schemas.openxmlformats.org/drawingml/2006/table">
            <a:tbl>
              <a:tblPr firstRow="1" bandRow="1">
                <a:tableStyleId>{5940675A-B579-460E-94D1-54222C63F5DA}</a:tableStyleId>
              </a:tblPr>
              <a:tblGrid>
                <a:gridCol w="830217">
                  <a:extLst>
                    <a:ext uri="{9D8B030D-6E8A-4147-A177-3AD203B41FA5}">
                      <a16:colId xmlns:a16="http://schemas.microsoft.com/office/drawing/2014/main" val="20000"/>
                    </a:ext>
                  </a:extLst>
                </a:gridCol>
                <a:gridCol w="1593669">
                  <a:extLst>
                    <a:ext uri="{9D8B030D-6E8A-4147-A177-3AD203B41FA5}">
                      <a16:colId xmlns:a16="http://schemas.microsoft.com/office/drawing/2014/main" val="20001"/>
                    </a:ext>
                  </a:extLst>
                </a:gridCol>
                <a:gridCol w="1706880">
                  <a:extLst>
                    <a:ext uri="{9D8B030D-6E8A-4147-A177-3AD203B41FA5}">
                      <a16:colId xmlns:a16="http://schemas.microsoft.com/office/drawing/2014/main" val="20002"/>
                    </a:ext>
                  </a:extLst>
                </a:gridCol>
              </a:tblGrid>
              <a:tr h="508000">
                <a:tc>
                  <a:txBody>
                    <a:bodyPr/>
                    <a:lstStyle/>
                    <a:p>
                      <a:pPr algn="ctr"/>
                      <a:r>
                        <a:rPr lang="en-US" sz="2100" b="1" dirty="0">
                          <a:latin typeface="Times New Roman" pitchFamily="18" charset="0"/>
                          <a:cs typeface="Times New Roman" pitchFamily="18" charset="0"/>
                        </a:rPr>
                        <a:t>ID</a:t>
                      </a:r>
                    </a:p>
                  </a:txBody>
                  <a:tcPr marL="121920" marR="121920" marT="60960" marB="60960">
                    <a:solidFill>
                      <a:schemeClr val="accent2"/>
                    </a:solidFill>
                  </a:tcPr>
                </a:tc>
                <a:tc>
                  <a:txBody>
                    <a:bodyPr/>
                    <a:lstStyle/>
                    <a:p>
                      <a:pPr algn="ctr"/>
                      <a:r>
                        <a:rPr lang="en-US" sz="2100" b="1" dirty="0">
                          <a:latin typeface="Times New Roman" pitchFamily="18" charset="0"/>
                          <a:cs typeface="Times New Roman" pitchFamily="18" charset="0"/>
                        </a:rPr>
                        <a:t>Post Title</a:t>
                      </a:r>
                    </a:p>
                  </a:txBody>
                  <a:tcPr marL="121920" marR="121920" marT="60960" marB="60960">
                    <a:solidFill>
                      <a:schemeClr val="accent2"/>
                    </a:solidFill>
                  </a:tcPr>
                </a:tc>
                <a:tc>
                  <a:txBody>
                    <a:bodyPr/>
                    <a:lstStyle/>
                    <a:p>
                      <a:pPr algn="ctr"/>
                      <a:r>
                        <a:rPr lang="en-US" sz="2100" b="1" dirty="0">
                          <a:latin typeface="Times New Roman" pitchFamily="18" charset="0"/>
                          <a:cs typeface="Times New Roman" pitchFamily="18" charset="0"/>
                        </a:rPr>
                        <a:t>Post Cat</a:t>
                      </a:r>
                    </a:p>
                  </a:txBody>
                  <a:tcPr marL="121920" marR="121920" marT="60960" marB="60960">
                    <a:solidFill>
                      <a:schemeClr val="accent2"/>
                    </a:solidFill>
                  </a:tcPr>
                </a:tc>
                <a:extLst>
                  <a:ext uri="{0D108BD9-81ED-4DB2-BD59-A6C34878D82A}">
                    <a16:rowId xmlns:a16="http://schemas.microsoft.com/office/drawing/2014/main" val="10000"/>
                  </a:ext>
                </a:extLst>
              </a:tr>
              <a:tr h="508000">
                <a:tc>
                  <a:txBody>
                    <a:bodyPr/>
                    <a:lstStyle/>
                    <a:p>
                      <a:pPr algn="ctr"/>
                      <a:r>
                        <a:rPr lang="en-US" sz="1900" dirty="0">
                          <a:latin typeface="Times New Roman" pitchFamily="18" charset="0"/>
                          <a:cs typeface="Times New Roman" pitchFamily="18" charset="0"/>
                        </a:rPr>
                        <a:t>1</a:t>
                      </a:r>
                    </a:p>
                  </a:txBody>
                  <a:tcPr marL="121920" marR="121920" marT="60960" marB="60960"/>
                </a:tc>
                <a:tc>
                  <a:txBody>
                    <a:bodyPr/>
                    <a:lstStyle/>
                    <a:p>
                      <a:pPr algn="ctr"/>
                      <a:r>
                        <a:rPr lang="en-US" sz="1900" dirty="0">
                          <a:latin typeface="Times New Roman" pitchFamily="18" charset="0"/>
                          <a:cs typeface="Times New Roman" pitchFamily="18" charset="0"/>
                        </a:rPr>
                        <a:t>Title 1</a:t>
                      </a:r>
                    </a:p>
                  </a:txBody>
                  <a:tcPr marL="121920" marR="121920" marT="60960" marB="60960"/>
                </a:tc>
                <a:tc>
                  <a:txBody>
                    <a:bodyPr/>
                    <a:lstStyle/>
                    <a:p>
                      <a:pPr algn="ctr"/>
                      <a:r>
                        <a:rPr lang="en-US" sz="1900" dirty="0" err="1">
                          <a:latin typeface="Times New Roman" pitchFamily="18" charset="0"/>
                          <a:cs typeface="Times New Roman" pitchFamily="18" charset="0"/>
                        </a:rPr>
                        <a:t>django</a:t>
                      </a:r>
                      <a:endParaRPr lang="en-US" sz="1900" dirty="0">
                        <a:latin typeface="Times New Roman" pitchFamily="18" charset="0"/>
                        <a:cs typeface="Times New Roman" pitchFamily="18" charset="0"/>
                      </a:endParaRPr>
                    </a:p>
                  </a:txBody>
                  <a:tcPr marL="121920" marR="121920" marT="60960" marB="60960"/>
                </a:tc>
                <a:extLst>
                  <a:ext uri="{0D108BD9-81ED-4DB2-BD59-A6C34878D82A}">
                    <a16:rowId xmlns:a16="http://schemas.microsoft.com/office/drawing/2014/main" val="10001"/>
                  </a:ext>
                </a:extLst>
              </a:tr>
              <a:tr h="508000">
                <a:tc>
                  <a:txBody>
                    <a:bodyPr/>
                    <a:lstStyle/>
                    <a:p>
                      <a:pPr algn="ctr"/>
                      <a:r>
                        <a:rPr lang="en-US" sz="1900" dirty="0">
                          <a:latin typeface="Times New Roman" pitchFamily="18" charset="0"/>
                          <a:cs typeface="Times New Roman" pitchFamily="18" charset="0"/>
                        </a:rPr>
                        <a:t>2</a:t>
                      </a:r>
                    </a:p>
                  </a:txBody>
                  <a:tcPr marL="121920" marR="121920" marT="60960" marB="60960"/>
                </a:tc>
                <a:tc>
                  <a:txBody>
                    <a:bodyPr/>
                    <a:lstStyle/>
                    <a:p>
                      <a:pPr algn="ctr"/>
                      <a:r>
                        <a:rPr lang="en-US" sz="1900" dirty="0">
                          <a:latin typeface="Times New Roman" pitchFamily="18" charset="0"/>
                          <a:cs typeface="Times New Roman" pitchFamily="18" charset="0"/>
                        </a:rPr>
                        <a:t>Title 2</a:t>
                      </a:r>
                    </a:p>
                  </a:txBody>
                  <a:tcPr marL="121920" marR="121920" marT="60960" marB="60960"/>
                </a:tc>
                <a:tc>
                  <a:txBody>
                    <a:bodyPr/>
                    <a:lstStyle/>
                    <a:p>
                      <a:pPr algn="ctr"/>
                      <a:r>
                        <a:rPr lang="en-US" sz="1900" dirty="0" err="1">
                          <a:latin typeface="Times New Roman" pitchFamily="18" charset="0"/>
                          <a:cs typeface="Times New Roman" pitchFamily="18" charset="0"/>
                        </a:rPr>
                        <a:t>django</a:t>
                      </a:r>
                      <a:endParaRPr lang="en-US" sz="1900" dirty="0">
                        <a:latin typeface="Times New Roman" pitchFamily="18" charset="0"/>
                        <a:cs typeface="Times New Roman" pitchFamily="18" charset="0"/>
                      </a:endParaRPr>
                    </a:p>
                  </a:txBody>
                  <a:tcPr marL="121920" marR="121920" marT="60960" marB="60960"/>
                </a:tc>
                <a:extLst>
                  <a:ext uri="{0D108BD9-81ED-4DB2-BD59-A6C34878D82A}">
                    <a16:rowId xmlns:a16="http://schemas.microsoft.com/office/drawing/2014/main" val="10002"/>
                  </a:ext>
                </a:extLst>
              </a:tr>
              <a:tr h="508000">
                <a:tc>
                  <a:txBody>
                    <a:bodyPr/>
                    <a:lstStyle/>
                    <a:p>
                      <a:pPr algn="ctr"/>
                      <a:r>
                        <a:rPr lang="en-US" sz="1900" dirty="0">
                          <a:latin typeface="Times New Roman" pitchFamily="18" charset="0"/>
                          <a:cs typeface="Times New Roman" pitchFamily="18" charset="0"/>
                        </a:rPr>
                        <a:t>3</a:t>
                      </a:r>
                    </a:p>
                  </a:txBody>
                  <a:tcPr marL="121920" marR="121920" marT="60960" marB="60960"/>
                </a:tc>
                <a:tc>
                  <a:txBody>
                    <a:bodyPr/>
                    <a:lstStyle/>
                    <a:p>
                      <a:pPr algn="ctr"/>
                      <a:r>
                        <a:rPr lang="en-US" sz="1900" dirty="0">
                          <a:latin typeface="Times New Roman" pitchFamily="18" charset="0"/>
                          <a:cs typeface="Times New Roman" pitchFamily="18" charset="0"/>
                        </a:rPr>
                        <a:t>Title 3</a:t>
                      </a:r>
                    </a:p>
                  </a:txBody>
                  <a:tcPr marL="121920" marR="121920" marT="60960" marB="60960"/>
                </a:tc>
                <a:tc>
                  <a:txBody>
                    <a:bodyPr/>
                    <a:lstStyle/>
                    <a:p>
                      <a:pPr algn="ctr"/>
                      <a:r>
                        <a:rPr lang="en-US" sz="1900" dirty="0">
                          <a:latin typeface="Times New Roman" pitchFamily="18" charset="0"/>
                          <a:cs typeface="Times New Roman" pitchFamily="18" charset="0"/>
                        </a:rPr>
                        <a:t>python</a:t>
                      </a:r>
                    </a:p>
                  </a:txBody>
                  <a:tcPr marL="121920" marR="121920" marT="60960" marB="60960"/>
                </a:tc>
                <a:extLst>
                  <a:ext uri="{0D108BD9-81ED-4DB2-BD59-A6C34878D82A}">
                    <a16:rowId xmlns:a16="http://schemas.microsoft.com/office/drawing/2014/main" val="10003"/>
                  </a:ext>
                </a:extLst>
              </a:tr>
            </a:tbl>
          </a:graphicData>
        </a:graphic>
      </p:graphicFrame>
      <p:sp>
        <p:nvSpPr>
          <p:cNvPr id="13" name="TextBox 12">
            <a:extLst>
              <a:ext uri="{FF2B5EF4-FFF2-40B4-BE49-F238E27FC236}">
                <a16:creationId xmlns:a16="http://schemas.microsoft.com/office/drawing/2014/main" id="{3731EAB6-3A8A-4282-97AE-85FADFA41CBF}"/>
              </a:ext>
            </a:extLst>
          </p:cNvPr>
          <p:cNvSpPr txBox="1"/>
          <p:nvPr/>
        </p:nvSpPr>
        <p:spPr>
          <a:xfrm>
            <a:off x="5295139" y="1027166"/>
            <a:ext cx="1143262" cy="461665"/>
          </a:xfrm>
          <a:prstGeom prst="rect">
            <a:avLst/>
          </a:prstGeom>
          <a:noFill/>
        </p:spPr>
        <p:txBody>
          <a:bodyPr wrap="none" rtlCol="0">
            <a:spAutoFit/>
          </a:bodyPr>
          <a:lstStyle/>
          <a:p>
            <a:r>
              <a:rPr lang="en-US" sz="2400" b="1" dirty="0">
                <a:latin typeface="Times New Roman" pitchFamily="18" charset="0"/>
                <a:cs typeface="Times New Roman" pitchFamily="18" charset="0"/>
              </a:rPr>
              <a:t>Author</a:t>
            </a:r>
          </a:p>
        </p:txBody>
      </p:sp>
      <p:sp>
        <p:nvSpPr>
          <p:cNvPr id="14" name="TextBox 13">
            <a:extLst>
              <a:ext uri="{FF2B5EF4-FFF2-40B4-BE49-F238E27FC236}">
                <a16:creationId xmlns:a16="http://schemas.microsoft.com/office/drawing/2014/main" id="{7AFB36B9-11C5-4D34-843E-55B0C4001D92}"/>
              </a:ext>
            </a:extLst>
          </p:cNvPr>
          <p:cNvSpPr txBox="1"/>
          <p:nvPr/>
        </p:nvSpPr>
        <p:spPr>
          <a:xfrm>
            <a:off x="5626336" y="3671583"/>
            <a:ext cx="684803" cy="420564"/>
          </a:xfrm>
          <a:prstGeom prst="rect">
            <a:avLst/>
          </a:prstGeom>
          <a:noFill/>
        </p:spPr>
        <p:txBody>
          <a:bodyPr wrap="none" rtlCol="0">
            <a:spAutoFit/>
          </a:bodyPr>
          <a:lstStyle/>
          <a:p>
            <a:r>
              <a:rPr lang="en-US" sz="2133" b="1" dirty="0">
                <a:latin typeface="Times New Roman" pitchFamily="18" charset="0"/>
                <a:cs typeface="Times New Roman" pitchFamily="18" charset="0"/>
              </a:rPr>
              <a:t>Post</a:t>
            </a:r>
          </a:p>
        </p:txBody>
      </p:sp>
      <p:graphicFrame>
        <p:nvGraphicFramePr>
          <p:cNvPr id="15" name="Table 14">
            <a:extLst>
              <a:ext uri="{FF2B5EF4-FFF2-40B4-BE49-F238E27FC236}">
                <a16:creationId xmlns:a16="http://schemas.microsoft.com/office/drawing/2014/main" id="{05DAABC4-EDA1-43A2-97F2-2327FEB7BD4D}"/>
              </a:ext>
            </a:extLst>
          </p:cNvPr>
          <p:cNvGraphicFramePr>
            <a:graphicFrameLocks noGrp="1"/>
          </p:cNvGraphicFramePr>
          <p:nvPr>
            <p:extLst>
              <p:ext uri="{D42A27DB-BD31-4B8C-83A1-F6EECF244321}">
                <p14:modId xmlns:p14="http://schemas.microsoft.com/office/powerpoint/2010/main" val="1162155460"/>
              </p:ext>
            </p:extLst>
          </p:nvPr>
        </p:nvGraphicFramePr>
        <p:xfrm>
          <a:off x="7263514" y="4092147"/>
          <a:ext cx="1612367" cy="2032000"/>
        </p:xfrm>
        <a:graphic>
          <a:graphicData uri="http://schemas.openxmlformats.org/drawingml/2006/table">
            <a:tbl>
              <a:tblPr firstRow="1" bandRow="1">
                <a:tableStyleId>{5940675A-B579-460E-94D1-54222C63F5DA}</a:tableStyleId>
              </a:tblPr>
              <a:tblGrid>
                <a:gridCol w="1612367">
                  <a:extLst>
                    <a:ext uri="{9D8B030D-6E8A-4147-A177-3AD203B41FA5}">
                      <a16:colId xmlns:a16="http://schemas.microsoft.com/office/drawing/2014/main" val="20003"/>
                    </a:ext>
                  </a:extLst>
                </a:gridCol>
              </a:tblGrid>
              <a:tr h="508000">
                <a:tc>
                  <a:txBody>
                    <a:bodyPr/>
                    <a:lstStyle/>
                    <a:p>
                      <a:pPr algn="ctr"/>
                      <a:r>
                        <a:rPr lang="en-US" sz="2100" b="1" dirty="0" err="1">
                          <a:latin typeface="Times New Roman" pitchFamily="18" charset="0"/>
                          <a:cs typeface="Times New Roman" pitchFamily="18" charset="0"/>
                        </a:rPr>
                        <a:t>author_id</a:t>
                      </a:r>
                      <a:endParaRPr lang="en-US" sz="2100" b="1" dirty="0">
                        <a:latin typeface="Times New Roman" pitchFamily="18" charset="0"/>
                        <a:cs typeface="Times New Roman" pitchFamily="18" charset="0"/>
                      </a:endParaRPr>
                    </a:p>
                  </a:txBody>
                  <a:tcPr marL="121920" marR="121920" marT="60960" marB="60960">
                    <a:solidFill>
                      <a:schemeClr val="accent2"/>
                    </a:solidFill>
                  </a:tcPr>
                </a:tc>
                <a:extLst>
                  <a:ext uri="{0D108BD9-81ED-4DB2-BD59-A6C34878D82A}">
                    <a16:rowId xmlns:a16="http://schemas.microsoft.com/office/drawing/2014/main" val="10000"/>
                  </a:ext>
                </a:extLst>
              </a:tr>
              <a:tr h="508000">
                <a:tc>
                  <a:txBody>
                    <a:bodyPr/>
                    <a:lstStyle/>
                    <a:p>
                      <a:pPr algn="ctr"/>
                      <a:r>
                        <a:rPr lang="en-US" sz="1900" dirty="0">
                          <a:latin typeface="Times New Roman" pitchFamily="18" charset="0"/>
                          <a:cs typeface="Times New Roman" pitchFamily="18" charset="0"/>
                        </a:rPr>
                        <a:t>1</a:t>
                      </a:r>
                    </a:p>
                  </a:txBody>
                  <a:tcPr marL="121920" marR="121920" marT="60960" marB="60960"/>
                </a:tc>
                <a:extLst>
                  <a:ext uri="{0D108BD9-81ED-4DB2-BD59-A6C34878D82A}">
                    <a16:rowId xmlns:a16="http://schemas.microsoft.com/office/drawing/2014/main" val="10001"/>
                  </a:ext>
                </a:extLst>
              </a:tr>
              <a:tr h="508000">
                <a:tc>
                  <a:txBody>
                    <a:bodyPr/>
                    <a:lstStyle/>
                    <a:p>
                      <a:pPr algn="ctr"/>
                      <a:r>
                        <a:rPr lang="en-US" sz="1900" dirty="0">
                          <a:latin typeface="Times New Roman" pitchFamily="18" charset="0"/>
                          <a:cs typeface="Times New Roman" pitchFamily="18" charset="0"/>
                        </a:rPr>
                        <a:t>1</a:t>
                      </a:r>
                    </a:p>
                  </a:txBody>
                  <a:tcPr marL="121920" marR="121920" marT="60960" marB="60960"/>
                </a:tc>
                <a:extLst>
                  <a:ext uri="{0D108BD9-81ED-4DB2-BD59-A6C34878D82A}">
                    <a16:rowId xmlns:a16="http://schemas.microsoft.com/office/drawing/2014/main" val="10002"/>
                  </a:ext>
                </a:extLst>
              </a:tr>
              <a:tr h="508000">
                <a:tc>
                  <a:txBody>
                    <a:bodyPr/>
                    <a:lstStyle/>
                    <a:p>
                      <a:pPr algn="ctr"/>
                      <a:r>
                        <a:rPr lang="en-US" sz="1900" dirty="0">
                          <a:latin typeface="Times New Roman" pitchFamily="18" charset="0"/>
                          <a:cs typeface="Times New Roman" pitchFamily="18" charset="0"/>
                        </a:rPr>
                        <a:t>2</a:t>
                      </a:r>
                    </a:p>
                  </a:txBody>
                  <a:tcPr marL="121920" marR="121920" marT="60960" marB="6096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98247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itchFamily="18" charset="0"/>
                <a:cs typeface="Times New Roman" pitchFamily="18" charset="0"/>
              </a:rPr>
              <a:t>One to Many Relationship</a:t>
            </a:r>
          </a:p>
        </p:txBody>
      </p:sp>
      <p:sp>
        <p:nvSpPr>
          <p:cNvPr id="3" name="Content Placeholder 2">
            <a:extLst>
              <a:ext uri="{FF2B5EF4-FFF2-40B4-BE49-F238E27FC236}">
                <a16:creationId xmlns:a16="http://schemas.microsoft.com/office/drawing/2014/main" id="{1C7DD53C-D323-40AA-B621-8C5B4B9E3FF9}"/>
              </a:ext>
            </a:extLst>
          </p:cNvPr>
          <p:cNvSpPr>
            <a:spLocks noGrp="1"/>
          </p:cNvSpPr>
          <p:nvPr>
            <p:ph idx="1"/>
          </p:nvPr>
        </p:nvSpPr>
        <p:spPr>
          <a:xfrm>
            <a:off x="838200" y="1253331"/>
            <a:ext cx="10515600" cy="5286806"/>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To define </a:t>
            </a:r>
            <a:r>
              <a:rPr lang="en-US" sz="2400">
                <a:latin typeface="Times New Roman" panose="02020603050405020304" pitchFamily="18" charset="0"/>
                <a:cs typeface="Times New Roman" panose="02020603050405020304" pitchFamily="18" charset="0"/>
              </a:rPr>
              <a:t>a one-to-many </a:t>
            </a:r>
            <a:r>
              <a:rPr lang="en-US" sz="2400" dirty="0">
                <a:latin typeface="Times New Roman" panose="02020603050405020304" pitchFamily="18" charset="0"/>
                <a:cs typeface="Times New Roman" panose="02020603050405020304" pitchFamily="18" charset="0"/>
              </a:rPr>
              <a:t>relationship, use </a:t>
            </a:r>
            <a:r>
              <a:rPr lang="en-US" sz="2400" b="1" dirty="0" err="1">
                <a:latin typeface="Times New Roman" panose="02020603050405020304" pitchFamily="18" charset="0"/>
                <a:cs typeface="Times New Roman" panose="02020603050405020304" pitchFamily="18" charset="0"/>
              </a:rPr>
              <a:t>hasMany</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Syntax:- </a:t>
            </a:r>
            <a:r>
              <a:rPr lang="en-US" sz="2400" dirty="0" err="1">
                <a:latin typeface="Times New Roman" panose="02020603050405020304" pitchFamily="18" charset="0"/>
                <a:cs typeface="Times New Roman" panose="02020603050405020304" pitchFamily="18" charset="0"/>
              </a:rPr>
              <a:t>hasMany</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Model_Class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foreign_key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local_key</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Model Class Name - The name of the related model class. </a:t>
            </a:r>
          </a:p>
          <a:p>
            <a:pPr marL="0" indent="0">
              <a:buNone/>
            </a:pPr>
            <a:r>
              <a:rPr lang="en-US" sz="2400" dirty="0">
                <a:latin typeface="Times New Roman" panose="02020603050405020304" pitchFamily="18" charset="0"/>
                <a:cs typeface="Times New Roman" panose="02020603050405020304" pitchFamily="18" charset="0"/>
              </a:rPr>
              <a:t>Foreign Key - Eloquent will automatically determine the proper foreign key column. By convention, Eloquent will take the "snake case" name of the parent model and suffix it with _id. If you wish to override this convention, you may pass a second argument to the </a:t>
            </a:r>
            <a:r>
              <a:rPr lang="en-US" sz="2400" dirty="0" err="1">
                <a:latin typeface="Times New Roman" panose="02020603050405020304" pitchFamily="18" charset="0"/>
                <a:cs typeface="Times New Roman" panose="02020603050405020304" pitchFamily="18" charset="0"/>
              </a:rPr>
              <a:t>hasMany</a:t>
            </a:r>
            <a:r>
              <a:rPr lang="en-US" sz="2400" dirty="0">
                <a:latin typeface="Times New Roman" panose="02020603050405020304" pitchFamily="18" charset="0"/>
                <a:cs typeface="Times New Roman" panose="02020603050405020304" pitchFamily="18" charset="0"/>
              </a:rPr>
              <a:t> method.</a:t>
            </a:r>
          </a:p>
          <a:p>
            <a:pPr marL="0" indent="0">
              <a:buNone/>
            </a:pPr>
            <a:r>
              <a:rPr lang="en-US" sz="2400" dirty="0">
                <a:latin typeface="Times New Roman" panose="02020603050405020304" pitchFamily="18" charset="0"/>
                <a:cs typeface="Times New Roman" panose="02020603050405020304" pitchFamily="18" charset="0"/>
              </a:rPr>
              <a:t>Local Key - Eloquent assumes that the foreign key should have a value matching the primary key column of the parent. If you would like the relationship to use a primary key value other than id or your model's $</a:t>
            </a:r>
            <a:r>
              <a:rPr lang="en-US" sz="2400" dirty="0" err="1">
                <a:latin typeface="Times New Roman" panose="02020603050405020304" pitchFamily="18" charset="0"/>
                <a:cs typeface="Times New Roman" panose="02020603050405020304" pitchFamily="18" charset="0"/>
              </a:rPr>
              <a:t>primaryKey</a:t>
            </a:r>
            <a:r>
              <a:rPr lang="en-US" sz="2400" dirty="0">
                <a:latin typeface="Times New Roman" panose="02020603050405020304" pitchFamily="18" charset="0"/>
                <a:cs typeface="Times New Roman" panose="02020603050405020304" pitchFamily="18" charset="0"/>
              </a:rPr>
              <a:t> property, you may pass a third argument to the </a:t>
            </a:r>
            <a:r>
              <a:rPr lang="en-US" sz="2400" dirty="0" err="1">
                <a:latin typeface="Times New Roman" panose="02020603050405020304" pitchFamily="18" charset="0"/>
                <a:cs typeface="Times New Roman" panose="02020603050405020304" pitchFamily="18" charset="0"/>
              </a:rPr>
              <a:t>hasMany</a:t>
            </a:r>
            <a:r>
              <a:rPr lang="en-US" sz="2400" dirty="0">
                <a:latin typeface="Times New Roman" panose="02020603050405020304" pitchFamily="18" charset="0"/>
                <a:cs typeface="Times New Roman" panose="02020603050405020304" pitchFamily="18" charset="0"/>
              </a:rPr>
              <a:t> method.</a:t>
            </a:r>
          </a:p>
        </p:txBody>
      </p:sp>
    </p:spTree>
    <p:extLst>
      <p:ext uri="{BB962C8B-B14F-4D97-AF65-F5344CB8AC3E}">
        <p14:creationId xmlns:p14="http://schemas.microsoft.com/office/powerpoint/2010/main" val="454463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itchFamily="18" charset="0"/>
                <a:cs typeface="Times New Roman" pitchFamily="18" charset="0"/>
              </a:rPr>
              <a:t>Inverse of One to Many Relationship</a:t>
            </a:r>
          </a:p>
        </p:txBody>
      </p:sp>
      <p:sp>
        <p:nvSpPr>
          <p:cNvPr id="3" name="Content Placeholder 2">
            <a:extLst>
              <a:ext uri="{FF2B5EF4-FFF2-40B4-BE49-F238E27FC236}">
                <a16:creationId xmlns:a16="http://schemas.microsoft.com/office/drawing/2014/main" id="{1C7DD53C-D323-40AA-B621-8C5B4B9E3FF9}"/>
              </a:ext>
            </a:extLst>
          </p:cNvPr>
          <p:cNvSpPr>
            <a:spLocks noGrp="1"/>
          </p:cNvSpPr>
          <p:nvPr>
            <p:ph idx="1"/>
          </p:nvPr>
        </p:nvSpPr>
        <p:spPr>
          <a:xfrm>
            <a:off x="838200" y="1253331"/>
            <a:ext cx="10515600" cy="5286806"/>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To define the inverse of a </a:t>
            </a:r>
            <a:r>
              <a:rPr lang="en-US" sz="2000" dirty="0" err="1">
                <a:latin typeface="Times New Roman" panose="02020603050405020304" pitchFamily="18" charset="0"/>
                <a:cs typeface="Times New Roman" panose="02020603050405020304" pitchFamily="18" charset="0"/>
              </a:rPr>
              <a:t>hasMany</a:t>
            </a:r>
            <a:r>
              <a:rPr lang="en-US" sz="2000" dirty="0">
                <a:latin typeface="Times New Roman" panose="02020603050405020304" pitchFamily="18" charset="0"/>
                <a:cs typeface="Times New Roman" panose="02020603050405020304" pitchFamily="18" charset="0"/>
              </a:rPr>
              <a:t> relationship, define a relationship method on the child model which calls the </a:t>
            </a:r>
            <a:r>
              <a:rPr lang="en-US" sz="2000" dirty="0" err="1">
                <a:latin typeface="Times New Roman" panose="02020603050405020304" pitchFamily="18" charset="0"/>
                <a:cs typeface="Times New Roman" panose="02020603050405020304" pitchFamily="18" charset="0"/>
              </a:rPr>
              <a:t>belongsTo</a:t>
            </a:r>
            <a:r>
              <a:rPr lang="en-US" sz="2000" dirty="0">
                <a:latin typeface="Times New Roman" panose="02020603050405020304" pitchFamily="18" charset="0"/>
                <a:cs typeface="Times New Roman" panose="02020603050405020304" pitchFamily="18" charset="0"/>
              </a:rPr>
              <a:t> method.</a:t>
            </a:r>
          </a:p>
          <a:p>
            <a:pPr marL="0" indent="0">
              <a:buNone/>
            </a:pPr>
            <a:r>
              <a:rPr lang="en-US" sz="2000" dirty="0">
                <a:latin typeface="Times New Roman" panose="02020603050405020304" pitchFamily="18" charset="0"/>
                <a:cs typeface="Times New Roman" panose="02020603050405020304" pitchFamily="18" charset="0"/>
              </a:rPr>
              <a:t>Syntax:- </a:t>
            </a:r>
            <a:r>
              <a:rPr lang="en-US" sz="2000" dirty="0" err="1">
                <a:latin typeface="Times New Roman" panose="02020603050405020304" pitchFamily="18" charset="0"/>
                <a:cs typeface="Times New Roman" panose="02020603050405020304" pitchFamily="18" charset="0"/>
              </a:rPr>
              <a:t>belongsTo</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Model_Class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foreign_key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owner_key</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Model Class Name - The name of the related model class. </a:t>
            </a:r>
          </a:p>
          <a:p>
            <a:pPr marL="0" indent="0">
              <a:buNone/>
            </a:pPr>
            <a:r>
              <a:rPr lang="en-US" sz="2000" dirty="0">
                <a:latin typeface="Times New Roman" panose="02020603050405020304" pitchFamily="18" charset="0"/>
                <a:cs typeface="Times New Roman" panose="02020603050405020304" pitchFamily="18" charset="0"/>
              </a:rPr>
              <a:t>Foreign Key - Eloquent determines the default foreign key name by examining the name of the relationship method and suffixing the method name with a _ followed by the name of the parent model's primary key column. You may pass a custom key name as the second argument to the </a:t>
            </a:r>
            <a:r>
              <a:rPr lang="en-US" sz="2000" dirty="0" err="1">
                <a:latin typeface="Times New Roman" panose="02020603050405020304" pitchFamily="18" charset="0"/>
                <a:cs typeface="Times New Roman" panose="02020603050405020304" pitchFamily="18" charset="0"/>
              </a:rPr>
              <a:t>belongsTo</a:t>
            </a:r>
            <a:r>
              <a:rPr lang="en-US" sz="2000" dirty="0">
                <a:latin typeface="Times New Roman" panose="02020603050405020304" pitchFamily="18" charset="0"/>
                <a:cs typeface="Times New Roman" panose="02020603050405020304" pitchFamily="18" charset="0"/>
              </a:rPr>
              <a:t> method.</a:t>
            </a:r>
          </a:p>
          <a:p>
            <a:pPr marL="0" indent="0">
              <a:buNone/>
            </a:pPr>
            <a:r>
              <a:rPr lang="en-US" sz="2000" dirty="0">
                <a:latin typeface="Times New Roman" panose="02020603050405020304" pitchFamily="18" charset="0"/>
                <a:cs typeface="Times New Roman" panose="02020603050405020304" pitchFamily="18" charset="0"/>
              </a:rPr>
              <a:t>Owner Key - If your parent model does not use id as its primary key, or you wish to find the associated model using a different column, you may pass a third argument to the </a:t>
            </a:r>
            <a:r>
              <a:rPr lang="en-US" sz="2000" dirty="0" err="1">
                <a:latin typeface="Times New Roman" panose="02020603050405020304" pitchFamily="18" charset="0"/>
                <a:cs typeface="Times New Roman" panose="02020603050405020304" pitchFamily="18" charset="0"/>
              </a:rPr>
              <a:t>belongsTo</a:t>
            </a:r>
            <a:r>
              <a:rPr lang="en-US" sz="2000" dirty="0">
                <a:latin typeface="Times New Roman" panose="02020603050405020304" pitchFamily="18" charset="0"/>
                <a:cs typeface="Times New Roman" panose="02020603050405020304" pitchFamily="18" charset="0"/>
              </a:rPr>
              <a:t> method specifying your parent table's custom key.</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556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itchFamily="18" charset="0"/>
                <a:cs typeface="Times New Roman" pitchFamily="18" charset="0"/>
              </a:rPr>
              <a:t>One to Many Relationship</a:t>
            </a:r>
          </a:p>
        </p:txBody>
      </p:sp>
      <p:sp>
        <p:nvSpPr>
          <p:cNvPr id="3" name="Content Placeholder 2">
            <a:extLst>
              <a:ext uri="{FF2B5EF4-FFF2-40B4-BE49-F238E27FC236}">
                <a16:creationId xmlns:a16="http://schemas.microsoft.com/office/drawing/2014/main" id="{1C7DD53C-D323-40AA-B621-8C5B4B9E3FF9}"/>
              </a:ext>
            </a:extLst>
          </p:cNvPr>
          <p:cNvSpPr>
            <a:spLocks noGrp="1"/>
          </p:cNvSpPr>
          <p:nvPr>
            <p:ph idx="1"/>
          </p:nvPr>
        </p:nvSpPr>
        <p:spPr>
          <a:xfrm>
            <a:off x="838200" y="1253331"/>
            <a:ext cx="5082309" cy="5286806"/>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&lt;?php</a:t>
            </a:r>
          </a:p>
          <a:p>
            <a:pPr marL="0" indent="0">
              <a:buNone/>
            </a:pPr>
            <a:r>
              <a:rPr lang="en-US" sz="2000" dirty="0">
                <a:latin typeface="Times New Roman" panose="02020603050405020304" pitchFamily="18" charset="0"/>
                <a:cs typeface="Times New Roman" panose="02020603050405020304" pitchFamily="18" charset="0"/>
              </a:rPr>
              <a:t>namespace App\Models;</a:t>
            </a:r>
          </a:p>
          <a:p>
            <a:pPr marL="0" indent="0">
              <a:buNone/>
            </a:pPr>
            <a:r>
              <a:rPr lang="en-US" sz="2000" dirty="0">
                <a:latin typeface="Times New Roman" panose="02020603050405020304" pitchFamily="18" charset="0"/>
                <a:cs typeface="Times New Roman" panose="02020603050405020304" pitchFamily="18" charset="0"/>
              </a:rPr>
              <a:t>use Illuminate\Database\Eloquent\Model;</a:t>
            </a:r>
          </a:p>
          <a:p>
            <a:pPr marL="0" indent="0">
              <a:buNone/>
            </a:pPr>
            <a:r>
              <a:rPr lang="en-US" sz="2000" dirty="0">
                <a:latin typeface="Times New Roman" panose="02020603050405020304" pitchFamily="18" charset="0"/>
                <a:cs typeface="Times New Roman" panose="02020603050405020304" pitchFamily="18" charset="0"/>
              </a:rPr>
              <a:t>class Author extends Model</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public function posts()</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return $this-&gt;</a:t>
            </a:r>
            <a:r>
              <a:rPr lang="en-US" sz="2000" dirty="0" err="1">
                <a:latin typeface="Times New Roman" panose="02020603050405020304" pitchFamily="18" charset="0"/>
                <a:cs typeface="Times New Roman" panose="02020603050405020304" pitchFamily="18" charset="0"/>
              </a:rPr>
              <a:t>hasMany</a:t>
            </a:r>
            <a:r>
              <a:rPr lang="en-US" sz="2000" dirty="0">
                <a:latin typeface="Times New Roman" panose="02020603050405020304" pitchFamily="18" charset="0"/>
                <a:cs typeface="Times New Roman" panose="02020603050405020304" pitchFamily="18" charset="0"/>
              </a:rPr>
              <a:t>(Post::class);</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p:txBody>
      </p:sp>
      <p:sp>
        <p:nvSpPr>
          <p:cNvPr id="4" name="Content Placeholder 2">
            <a:extLst>
              <a:ext uri="{FF2B5EF4-FFF2-40B4-BE49-F238E27FC236}">
                <a16:creationId xmlns:a16="http://schemas.microsoft.com/office/drawing/2014/main" id="{BDFEACFA-D257-40DE-9CBC-8643A0B4EF36}"/>
              </a:ext>
            </a:extLst>
          </p:cNvPr>
          <p:cNvSpPr txBox="1">
            <a:spLocks/>
          </p:cNvSpPr>
          <p:nvPr/>
        </p:nvSpPr>
        <p:spPr>
          <a:xfrm>
            <a:off x="6271493" y="1253331"/>
            <a:ext cx="5082309" cy="52868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Times New Roman" panose="02020603050405020304" pitchFamily="18" charset="0"/>
                <a:cs typeface="Times New Roman" panose="02020603050405020304" pitchFamily="18" charset="0"/>
              </a:rPr>
              <a:t>&lt;?php</a:t>
            </a:r>
          </a:p>
          <a:p>
            <a:pPr marL="0" indent="0">
              <a:buNone/>
            </a:pPr>
            <a:r>
              <a:rPr lang="en-US" sz="2000" dirty="0">
                <a:latin typeface="Times New Roman" panose="02020603050405020304" pitchFamily="18" charset="0"/>
                <a:cs typeface="Times New Roman" panose="02020603050405020304" pitchFamily="18" charset="0"/>
              </a:rPr>
              <a:t>namespace App\Models;</a:t>
            </a:r>
          </a:p>
          <a:p>
            <a:pPr marL="0" indent="0">
              <a:buNone/>
            </a:pPr>
            <a:r>
              <a:rPr lang="en-US" sz="2000" dirty="0">
                <a:latin typeface="Times New Roman" panose="02020603050405020304" pitchFamily="18" charset="0"/>
                <a:cs typeface="Times New Roman" panose="02020603050405020304" pitchFamily="18" charset="0"/>
              </a:rPr>
              <a:t>use Illuminate\Database\Eloquent\Model;</a:t>
            </a:r>
          </a:p>
          <a:p>
            <a:pPr marL="0" indent="0">
              <a:buNone/>
            </a:pPr>
            <a:r>
              <a:rPr lang="en-US" sz="2000" dirty="0">
                <a:latin typeface="Times New Roman" panose="02020603050405020304" pitchFamily="18" charset="0"/>
                <a:cs typeface="Times New Roman" panose="02020603050405020304" pitchFamily="18" charset="0"/>
              </a:rPr>
              <a:t>class Post extends Model</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public function author()</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return $this-&gt;</a:t>
            </a:r>
            <a:r>
              <a:rPr lang="en-US" sz="2000" dirty="0" err="1">
                <a:latin typeface="Times New Roman" panose="02020603050405020304" pitchFamily="18" charset="0"/>
                <a:cs typeface="Times New Roman" panose="02020603050405020304" pitchFamily="18" charset="0"/>
              </a:rPr>
              <a:t>belongsTo</a:t>
            </a:r>
            <a:r>
              <a:rPr lang="en-US" sz="2000" dirty="0">
                <a:latin typeface="Times New Roman" panose="02020603050405020304" pitchFamily="18" charset="0"/>
                <a:cs typeface="Times New Roman" panose="02020603050405020304" pitchFamily="18" charset="0"/>
              </a:rPr>
              <a:t>(Author::class);</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26482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0" end="0"/>
                                            </p:txEl>
                                          </p:spTgt>
                                        </p:tgtEl>
                                        <p:attrNameLst>
                                          <p:attrName>style.visibility</p:attrName>
                                        </p:attrNameLst>
                                      </p:cBhvr>
                                      <p:to>
                                        <p:strVal val="visible"/>
                                      </p:to>
                                    </p:set>
                                    <p:animEffect transition="in" filter="fade">
                                      <p:cBhvr>
                                        <p:cTn id="57" dur="500"/>
                                        <p:tgtEl>
                                          <p:spTgt spid="4">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1" end="1"/>
                                            </p:txEl>
                                          </p:spTgt>
                                        </p:tgtEl>
                                        <p:attrNameLst>
                                          <p:attrName>style.visibility</p:attrName>
                                        </p:attrNameLst>
                                      </p:cBhvr>
                                      <p:to>
                                        <p:strVal val="visible"/>
                                      </p:to>
                                    </p:set>
                                    <p:animEffect transition="in" filter="fade">
                                      <p:cBhvr>
                                        <p:cTn id="62" dur="500"/>
                                        <p:tgtEl>
                                          <p:spTgt spid="4">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2" end="2"/>
                                            </p:txEl>
                                          </p:spTgt>
                                        </p:tgtEl>
                                        <p:attrNameLst>
                                          <p:attrName>style.visibility</p:attrName>
                                        </p:attrNameLst>
                                      </p:cBhvr>
                                      <p:to>
                                        <p:strVal val="visible"/>
                                      </p:to>
                                    </p:set>
                                    <p:animEffect transition="in" filter="fade">
                                      <p:cBhvr>
                                        <p:cTn id="67" dur="500"/>
                                        <p:tgtEl>
                                          <p:spTgt spid="4">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3" end="3"/>
                                            </p:txEl>
                                          </p:spTgt>
                                        </p:tgtEl>
                                        <p:attrNameLst>
                                          <p:attrName>style.visibility</p:attrName>
                                        </p:attrNameLst>
                                      </p:cBhvr>
                                      <p:to>
                                        <p:strVal val="visible"/>
                                      </p:to>
                                    </p:set>
                                    <p:animEffect transition="in" filter="fade">
                                      <p:cBhvr>
                                        <p:cTn id="72" dur="500"/>
                                        <p:tgtEl>
                                          <p:spTgt spid="4">
                                            <p:txEl>
                                              <p:pRg st="3" end="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4" end="4"/>
                                            </p:txEl>
                                          </p:spTgt>
                                        </p:tgtEl>
                                        <p:attrNameLst>
                                          <p:attrName>style.visibility</p:attrName>
                                        </p:attrNameLst>
                                      </p:cBhvr>
                                      <p:to>
                                        <p:strVal val="visible"/>
                                      </p:to>
                                    </p:set>
                                    <p:animEffect transition="in" filter="fade">
                                      <p:cBhvr>
                                        <p:cTn id="77" dur="500"/>
                                        <p:tgtEl>
                                          <p:spTgt spid="4">
                                            <p:txEl>
                                              <p:pRg st="4" end="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5" end="5"/>
                                            </p:txEl>
                                          </p:spTgt>
                                        </p:tgtEl>
                                        <p:attrNameLst>
                                          <p:attrName>style.visibility</p:attrName>
                                        </p:attrNameLst>
                                      </p:cBhvr>
                                      <p:to>
                                        <p:strVal val="visible"/>
                                      </p:to>
                                    </p:set>
                                    <p:animEffect transition="in" filter="fade">
                                      <p:cBhvr>
                                        <p:cTn id="82" dur="500"/>
                                        <p:tgtEl>
                                          <p:spTgt spid="4">
                                            <p:txEl>
                                              <p:pRg st="5" end="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
                                            <p:txEl>
                                              <p:pRg st="6" end="6"/>
                                            </p:txEl>
                                          </p:spTgt>
                                        </p:tgtEl>
                                        <p:attrNameLst>
                                          <p:attrName>style.visibility</p:attrName>
                                        </p:attrNameLst>
                                      </p:cBhvr>
                                      <p:to>
                                        <p:strVal val="visible"/>
                                      </p:to>
                                    </p:set>
                                    <p:animEffect transition="in" filter="fade">
                                      <p:cBhvr>
                                        <p:cTn id="87" dur="500"/>
                                        <p:tgtEl>
                                          <p:spTgt spid="4">
                                            <p:txEl>
                                              <p:pRg st="6" end="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
                                            <p:txEl>
                                              <p:pRg st="7" end="7"/>
                                            </p:txEl>
                                          </p:spTgt>
                                        </p:tgtEl>
                                        <p:attrNameLst>
                                          <p:attrName>style.visibility</p:attrName>
                                        </p:attrNameLst>
                                      </p:cBhvr>
                                      <p:to>
                                        <p:strVal val="visible"/>
                                      </p:to>
                                    </p:set>
                                    <p:animEffect transition="in" filter="fade">
                                      <p:cBhvr>
                                        <p:cTn id="92" dur="500"/>
                                        <p:tgtEl>
                                          <p:spTgt spid="4">
                                            <p:txEl>
                                              <p:pRg st="7" end="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4">
                                            <p:txEl>
                                              <p:pRg st="8" end="8"/>
                                            </p:txEl>
                                          </p:spTgt>
                                        </p:tgtEl>
                                        <p:attrNameLst>
                                          <p:attrName>style.visibility</p:attrName>
                                        </p:attrNameLst>
                                      </p:cBhvr>
                                      <p:to>
                                        <p:strVal val="visible"/>
                                      </p:to>
                                    </p:set>
                                    <p:animEffect transition="in" filter="fade">
                                      <p:cBhvr>
                                        <p:cTn id="97" dur="500"/>
                                        <p:tgtEl>
                                          <p:spTgt spid="4">
                                            <p:txEl>
                                              <p:pRg st="8" end="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4">
                                            <p:txEl>
                                              <p:pRg st="9" end="9"/>
                                            </p:txEl>
                                          </p:spTgt>
                                        </p:tgtEl>
                                        <p:attrNameLst>
                                          <p:attrName>style.visibility</p:attrName>
                                        </p:attrNameLst>
                                      </p:cBhvr>
                                      <p:to>
                                        <p:strVal val="visible"/>
                                      </p:to>
                                    </p:set>
                                    <p:animEffect transition="in" filter="fade">
                                      <p:cBhvr>
                                        <p:cTn id="102"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itchFamily="18" charset="0"/>
                <a:cs typeface="Times New Roman" pitchFamily="18" charset="0"/>
              </a:rPr>
              <a:t>Has One Through Relationship</a:t>
            </a:r>
          </a:p>
        </p:txBody>
      </p:sp>
      <p:sp>
        <p:nvSpPr>
          <p:cNvPr id="3" name="Content Placeholder 2">
            <a:extLst>
              <a:ext uri="{FF2B5EF4-FFF2-40B4-BE49-F238E27FC236}">
                <a16:creationId xmlns:a16="http://schemas.microsoft.com/office/drawing/2014/main" id="{1C7DD53C-D323-40AA-B621-8C5B4B9E3FF9}"/>
              </a:ext>
            </a:extLst>
          </p:cNvPr>
          <p:cNvSpPr>
            <a:spLocks noGrp="1"/>
          </p:cNvSpPr>
          <p:nvPr>
            <p:ph idx="1"/>
          </p:nvPr>
        </p:nvSpPr>
        <p:spPr>
          <a:xfrm>
            <a:off x="838200" y="1253331"/>
            <a:ext cx="10515600" cy="1310852"/>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"has-one-through" relationship defines a one-to-one relationship with another model. </a:t>
            </a:r>
          </a:p>
          <a:p>
            <a:pPr marL="0" indent="0">
              <a:buNone/>
            </a:pPr>
            <a:r>
              <a:rPr lang="en-US" sz="2000" dirty="0">
                <a:latin typeface="Times New Roman" panose="02020603050405020304" pitchFamily="18" charset="0"/>
                <a:cs typeface="Times New Roman" panose="02020603050405020304" pitchFamily="18" charset="0"/>
              </a:rPr>
              <a:t>However, this relationship indicates that the declaring model can be matched with one instance of another model by proceeding through a third model.</a:t>
            </a:r>
          </a:p>
        </p:txBody>
      </p:sp>
      <p:pic>
        <p:nvPicPr>
          <p:cNvPr id="7" name="Picture 6">
            <a:extLst>
              <a:ext uri="{FF2B5EF4-FFF2-40B4-BE49-F238E27FC236}">
                <a16:creationId xmlns:a16="http://schemas.microsoft.com/office/drawing/2014/main" id="{4BA43817-484F-4A96-9CA5-589C2C1751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4503" y="3404501"/>
            <a:ext cx="2493417" cy="1770326"/>
          </a:xfrm>
          <a:prstGeom prst="rect">
            <a:avLst/>
          </a:prstGeom>
        </p:spPr>
      </p:pic>
      <p:pic>
        <p:nvPicPr>
          <p:cNvPr id="9" name="Picture 8">
            <a:extLst>
              <a:ext uri="{FF2B5EF4-FFF2-40B4-BE49-F238E27FC236}">
                <a16:creationId xmlns:a16="http://schemas.microsoft.com/office/drawing/2014/main" id="{44A3AD69-DD19-4924-9095-238C5F4DCB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9050" y="2708247"/>
            <a:ext cx="2493417" cy="2922687"/>
          </a:xfrm>
          <a:prstGeom prst="rect">
            <a:avLst/>
          </a:prstGeom>
        </p:spPr>
      </p:pic>
      <p:pic>
        <p:nvPicPr>
          <p:cNvPr id="11" name="Picture 10">
            <a:extLst>
              <a:ext uri="{FF2B5EF4-FFF2-40B4-BE49-F238E27FC236}">
                <a16:creationId xmlns:a16="http://schemas.microsoft.com/office/drawing/2014/main" id="{C0DA75AE-2DEC-47D0-B3CD-305CAF44FB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54037" y="2564183"/>
            <a:ext cx="2096970" cy="2956081"/>
          </a:xfrm>
          <a:prstGeom prst="rect">
            <a:avLst/>
          </a:prstGeom>
        </p:spPr>
      </p:pic>
    </p:spTree>
    <p:extLst>
      <p:ext uri="{BB962C8B-B14F-4D97-AF65-F5344CB8AC3E}">
        <p14:creationId xmlns:p14="http://schemas.microsoft.com/office/powerpoint/2010/main" val="1512752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itchFamily="18" charset="0"/>
                <a:cs typeface="Times New Roman" pitchFamily="18" charset="0"/>
              </a:rPr>
              <a:t>Has One Through Relationship</a:t>
            </a:r>
          </a:p>
        </p:txBody>
      </p:sp>
      <p:graphicFrame>
        <p:nvGraphicFramePr>
          <p:cNvPr id="4" name="Table 4">
            <a:extLst>
              <a:ext uri="{FF2B5EF4-FFF2-40B4-BE49-F238E27FC236}">
                <a16:creationId xmlns:a16="http://schemas.microsoft.com/office/drawing/2014/main" id="{6FB283DE-EA78-401A-96C8-0C9938411FB0}"/>
              </a:ext>
            </a:extLst>
          </p:cNvPr>
          <p:cNvGraphicFramePr>
            <a:graphicFrameLocks noGrp="1"/>
          </p:cNvGraphicFramePr>
          <p:nvPr>
            <p:extLst>
              <p:ext uri="{D42A27DB-BD31-4B8C-83A1-F6EECF244321}">
                <p14:modId xmlns:p14="http://schemas.microsoft.com/office/powerpoint/2010/main" val="4074822323"/>
              </p:ext>
            </p:extLst>
          </p:nvPr>
        </p:nvGraphicFramePr>
        <p:xfrm>
          <a:off x="1306790" y="1850683"/>
          <a:ext cx="1899524" cy="1099896"/>
        </p:xfrm>
        <a:graphic>
          <a:graphicData uri="http://schemas.openxmlformats.org/drawingml/2006/table">
            <a:tbl>
              <a:tblPr firstRow="1" bandRow="1">
                <a:tableStyleId>{5940675A-B579-460E-94D1-54222C63F5DA}</a:tableStyleId>
              </a:tblPr>
              <a:tblGrid>
                <a:gridCol w="469759">
                  <a:extLst>
                    <a:ext uri="{9D8B030D-6E8A-4147-A177-3AD203B41FA5}">
                      <a16:colId xmlns:a16="http://schemas.microsoft.com/office/drawing/2014/main" val="4186345142"/>
                    </a:ext>
                  </a:extLst>
                </a:gridCol>
                <a:gridCol w="1429765">
                  <a:extLst>
                    <a:ext uri="{9D8B030D-6E8A-4147-A177-3AD203B41FA5}">
                      <a16:colId xmlns:a16="http://schemas.microsoft.com/office/drawing/2014/main" val="3513300562"/>
                    </a:ext>
                  </a:extLst>
                </a:gridCol>
              </a:tblGrid>
              <a:tr h="366632">
                <a:tc>
                  <a:txBody>
                    <a:bodyPr/>
                    <a:lstStyle/>
                    <a:p>
                      <a:pPr algn="ctr"/>
                      <a:r>
                        <a:rPr lang="en-US" dirty="0">
                          <a:latin typeface="Times New Roman" panose="02020603050405020304" pitchFamily="18" charset="0"/>
                          <a:cs typeface="Times New Roman" panose="02020603050405020304" pitchFamily="18" charset="0"/>
                        </a:rPr>
                        <a:t>id</a:t>
                      </a:r>
                    </a:p>
                  </a:txBody>
                  <a:tcPr>
                    <a:solidFill>
                      <a:schemeClr val="accent2"/>
                    </a:solidFill>
                  </a:tcPr>
                </a:tc>
                <a:tc>
                  <a:txBody>
                    <a:bodyPr/>
                    <a:lstStyle/>
                    <a:p>
                      <a:pPr algn="ctr"/>
                      <a:r>
                        <a:rPr lang="en-US" dirty="0">
                          <a:latin typeface="Times New Roman" panose="02020603050405020304" pitchFamily="18" charset="0"/>
                          <a:cs typeface="Times New Roman" panose="02020603050405020304" pitchFamily="18" charset="0"/>
                        </a:rPr>
                        <a:t>name</a:t>
                      </a:r>
                    </a:p>
                  </a:txBody>
                  <a:tcPr>
                    <a:solidFill>
                      <a:schemeClr val="accent2"/>
                    </a:solidFill>
                  </a:tcPr>
                </a:tc>
                <a:extLst>
                  <a:ext uri="{0D108BD9-81ED-4DB2-BD59-A6C34878D82A}">
                    <a16:rowId xmlns:a16="http://schemas.microsoft.com/office/drawing/2014/main" val="893977853"/>
                  </a:ext>
                </a:extLst>
              </a:tr>
              <a:tr h="366632">
                <a:tc>
                  <a:txBody>
                    <a:bodyPr/>
                    <a:lstStyle/>
                    <a:p>
                      <a:pPr algn="ctr"/>
                      <a:r>
                        <a:rPr lang="en-US" dirty="0">
                          <a:latin typeface="Times New Roman" panose="02020603050405020304" pitchFamily="18" charset="0"/>
                          <a:cs typeface="Times New Roman" panose="02020603050405020304" pitchFamily="18" charset="0"/>
                        </a:rPr>
                        <a:t>1</a:t>
                      </a:r>
                    </a:p>
                  </a:txBody>
                  <a:tcPr/>
                </a:tc>
                <a:tc>
                  <a:txBody>
                    <a:bodyPr/>
                    <a:lstStyle/>
                    <a:p>
                      <a:pPr algn="ctr"/>
                      <a:r>
                        <a:rPr lang="en-US" dirty="0">
                          <a:latin typeface="Times New Roman" panose="02020603050405020304" pitchFamily="18" charset="0"/>
                          <a:cs typeface="Times New Roman" panose="02020603050405020304" pitchFamily="18" charset="0"/>
                        </a:rPr>
                        <a:t>Jack</a:t>
                      </a:r>
                    </a:p>
                  </a:txBody>
                  <a:tcPr/>
                </a:tc>
                <a:extLst>
                  <a:ext uri="{0D108BD9-81ED-4DB2-BD59-A6C34878D82A}">
                    <a16:rowId xmlns:a16="http://schemas.microsoft.com/office/drawing/2014/main" val="124400432"/>
                  </a:ext>
                </a:extLst>
              </a:tr>
              <a:tr h="366632">
                <a:tc>
                  <a:txBody>
                    <a:bodyPr/>
                    <a:lstStyle/>
                    <a:p>
                      <a:pPr algn="ctr"/>
                      <a:r>
                        <a:rPr lang="en-US" dirty="0">
                          <a:latin typeface="Times New Roman" panose="02020603050405020304" pitchFamily="18" charset="0"/>
                          <a:cs typeface="Times New Roman" panose="02020603050405020304" pitchFamily="18" charset="0"/>
                        </a:rPr>
                        <a:t>2</a:t>
                      </a:r>
                    </a:p>
                  </a:txBody>
                  <a:tcPr/>
                </a:tc>
                <a:tc>
                  <a:txBody>
                    <a:bodyPr/>
                    <a:lstStyle/>
                    <a:p>
                      <a:pPr algn="ctr"/>
                      <a:r>
                        <a:rPr lang="en-US" dirty="0">
                          <a:latin typeface="Times New Roman" panose="02020603050405020304" pitchFamily="18" charset="0"/>
                          <a:cs typeface="Times New Roman" panose="02020603050405020304" pitchFamily="18" charset="0"/>
                        </a:rPr>
                        <a:t>Tom</a:t>
                      </a:r>
                    </a:p>
                  </a:txBody>
                  <a:tcPr/>
                </a:tc>
                <a:extLst>
                  <a:ext uri="{0D108BD9-81ED-4DB2-BD59-A6C34878D82A}">
                    <a16:rowId xmlns:a16="http://schemas.microsoft.com/office/drawing/2014/main" val="2490271880"/>
                  </a:ext>
                </a:extLst>
              </a:tr>
            </a:tbl>
          </a:graphicData>
        </a:graphic>
      </p:graphicFrame>
      <p:graphicFrame>
        <p:nvGraphicFramePr>
          <p:cNvPr id="6" name="Table 4">
            <a:extLst>
              <a:ext uri="{FF2B5EF4-FFF2-40B4-BE49-F238E27FC236}">
                <a16:creationId xmlns:a16="http://schemas.microsoft.com/office/drawing/2014/main" id="{80D38DBA-9B25-4786-8710-590E80029245}"/>
              </a:ext>
            </a:extLst>
          </p:cNvPr>
          <p:cNvGraphicFramePr>
            <a:graphicFrameLocks noGrp="1"/>
          </p:cNvGraphicFramePr>
          <p:nvPr>
            <p:extLst>
              <p:ext uri="{D42A27DB-BD31-4B8C-83A1-F6EECF244321}">
                <p14:modId xmlns:p14="http://schemas.microsoft.com/office/powerpoint/2010/main" val="1827873296"/>
              </p:ext>
            </p:extLst>
          </p:nvPr>
        </p:nvGraphicFramePr>
        <p:xfrm>
          <a:off x="3635741" y="1669111"/>
          <a:ext cx="3348183" cy="1463040"/>
        </p:xfrm>
        <a:graphic>
          <a:graphicData uri="http://schemas.openxmlformats.org/drawingml/2006/table">
            <a:tbl>
              <a:tblPr firstRow="1" bandRow="1">
                <a:tableStyleId>{5940675A-B579-460E-94D1-54222C63F5DA}</a:tableStyleId>
              </a:tblPr>
              <a:tblGrid>
                <a:gridCol w="631509">
                  <a:extLst>
                    <a:ext uri="{9D8B030D-6E8A-4147-A177-3AD203B41FA5}">
                      <a16:colId xmlns:a16="http://schemas.microsoft.com/office/drawing/2014/main" val="4186345142"/>
                    </a:ext>
                  </a:extLst>
                </a:gridCol>
                <a:gridCol w="1032654">
                  <a:extLst>
                    <a:ext uri="{9D8B030D-6E8A-4147-A177-3AD203B41FA5}">
                      <a16:colId xmlns:a16="http://schemas.microsoft.com/office/drawing/2014/main" val="3513300562"/>
                    </a:ext>
                  </a:extLst>
                </a:gridCol>
                <a:gridCol w="1684020">
                  <a:extLst>
                    <a:ext uri="{9D8B030D-6E8A-4147-A177-3AD203B41FA5}">
                      <a16:colId xmlns:a16="http://schemas.microsoft.com/office/drawing/2014/main" val="986559387"/>
                    </a:ext>
                  </a:extLst>
                </a:gridCol>
              </a:tblGrid>
              <a:tr h="295756">
                <a:tc>
                  <a:txBody>
                    <a:bodyPr/>
                    <a:lstStyle/>
                    <a:p>
                      <a:pPr algn="ctr"/>
                      <a:r>
                        <a:rPr lang="en-US" dirty="0">
                          <a:latin typeface="Times New Roman" panose="02020603050405020304" pitchFamily="18" charset="0"/>
                          <a:cs typeface="Times New Roman" panose="02020603050405020304" pitchFamily="18" charset="0"/>
                        </a:rPr>
                        <a:t>id</a:t>
                      </a:r>
                    </a:p>
                  </a:txBody>
                  <a:tcPr>
                    <a:solidFill>
                      <a:schemeClr val="accent2"/>
                    </a:solidFill>
                  </a:tcPr>
                </a:tc>
                <a:tc>
                  <a:txBody>
                    <a:bodyPr/>
                    <a:lstStyle/>
                    <a:p>
                      <a:pPr algn="ctr"/>
                      <a:r>
                        <a:rPr lang="en-US" dirty="0">
                          <a:latin typeface="Times New Roman" panose="02020603050405020304" pitchFamily="18" charset="0"/>
                          <a:cs typeface="Times New Roman" panose="02020603050405020304" pitchFamily="18" charset="0"/>
                        </a:rPr>
                        <a:t>model</a:t>
                      </a:r>
                    </a:p>
                  </a:txBody>
                  <a:tcPr>
                    <a:solidFill>
                      <a:schemeClr val="accent2"/>
                    </a:solidFill>
                  </a:tcPr>
                </a:tc>
                <a:tc>
                  <a:txBody>
                    <a:bodyPr/>
                    <a:lstStyle/>
                    <a:p>
                      <a:pPr algn="ctr"/>
                      <a:r>
                        <a:rPr lang="en-US" dirty="0" err="1">
                          <a:latin typeface="Times New Roman" panose="02020603050405020304" pitchFamily="18" charset="0"/>
                          <a:cs typeface="Times New Roman" panose="02020603050405020304" pitchFamily="18" charset="0"/>
                        </a:rPr>
                        <a:t>mechanic_id</a:t>
                      </a:r>
                      <a:endParaRPr lang="en-US" dirty="0">
                        <a:latin typeface="Times New Roman" panose="02020603050405020304" pitchFamily="18" charset="0"/>
                        <a:cs typeface="Times New Roman" panose="02020603050405020304" pitchFamily="18" charset="0"/>
                      </a:endParaRPr>
                    </a:p>
                  </a:txBody>
                  <a:tcPr>
                    <a:solidFill>
                      <a:schemeClr val="accent2"/>
                    </a:solidFill>
                  </a:tcPr>
                </a:tc>
                <a:extLst>
                  <a:ext uri="{0D108BD9-81ED-4DB2-BD59-A6C34878D82A}">
                    <a16:rowId xmlns:a16="http://schemas.microsoft.com/office/drawing/2014/main" val="893977853"/>
                  </a:ext>
                </a:extLst>
              </a:tr>
              <a:tr h="295756">
                <a:tc>
                  <a:txBody>
                    <a:bodyPr/>
                    <a:lstStyle/>
                    <a:p>
                      <a:pPr algn="ctr"/>
                      <a:r>
                        <a:rPr lang="en-US" dirty="0">
                          <a:latin typeface="Times New Roman" panose="02020603050405020304" pitchFamily="18" charset="0"/>
                          <a:cs typeface="Times New Roman" panose="02020603050405020304" pitchFamily="18" charset="0"/>
                        </a:rPr>
                        <a:t>1</a:t>
                      </a:r>
                    </a:p>
                  </a:txBody>
                  <a:tcPr/>
                </a:tc>
                <a:tc>
                  <a:txBody>
                    <a:bodyPr/>
                    <a:lstStyle/>
                    <a:p>
                      <a:pPr algn="ctr"/>
                      <a:r>
                        <a:rPr lang="en-US" dirty="0">
                          <a:latin typeface="Times New Roman" panose="02020603050405020304" pitchFamily="18" charset="0"/>
                          <a:cs typeface="Times New Roman" panose="02020603050405020304" pitchFamily="18" charset="0"/>
                        </a:rPr>
                        <a:t>i10</a:t>
                      </a:r>
                    </a:p>
                  </a:txBody>
                  <a:tcPr/>
                </a:tc>
                <a:tc>
                  <a:txBody>
                    <a:bodyPr/>
                    <a:lstStyle/>
                    <a:p>
                      <a:pPr algn="ctr"/>
                      <a:r>
                        <a:rPr lang="en-US" dirty="0">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124400432"/>
                  </a:ext>
                </a:extLst>
              </a:tr>
              <a:tr h="295756">
                <a:tc>
                  <a:txBody>
                    <a:bodyPr/>
                    <a:lstStyle/>
                    <a:p>
                      <a:pPr algn="ctr"/>
                      <a:r>
                        <a:rPr lang="en-US" dirty="0">
                          <a:latin typeface="Times New Roman" panose="02020603050405020304" pitchFamily="18" charset="0"/>
                          <a:cs typeface="Times New Roman" panose="02020603050405020304" pitchFamily="18" charset="0"/>
                        </a:rPr>
                        <a:t>2</a:t>
                      </a:r>
                    </a:p>
                  </a:txBody>
                  <a:tcPr/>
                </a:tc>
                <a:tc>
                  <a:txBody>
                    <a:bodyPr/>
                    <a:lstStyle/>
                    <a:p>
                      <a:pPr algn="ctr"/>
                      <a:r>
                        <a:rPr lang="en-US" dirty="0">
                          <a:latin typeface="Times New Roman" panose="02020603050405020304" pitchFamily="18" charset="0"/>
                          <a:cs typeface="Times New Roman" panose="02020603050405020304" pitchFamily="18" charset="0"/>
                        </a:rPr>
                        <a:t>Sigma</a:t>
                      </a:r>
                    </a:p>
                  </a:txBody>
                  <a:tcPr/>
                </a:tc>
                <a:tc>
                  <a:txBody>
                    <a:bodyPr/>
                    <a:lstStyle/>
                    <a:p>
                      <a:pPr algn="ctr"/>
                      <a:r>
                        <a:rPr lang="en-US" dirty="0">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2490271880"/>
                  </a:ext>
                </a:extLst>
              </a:tr>
              <a:tr h="295756">
                <a:tc>
                  <a:txBody>
                    <a:bodyPr/>
                    <a:lstStyle/>
                    <a:p>
                      <a:pPr algn="ctr"/>
                      <a:r>
                        <a:rPr lang="en-US" dirty="0">
                          <a:latin typeface="Times New Roman" panose="02020603050405020304" pitchFamily="18" charset="0"/>
                          <a:cs typeface="Times New Roman" panose="02020603050405020304" pitchFamily="18" charset="0"/>
                        </a:rPr>
                        <a:t>3</a:t>
                      </a:r>
                    </a:p>
                  </a:txBody>
                  <a:tcPr/>
                </a:tc>
                <a:tc>
                  <a:txBody>
                    <a:bodyPr/>
                    <a:lstStyle/>
                    <a:p>
                      <a:pPr algn="ctr"/>
                      <a:r>
                        <a:rPr lang="en-US" dirty="0">
                          <a:latin typeface="Times New Roman" panose="02020603050405020304" pitchFamily="18" charset="0"/>
                          <a:cs typeface="Times New Roman" panose="02020603050405020304" pitchFamily="18" charset="0"/>
                        </a:rPr>
                        <a:t>ZX</a:t>
                      </a:r>
                    </a:p>
                  </a:txBody>
                  <a:tcPr/>
                </a:tc>
                <a:tc>
                  <a:txBody>
                    <a:bodyPr/>
                    <a:lstStyle/>
                    <a:p>
                      <a:pPr algn="ctr"/>
                      <a:r>
                        <a:rPr lang="en-US" dirty="0">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56107947"/>
                  </a:ext>
                </a:extLst>
              </a:tr>
            </a:tbl>
          </a:graphicData>
        </a:graphic>
      </p:graphicFrame>
      <p:graphicFrame>
        <p:nvGraphicFramePr>
          <p:cNvPr id="7" name="Table 4">
            <a:extLst>
              <a:ext uri="{FF2B5EF4-FFF2-40B4-BE49-F238E27FC236}">
                <a16:creationId xmlns:a16="http://schemas.microsoft.com/office/drawing/2014/main" id="{F5D0EAE0-669D-4AA8-A0B1-B7E9772760F7}"/>
              </a:ext>
            </a:extLst>
          </p:cNvPr>
          <p:cNvGraphicFramePr>
            <a:graphicFrameLocks noGrp="1"/>
          </p:cNvGraphicFramePr>
          <p:nvPr>
            <p:extLst>
              <p:ext uri="{D42A27DB-BD31-4B8C-83A1-F6EECF244321}">
                <p14:modId xmlns:p14="http://schemas.microsoft.com/office/powerpoint/2010/main" val="4199587473"/>
              </p:ext>
            </p:extLst>
          </p:nvPr>
        </p:nvGraphicFramePr>
        <p:xfrm>
          <a:off x="7413351" y="1669111"/>
          <a:ext cx="3131129" cy="1463040"/>
        </p:xfrm>
        <a:graphic>
          <a:graphicData uri="http://schemas.openxmlformats.org/drawingml/2006/table">
            <a:tbl>
              <a:tblPr firstRow="1" bandRow="1">
                <a:tableStyleId>{5940675A-B579-460E-94D1-54222C63F5DA}</a:tableStyleId>
              </a:tblPr>
              <a:tblGrid>
                <a:gridCol w="631427">
                  <a:extLst>
                    <a:ext uri="{9D8B030D-6E8A-4147-A177-3AD203B41FA5}">
                      <a16:colId xmlns:a16="http://schemas.microsoft.com/office/drawing/2014/main" val="4186345142"/>
                    </a:ext>
                  </a:extLst>
                </a:gridCol>
                <a:gridCol w="1151424">
                  <a:extLst>
                    <a:ext uri="{9D8B030D-6E8A-4147-A177-3AD203B41FA5}">
                      <a16:colId xmlns:a16="http://schemas.microsoft.com/office/drawing/2014/main" val="3513300562"/>
                    </a:ext>
                  </a:extLst>
                </a:gridCol>
                <a:gridCol w="1348278">
                  <a:extLst>
                    <a:ext uri="{9D8B030D-6E8A-4147-A177-3AD203B41FA5}">
                      <a16:colId xmlns:a16="http://schemas.microsoft.com/office/drawing/2014/main" val="986559387"/>
                    </a:ext>
                  </a:extLst>
                </a:gridCol>
              </a:tblGrid>
              <a:tr h="295756">
                <a:tc>
                  <a:txBody>
                    <a:bodyPr/>
                    <a:lstStyle/>
                    <a:p>
                      <a:pPr algn="ctr"/>
                      <a:r>
                        <a:rPr lang="en-US" dirty="0">
                          <a:latin typeface="Times New Roman" panose="02020603050405020304" pitchFamily="18" charset="0"/>
                          <a:cs typeface="Times New Roman" panose="02020603050405020304" pitchFamily="18" charset="0"/>
                        </a:rPr>
                        <a:t>id</a:t>
                      </a:r>
                    </a:p>
                  </a:txBody>
                  <a:tcPr>
                    <a:solidFill>
                      <a:schemeClr val="accent2"/>
                    </a:solidFill>
                  </a:tcPr>
                </a:tc>
                <a:tc>
                  <a:txBody>
                    <a:bodyPr/>
                    <a:lstStyle/>
                    <a:p>
                      <a:pPr algn="ctr"/>
                      <a:r>
                        <a:rPr lang="en-US" dirty="0">
                          <a:latin typeface="Times New Roman" panose="02020603050405020304" pitchFamily="18" charset="0"/>
                          <a:cs typeface="Times New Roman" panose="02020603050405020304" pitchFamily="18" charset="0"/>
                        </a:rPr>
                        <a:t>name</a:t>
                      </a:r>
                    </a:p>
                  </a:txBody>
                  <a:tcPr>
                    <a:solidFill>
                      <a:schemeClr val="accent2"/>
                    </a:solidFill>
                  </a:tcPr>
                </a:tc>
                <a:tc>
                  <a:txBody>
                    <a:bodyPr/>
                    <a:lstStyle/>
                    <a:p>
                      <a:pPr algn="ctr"/>
                      <a:r>
                        <a:rPr lang="en-US" dirty="0" err="1">
                          <a:latin typeface="Times New Roman" panose="02020603050405020304" pitchFamily="18" charset="0"/>
                          <a:cs typeface="Times New Roman" panose="02020603050405020304" pitchFamily="18" charset="0"/>
                        </a:rPr>
                        <a:t>car_id</a:t>
                      </a:r>
                      <a:endParaRPr lang="en-US" dirty="0">
                        <a:latin typeface="Times New Roman" panose="02020603050405020304" pitchFamily="18" charset="0"/>
                        <a:cs typeface="Times New Roman" panose="02020603050405020304" pitchFamily="18" charset="0"/>
                      </a:endParaRPr>
                    </a:p>
                  </a:txBody>
                  <a:tcPr>
                    <a:solidFill>
                      <a:schemeClr val="accent2"/>
                    </a:solidFill>
                  </a:tcPr>
                </a:tc>
                <a:extLst>
                  <a:ext uri="{0D108BD9-81ED-4DB2-BD59-A6C34878D82A}">
                    <a16:rowId xmlns:a16="http://schemas.microsoft.com/office/drawing/2014/main" val="893977853"/>
                  </a:ext>
                </a:extLst>
              </a:tr>
              <a:tr h="295756">
                <a:tc>
                  <a:txBody>
                    <a:bodyPr/>
                    <a:lstStyle/>
                    <a:p>
                      <a:pPr algn="ctr"/>
                      <a:r>
                        <a:rPr lang="en-US" dirty="0">
                          <a:latin typeface="Times New Roman" panose="02020603050405020304" pitchFamily="18" charset="0"/>
                          <a:cs typeface="Times New Roman" panose="02020603050405020304" pitchFamily="18" charset="0"/>
                        </a:rPr>
                        <a:t>1</a:t>
                      </a:r>
                    </a:p>
                  </a:txBody>
                  <a:tcPr/>
                </a:tc>
                <a:tc>
                  <a:txBody>
                    <a:bodyPr/>
                    <a:lstStyle/>
                    <a:p>
                      <a:pPr algn="ctr"/>
                      <a:r>
                        <a:rPr lang="en-US" dirty="0">
                          <a:latin typeface="Times New Roman" panose="02020603050405020304" pitchFamily="18" charset="0"/>
                          <a:cs typeface="Times New Roman" panose="02020603050405020304" pitchFamily="18" charset="0"/>
                        </a:rPr>
                        <a:t>Sonam</a:t>
                      </a:r>
                    </a:p>
                  </a:txBody>
                  <a:tcPr/>
                </a:tc>
                <a:tc>
                  <a:txBody>
                    <a:bodyPr/>
                    <a:lstStyle/>
                    <a:p>
                      <a:pPr algn="ctr"/>
                      <a:r>
                        <a:rPr lang="en-US" dirty="0">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124400432"/>
                  </a:ext>
                </a:extLst>
              </a:tr>
              <a:tr h="295756">
                <a:tc>
                  <a:txBody>
                    <a:bodyPr/>
                    <a:lstStyle/>
                    <a:p>
                      <a:pPr algn="ctr"/>
                      <a:r>
                        <a:rPr lang="en-US" dirty="0">
                          <a:latin typeface="Times New Roman" panose="02020603050405020304" pitchFamily="18" charset="0"/>
                          <a:cs typeface="Times New Roman" panose="02020603050405020304" pitchFamily="18" charset="0"/>
                        </a:rPr>
                        <a:t>2</a:t>
                      </a:r>
                    </a:p>
                  </a:txBody>
                  <a:tcPr/>
                </a:tc>
                <a:tc>
                  <a:txBody>
                    <a:bodyPr/>
                    <a:lstStyle/>
                    <a:p>
                      <a:pPr algn="ctr"/>
                      <a:r>
                        <a:rPr lang="en-US" dirty="0">
                          <a:latin typeface="Times New Roman" panose="02020603050405020304" pitchFamily="18" charset="0"/>
                          <a:cs typeface="Times New Roman" panose="02020603050405020304" pitchFamily="18" charset="0"/>
                        </a:rPr>
                        <a:t>Rahul</a:t>
                      </a:r>
                    </a:p>
                  </a:txBody>
                  <a:tcPr/>
                </a:tc>
                <a:tc>
                  <a:txBody>
                    <a:bodyPr/>
                    <a:lstStyle/>
                    <a:p>
                      <a:pPr algn="ctr"/>
                      <a:r>
                        <a:rPr lang="en-US" dirty="0">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2490271880"/>
                  </a:ext>
                </a:extLst>
              </a:tr>
              <a:tr h="195851">
                <a:tc>
                  <a:txBody>
                    <a:bodyPr/>
                    <a:lstStyle/>
                    <a:p>
                      <a:pPr algn="ctr"/>
                      <a:r>
                        <a:rPr lang="en-US" dirty="0">
                          <a:latin typeface="Times New Roman" panose="02020603050405020304" pitchFamily="18" charset="0"/>
                          <a:cs typeface="Times New Roman" panose="02020603050405020304" pitchFamily="18" charset="0"/>
                        </a:rPr>
                        <a:t>3</a:t>
                      </a:r>
                    </a:p>
                  </a:txBody>
                  <a:tcPr/>
                </a:tc>
                <a:tc>
                  <a:txBody>
                    <a:bodyPr/>
                    <a:lstStyle/>
                    <a:p>
                      <a:pPr algn="ctr"/>
                      <a:r>
                        <a:rPr lang="en-US" dirty="0" err="1">
                          <a:latin typeface="Times New Roman" panose="02020603050405020304" pitchFamily="18" charset="0"/>
                          <a:cs typeface="Times New Roman" panose="02020603050405020304" pitchFamily="18" charset="0"/>
                        </a:rPr>
                        <a:t>Sumit</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56107947"/>
                  </a:ext>
                </a:extLst>
              </a:tr>
            </a:tbl>
          </a:graphicData>
        </a:graphic>
      </p:graphicFrame>
      <p:sp>
        <p:nvSpPr>
          <p:cNvPr id="8" name="TextBox 7">
            <a:extLst>
              <a:ext uri="{FF2B5EF4-FFF2-40B4-BE49-F238E27FC236}">
                <a16:creationId xmlns:a16="http://schemas.microsoft.com/office/drawing/2014/main" id="{DCB9C89A-251E-4B30-8DB5-1880FC4DBBEF}"/>
              </a:ext>
            </a:extLst>
          </p:cNvPr>
          <p:cNvSpPr txBox="1"/>
          <p:nvPr/>
        </p:nvSpPr>
        <p:spPr>
          <a:xfrm>
            <a:off x="1736217" y="1512129"/>
            <a:ext cx="1120820"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Mechanics</a:t>
            </a:r>
          </a:p>
        </p:txBody>
      </p:sp>
      <p:sp>
        <p:nvSpPr>
          <p:cNvPr id="9" name="TextBox 8">
            <a:extLst>
              <a:ext uri="{FF2B5EF4-FFF2-40B4-BE49-F238E27FC236}">
                <a16:creationId xmlns:a16="http://schemas.microsoft.com/office/drawing/2014/main" id="{8FFA5BF1-BCE4-4EBE-BCC0-BBD8C9D789C9}"/>
              </a:ext>
            </a:extLst>
          </p:cNvPr>
          <p:cNvSpPr txBox="1"/>
          <p:nvPr/>
        </p:nvSpPr>
        <p:spPr>
          <a:xfrm>
            <a:off x="5016759" y="1330557"/>
            <a:ext cx="606256"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Cars</a:t>
            </a:r>
          </a:p>
        </p:txBody>
      </p:sp>
      <p:sp>
        <p:nvSpPr>
          <p:cNvPr id="10" name="TextBox 9">
            <a:extLst>
              <a:ext uri="{FF2B5EF4-FFF2-40B4-BE49-F238E27FC236}">
                <a16:creationId xmlns:a16="http://schemas.microsoft.com/office/drawing/2014/main" id="{AD31BEBD-BA05-43E9-A851-B353018E3BB6}"/>
              </a:ext>
            </a:extLst>
          </p:cNvPr>
          <p:cNvSpPr txBox="1"/>
          <p:nvPr/>
        </p:nvSpPr>
        <p:spPr>
          <a:xfrm>
            <a:off x="8549560" y="1276191"/>
            <a:ext cx="869149"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Owners</a:t>
            </a:r>
          </a:p>
        </p:txBody>
      </p:sp>
    </p:spTree>
    <p:extLst>
      <p:ext uri="{BB962C8B-B14F-4D97-AF65-F5344CB8AC3E}">
        <p14:creationId xmlns:p14="http://schemas.microsoft.com/office/powerpoint/2010/main" val="699958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itchFamily="18" charset="0"/>
                <a:cs typeface="Times New Roman" pitchFamily="18" charset="0"/>
              </a:rPr>
              <a:t>Has One Through Relationship</a:t>
            </a:r>
          </a:p>
        </p:txBody>
      </p:sp>
      <p:sp>
        <p:nvSpPr>
          <p:cNvPr id="3" name="Content Placeholder 2">
            <a:extLst>
              <a:ext uri="{FF2B5EF4-FFF2-40B4-BE49-F238E27FC236}">
                <a16:creationId xmlns:a16="http://schemas.microsoft.com/office/drawing/2014/main" id="{1C7DD53C-D323-40AA-B621-8C5B4B9E3FF9}"/>
              </a:ext>
            </a:extLst>
          </p:cNvPr>
          <p:cNvSpPr>
            <a:spLocks noGrp="1"/>
          </p:cNvSpPr>
          <p:nvPr>
            <p:ph idx="1"/>
          </p:nvPr>
        </p:nvSpPr>
        <p:spPr>
          <a:xfrm>
            <a:off x="838200" y="1253331"/>
            <a:ext cx="10515600" cy="5286806"/>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"has-one-through" relationship defines a one-to-one relationship with another model. However, this relationship indicates that the declaring model can be matched with one instance of another model by proceeding through a third model.</a:t>
            </a:r>
          </a:p>
          <a:p>
            <a:pPr marL="0" indent="0">
              <a:buNone/>
            </a:pPr>
            <a:r>
              <a:rPr lang="en-US" sz="2000" dirty="0">
                <a:latin typeface="Times New Roman" panose="02020603050405020304" pitchFamily="18" charset="0"/>
                <a:cs typeface="Times New Roman" panose="02020603050405020304" pitchFamily="18" charset="0"/>
              </a:rPr>
              <a:t>Syntax:- </a:t>
            </a:r>
            <a:r>
              <a:rPr lang="en-US" sz="2000" dirty="0" err="1">
                <a:latin typeface="Times New Roman" panose="02020603050405020304" pitchFamily="18" charset="0"/>
                <a:cs typeface="Times New Roman" panose="02020603050405020304" pitchFamily="18" charset="0"/>
              </a:rPr>
              <a:t>hasOneThrough</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Final_Model_Class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Intermediate_Model_Class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foreign_key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local_key</a:t>
            </a:r>
            <a:r>
              <a:rPr lang="en-US" sz="2000" dirty="0">
                <a:latin typeface="Times New Roman" panose="02020603050405020304" pitchFamily="18" charset="0"/>
                <a:cs typeface="Times New Roman" panose="02020603050405020304" pitchFamily="18" charset="0"/>
              </a:rPr>
              <a:t>’)</a:t>
            </a:r>
          </a:p>
          <a:p>
            <a:pPr marL="0" indent="0">
              <a:buNone/>
            </a:pPr>
            <a:r>
              <a:rPr lang="en-US" sz="2000" dirty="0" err="1">
                <a:latin typeface="Times New Roman" panose="02020603050405020304" pitchFamily="18" charset="0"/>
                <a:cs typeface="Times New Roman" panose="02020603050405020304" pitchFamily="18" charset="0"/>
              </a:rPr>
              <a:t>Final_Model_Class</a:t>
            </a:r>
            <a:r>
              <a:rPr lang="en-US" sz="2000" dirty="0">
                <a:latin typeface="Times New Roman" panose="02020603050405020304" pitchFamily="18" charset="0"/>
                <a:cs typeface="Times New Roman" panose="02020603050405020304" pitchFamily="18" charset="0"/>
              </a:rPr>
              <a:t> - The first argument passed to the </a:t>
            </a:r>
            <a:r>
              <a:rPr lang="en-US" sz="2000" dirty="0" err="1">
                <a:latin typeface="Times New Roman" panose="02020603050405020304" pitchFamily="18" charset="0"/>
                <a:cs typeface="Times New Roman" panose="02020603050405020304" pitchFamily="18" charset="0"/>
              </a:rPr>
              <a:t>hasOneThrough</a:t>
            </a:r>
            <a:r>
              <a:rPr lang="en-US" sz="2000" dirty="0">
                <a:latin typeface="Times New Roman" panose="02020603050405020304" pitchFamily="18" charset="0"/>
                <a:cs typeface="Times New Roman" panose="02020603050405020304" pitchFamily="18" charset="0"/>
              </a:rPr>
              <a:t> method is the name of the final model we wish to access.</a:t>
            </a:r>
          </a:p>
          <a:p>
            <a:pPr marL="0" indent="0">
              <a:buNone/>
            </a:pPr>
            <a:r>
              <a:rPr lang="en-US" sz="2000" dirty="0" err="1">
                <a:latin typeface="Times New Roman" panose="02020603050405020304" pitchFamily="18" charset="0"/>
                <a:cs typeface="Times New Roman" panose="02020603050405020304" pitchFamily="18" charset="0"/>
              </a:rPr>
              <a:t>Intermediate_Model_Class</a:t>
            </a:r>
            <a:r>
              <a:rPr lang="en-US" sz="2000" dirty="0">
                <a:latin typeface="Times New Roman" panose="02020603050405020304" pitchFamily="18" charset="0"/>
                <a:cs typeface="Times New Roman" panose="02020603050405020304" pitchFamily="18" charset="0"/>
              </a:rPr>
              <a:t> - The second argument is the name of the intermediate model.</a:t>
            </a:r>
          </a:p>
        </p:txBody>
      </p:sp>
    </p:spTree>
    <p:extLst>
      <p:ext uri="{BB962C8B-B14F-4D97-AF65-F5344CB8AC3E}">
        <p14:creationId xmlns:p14="http://schemas.microsoft.com/office/powerpoint/2010/main" val="1965298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itchFamily="18" charset="0"/>
                <a:cs typeface="Times New Roman" pitchFamily="18" charset="0"/>
              </a:rPr>
              <a:t>Has One Through Relationship</a:t>
            </a:r>
          </a:p>
        </p:txBody>
      </p:sp>
      <p:sp>
        <p:nvSpPr>
          <p:cNvPr id="3" name="Content Placeholder 2">
            <a:extLst>
              <a:ext uri="{FF2B5EF4-FFF2-40B4-BE49-F238E27FC236}">
                <a16:creationId xmlns:a16="http://schemas.microsoft.com/office/drawing/2014/main" id="{1C7DD53C-D323-40AA-B621-8C5B4B9E3FF9}"/>
              </a:ext>
            </a:extLst>
          </p:cNvPr>
          <p:cNvSpPr>
            <a:spLocks noGrp="1"/>
          </p:cNvSpPr>
          <p:nvPr>
            <p:ph idx="1"/>
          </p:nvPr>
        </p:nvSpPr>
        <p:spPr>
          <a:xfrm>
            <a:off x="838200" y="1253331"/>
            <a:ext cx="10515600" cy="5286806"/>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&lt;?php</a:t>
            </a:r>
          </a:p>
          <a:p>
            <a:pPr marL="0" indent="0">
              <a:buNone/>
            </a:pPr>
            <a:r>
              <a:rPr lang="en-US" sz="2000" dirty="0">
                <a:latin typeface="Times New Roman" panose="02020603050405020304" pitchFamily="18" charset="0"/>
                <a:cs typeface="Times New Roman" panose="02020603050405020304" pitchFamily="18" charset="0"/>
              </a:rPr>
              <a:t>namespace App\Models;</a:t>
            </a:r>
          </a:p>
          <a:p>
            <a:pPr marL="0" indent="0">
              <a:buNone/>
            </a:pPr>
            <a:r>
              <a:rPr lang="en-US" sz="2000" dirty="0">
                <a:latin typeface="Times New Roman" panose="02020603050405020304" pitchFamily="18" charset="0"/>
                <a:cs typeface="Times New Roman" panose="02020603050405020304" pitchFamily="18" charset="0"/>
              </a:rPr>
              <a:t>use Illuminate\Database\Eloquent\Model;</a:t>
            </a:r>
          </a:p>
          <a:p>
            <a:pPr marL="0" indent="0">
              <a:buNone/>
            </a:pPr>
            <a:r>
              <a:rPr lang="en-US" sz="2000" dirty="0">
                <a:latin typeface="Times New Roman" panose="02020603050405020304" pitchFamily="18" charset="0"/>
                <a:cs typeface="Times New Roman" panose="02020603050405020304" pitchFamily="18" charset="0"/>
              </a:rPr>
              <a:t>class Mechanic extends Model {</a:t>
            </a:r>
          </a:p>
          <a:p>
            <a:pPr marL="0" indent="0">
              <a:buNone/>
            </a:pPr>
            <a:r>
              <a:rPr lang="en-US" sz="2000" dirty="0">
                <a:latin typeface="Times New Roman" panose="02020603050405020304" pitchFamily="18" charset="0"/>
                <a:cs typeface="Times New Roman" panose="02020603050405020304" pitchFamily="18" charset="0"/>
              </a:rPr>
              <a:t>   public function owner() {</a:t>
            </a:r>
          </a:p>
          <a:p>
            <a:pPr marL="0" indent="0">
              <a:buNone/>
            </a:pPr>
            <a:r>
              <a:rPr lang="en-US" sz="2000" dirty="0">
                <a:latin typeface="Times New Roman" panose="02020603050405020304" pitchFamily="18" charset="0"/>
                <a:cs typeface="Times New Roman" panose="02020603050405020304" pitchFamily="18" charset="0"/>
              </a:rPr>
              <a:t>        return $this-&gt;</a:t>
            </a:r>
            <a:r>
              <a:rPr lang="en-US" sz="2000" dirty="0" err="1">
                <a:latin typeface="Times New Roman" panose="02020603050405020304" pitchFamily="18" charset="0"/>
                <a:cs typeface="Times New Roman" panose="02020603050405020304" pitchFamily="18" charset="0"/>
              </a:rPr>
              <a:t>hasOneThrough</a:t>
            </a:r>
            <a:r>
              <a:rPr lang="en-US" sz="2000" dirty="0">
                <a:latin typeface="Times New Roman" panose="02020603050405020304" pitchFamily="18" charset="0"/>
                <a:cs typeface="Times New Roman" panose="02020603050405020304" pitchFamily="18" charset="0"/>
              </a:rPr>
              <a:t>(Owner::class, Car::class, ‘</a:t>
            </a:r>
            <a:r>
              <a:rPr lang="en-US" sz="2000" dirty="0" err="1">
                <a:latin typeface="Times New Roman" panose="02020603050405020304" pitchFamily="18" charset="0"/>
                <a:cs typeface="Times New Roman" panose="02020603050405020304" pitchFamily="18" charset="0"/>
              </a:rPr>
              <a:t>mechanic_id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car_id</a:t>
            </a:r>
            <a:r>
              <a:rPr lang="en-US" sz="2000" dirty="0">
                <a:latin typeface="Times New Roman" panose="02020603050405020304" pitchFamily="18" charset="0"/>
                <a:cs typeface="Times New Roman" panose="02020603050405020304" pitchFamily="18" charset="0"/>
              </a:rPr>
              <a:t>’, ‘id’, ‘id’);</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mechanic_id</a:t>
            </a:r>
            <a:r>
              <a:rPr lang="en-US" sz="2000" dirty="0">
                <a:latin typeface="Times New Roman" panose="02020603050405020304" pitchFamily="18" charset="0"/>
                <a:cs typeface="Times New Roman" panose="02020603050405020304" pitchFamily="18" charset="0"/>
              </a:rPr>
              <a:t>’ -  Foreign key on the cars table</a:t>
            </a:r>
          </a:p>
          <a:p>
            <a:pPr marL="0" indent="0">
              <a:buNone/>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car_id</a:t>
            </a:r>
            <a:r>
              <a:rPr lang="en-US" sz="2000" dirty="0">
                <a:latin typeface="Times New Roman" panose="02020603050405020304" pitchFamily="18" charset="0"/>
                <a:cs typeface="Times New Roman" panose="02020603050405020304" pitchFamily="18" charset="0"/>
              </a:rPr>
              <a:t>’ - Foreign key on the owners table</a:t>
            </a:r>
          </a:p>
          <a:p>
            <a:pPr marL="0" indent="0">
              <a:buNone/>
            </a:pPr>
            <a:r>
              <a:rPr lang="en-US" sz="2000" dirty="0">
                <a:latin typeface="Times New Roman" panose="02020603050405020304" pitchFamily="18" charset="0"/>
                <a:cs typeface="Times New Roman" panose="02020603050405020304" pitchFamily="18" charset="0"/>
              </a:rPr>
              <a:t>‘id’ - Local key on the mechanics table</a:t>
            </a:r>
          </a:p>
          <a:p>
            <a:pPr marL="0" indent="0">
              <a:buNone/>
            </a:pPr>
            <a:r>
              <a:rPr lang="en-US" sz="2000" dirty="0">
                <a:latin typeface="Times New Roman" panose="02020603050405020304" pitchFamily="18" charset="0"/>
                <a:cs typeface="Times New Roman" panose="02020603050405020304" pitchFamily="18" charset="0"/>
              </a:rPr>
              <a:t>'id’ - Local key on the cars table</a:t>
            </a:r>
          </a:p>
        </p:txBody>
      </p:sp>
    </p:spTree>
    <p:extLst>
      <p:ext uri="{BB962C8B-B14F-4D97-AF65-F5344CB8AC3E}">
        <p14:creationId xmlns:p14="http://schemas.microsoft.com/office/powerpoint/2010/main" val="2219341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itchFamily="18" charset="0"/>
                <a:cs typeface="Times New Roman" pitchFamily="18" charset="0"/>
              </a:rPr>
              <a:t>Has Many Through Relationship</a:t>
            </a:r>
          </a:p>
        </p:txBody>
      </p:sp>
      <p:sp>
        <p:nvSpPr>
          <p:cNvPr id="3" name="Content Placeholder 2">
            <a:extLst>
              <a:ext uri="{FF2B5EF4-FFF2-40B4-BE49-F238E27FC236}">
                <a16:creationId xmlns:a16="http://schemas.microsoft.com/office/drawing/2014/main" id="{1C7DD53C-D323-40AA-B621-8C5B4B9E3FF9}"/>
              </a:ext>
            </a:extLst>
          </p:cNvPr>
          <p:cNvSpPr>
            <a:spLocks noGrp="1"/>
          </p:cNvSpPr>
          <p:nvPr>
            <p:ph idx="1"/>
          </p:nvPr>
        </p:nvSpPr>
        <p:spPr>
          <a:xfrm>
            <a:off x="838200" y="1253331"/>
            <a:ext cx="10515600" cy="1031851"/>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"has-many-through" relationship provides a convenient way to access distant relations via an intermediate relation.</a:t>
            </a:r>
          </a:p>
        </p:txBody>
      </p:sp>
      <p:pic>
        <p:nvPicPr>
          <p:cNvPr id="7" name="Picture 6">
            <a:extLst>
              <a:ext uri="{FF2B5EF4-FFF2-40B4-BE49-F238E27FC236}">
                <a16:creationId xmlns:a16="http://schemas.microsoft.com/office/drawing/2014/main" id="{4BA43817-484F-4A96-9CA5-589C2C1751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5039" y="2976756"/>
            <a:ext cx="2301921" cy="2247971"/>
          </a:xfrm>
          <a:prstGeom prst="rect">
            <a:avLst/>
          </a:prstGeom>
        </p:spPr>
      </p:pic>
      <p:pic>
        <p:nvPicPr>
          <p:cNvPr id="9" name="Picture 8">
            <a:extLst>
              <a:ext uri="{FF2B5EF4-FFF2-40B4-BE49-F238E27FC236}">
                <a16:creationId xmlns:a16="http://schemas.microsoft.com/office/drawing/2014/main" id="{44A3AD69-DD19-4924-9095-238C5F4DCB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6799" y="2901541"/>
            <a:ext cx="2493417" cy="2247971"/>
          </a:xfrm>
          <a:prstGeom prst="rect">
            <a:avLst/>
          </a:prstGeom>
        </p:spPr>
      </p:pic>
      <p:pic>
        <p:nvPicPr>
          <p:cNvPr id="11" name="Picture 10">
            <a:extLst>
              <a:ext uri="{FF2B5EF4-FFF2-40B4-BE49-F238E27FC236}">
                <a16:creationId xmlns:a16="http://schemas.microsoft.com/office/drawing/2014/main" id="{C0DA75AE-2DEC-47D0-B3CD-305CAF44FB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01785" y="2902099"/>
            <a:ext cx="2493415" cy="2368744"/>
          </a:xfrm>
          <a:prstGeom prst="rect">
            <a:avLst/>
          </a:prstGeom>
        </p:spPr>
      </p:pic>
    </p:spTree>
    <p:extLst>
      <p:ext uri="{BB962C8B-B14F-4D97-AF65-F5344CB8AC3E}">
        <p14:creationId xmlns:p14="http://schemas.microsoft.com/office/powerpoint/2010/main" val="3830062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itchFamily="18" charset="0"/>
                <a:cs typeface="Times New Roman" pitchFamily="18" charset="0"/>
              </a:rPr>
              <a:t>Has Many Through Relationship</a:t>
            </a:r>
          </a:p>
        </p:txBody>
      </p:sp>
      <p:graphicFrame>
        <p:nvGraphicFramePr>
          <p:cNvPr id="4" name="Table 4">
            <a:extLst>
              <a:ext uri="{FF2B5EF4-FFF2-40B4-BE49-F238E27FC236}">
                <a16:creationId xmlns:a16="http://schemas.microsoft.com/office/drawing/2014/main" id="{6FB283DE-EA78-401A-96C8-0C9938411FB0}"/>
              </a:ext>
            </a:extLst>
          </p:cNvPr>
          <p:cNvGraphicFramePr>
            <a:graphicFrameLocks noGrp="1"/>
          </p:cNvGraphicFramePr>
          <p:nvPr>
            <p:extLst>
              <p:ext uri="{D42A27DB-BD31-4B8C-83A1-F6EECF244321}">
                <p14:modId xmlns:p14="http://schemas.microsoft.com/office/powerpoint/2010/main" val="3853534703"/>
              </p:ext>
            </p:extLst>
          </p:nvPr>
        </p:nvGraphicFramePr>
        <p:xfrm>
          <a:off x="1306790" y="1850683"/>
          <a:ext cx="1899524" cy="1099896"/>
        </p:xfrm>
        <a:graphic>
          <a:graphicData uri="http://schemas.openxmlformats.org/drawingml/2006/table">
            <a:tbl>
              <a:tblPr firstRow="1" bandRow="1">
                <a:tableStyleId>{5940675A-B579-460E-94D1-54222C63F5DA}</a:tableStyleId>
              </a:tblPr>
              <a:tblGrid>
                <a:gridCol w="469759">
                  <a:extLst>
                    <a:ext uri="{9D8B030D-6E8A-4147-A177-3AD203B41FA5}">
                      <a16:colId xmlns:a16="http://schemas.microsoft.com/office/drawing/2014/main" val="4186345142"/>
                    </a:ext>
                  </a:extLst>
                </a:gridCol>
                <a:gridCol w="1429765">
                  <a:extLst>
                    <a:ext uri="{9D8B030D-6E8A-4147-A177-3AD203B41FA5}">
                      <a16:colId xmlns:a16="http://schemas.microsoft.com/office/drawing/2014/main" val="3513300562"/>
                    </a:ext>
                  </a:extLst>
                </a:gridCol>
              </a:tblGrid>
              <a:tr h="366632">
                <a:tc>
                  <a:txBody>
                    <a:bodyPr/>
                    <a:lstStyle/>
                    <a:p>
                      <a:pPr algn="ctr"/>
                      <a:r>
                        <a:rPr lang="en-US" dirty="0">
                          <a:latin typeface="Times New Roman" panose="02020603050405020304" pitchFamily="18" charset="0"/>
                          <a:cs typeface="Times New Roman" panose="02020603050405020304" pitchFamily="18" charset="0"/>
                        </a:rPr>
                        <a:t>id</a:t>
                      </a:r>
                    </a:p>
                  </a:txBody>
                  <a:tcPr>
                    <a:solidFill>
                      <a:schemeClr val="accent2"/>
                    </a:solidFill>
                  </a:tcPr>
                </a:tc>
                <a:tc>
                  <a:txBody>
                    <a:bodyPr/>
                    <a:lstStyle/>
                    <a:p>
                      <a:pPr algn="ctr"/>
                      <a:r>
                        <a:rPr lang="en-US" dirty="0">
                          <a:latin typeface="Times New Roman" panose="02020603050405020304" pitchFamily="18" charset="0"/>
                          <a:cs typeface="Times New Roman" panose="02020603050405020304" pitchFamily="18" charset="0"/>
                        </a:rPr>
                        <a:t>name</a:t>
                      </a:r>
                    </a:p>
                  </a:txBody>
                  <a:tcPr>
                    <a:solidFill>
                      <a:schemeClr val="accent2"/>
                    </a:solidFill>
                  </a:tcPr>
                </a:tc>
                <a:extLst>
                  <a:ext uri="{0D108BD9-81ED-4DB2-BD59-A6C34878D82A}">
                    <a16:rowId xmlns:a16="http://schemas.microsoft.com/office/drawing/2014/main" val="893977853"/>
                  </a:ext>
                </a:extLst>
              </a:tr>
              <a:tr h="366632">
                <a:tc>
                  <a:txBody>
                    <a:bodyPr/>
                    <a:lstStyle/>
                    <a:p>
                      <a:pPr algn="ctr"/>
                      <a:r>
                        <a:rPr lang="en-US" dirty="0">
                          <a:latin typeface="Times New Roman" panose="02020603050405020304" pitchFamily="18" charset="0"/>
                          <a:cs typeface="Times New Roman" panose="02020603050405020304" pitchFamily="18" charset="0"/>
                        </a:rPr>
                        <a:t>1</a:t>
                      </a:r>
                    </a:p>
                  </a:txBody>
                  <a:tcPr/>
                </a:tc>
                <a:tc>
                  <a:txBody>
                    <a:bodyPr/>
                    <a:lstStyle/>
                    <a:p>
                      <a:pPr algn="ctr"/>
                      <a:r>
                        <a:rPr lang="en-US" dirty="0" err="1">
                          <a:latin typeface="Times New Roman" panose="02020603050405020304" pitchFamily="18" charset="0"/>
                          <a:cs typeface="Times New Roman" panose="02020603050405020304" pitchFamily="18" charset="0"/>
                        </a:rPr>
                        <a:t>Shoppinglyx</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400432"/>
                  </a:ext>
                </a:extLst>
              </a:tr>
              <a:tr h="366632">
                <a:tc>
                  <a:txBody>
                    <a:bodyPr/>
                    <a:lstStyle/>
                    <a:p>
                      <a:pPr algn="ctr"/>
                      <a:r>
                        <a:rPr lang="en-US" dirty="0">
                          <a:latin typeface="Times New Roman" panose="02020603050405020304" pitchFamily="18" charset="0"/>
                          <a:cs typeface="Times New Roman" panose="02020603050405020304" pitchFamily="18" charset="0"/>
                        </a:rPr>
                        <a:t>2</a:t>
                      </a:r>
                    </a:p>
                  </a:txBody>
                  <a:tcPr/>
                </a:tc>
                <a:tc>
                  <a:txBody>
                    <a:bodyPr/>
                    <a:lstStyle/>
                    <a:p>
                      <a:pPr algn="ctr"/>
                      <a:r>
                        <a:rPr lang="en-US" dirty="0" err="1">
                          <a:latin typeface="Times New Roman" panose="02020603050405020304" pitchFamily="18" charset="0"/>
                          <a:cs typeface="Times New Roman" panose="02020603050405020304" pitchFamily="18" charset="0"/>
                        </a:rPr>
                        <a:t>ELearning</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90271880"/>
                  </a:ext>
                </a:extLst>
              </a:tr>
            </a:tbl>
          </a:graphicData>
        </a:graphic>
      </p:graphicFrame>
      <p:graphicFrame>
        <p:nvGraphicFramePr>
          <p:cNvPr id="6" name="Table 4">
            <a:extLst>
              <a:ext uri="{FF2B5EF4-FFF2-40B4-BE49-F238E27FC236}">
                <a16:creationId xmlns:a16="http://schemas.microsoft.com/office/drawing/2014/main" id="{80D38DBA-9B25-4786-8710-590E80029245}"/>
              </a:ext>
            </a:extLst>
          </p:cNvPr>
          <p:cNvGraphicFramePr>
            <a:graphicFrameLocks noGrp="1"/>
          </p:cNvGraphicFramePr>
          <p:nvPr>
            <p:extLst>
              <p:ext uri="{D42A27DB-BD31-4B8C-83A1-F6EECF244321}">
                <p14:modId xmlns:p14="http://schemas.microsoft.com/office/powerpoint/2010/main" val="3782070070"/>
              </p:ext>
            </p:extLst>
          </p:nvPr>
        </p:nvGraphicFramePr>
        <p:xfrm>
          <a:off x="3635741" y="1669111"/>
          <a:ext cx="3348183" cy="1463040"/>
        </p:xfrm>
        <a:graphic>
          <a:graphicData uri="http://schemas.openxmlformats.org/drawingml/2006/table">
            <a:tbl>
              <a:tblPr firstRow="1" bandRow="1">
                <a:tableStyleId>{5940675A-B579-460E-94D1-54222C63F5DA}</a:tableStyleId>
              </a:tblPr>
              <a:tblGrid>
                <a:gridCol w="631509">
                  <a:extLst>
                    <a:ext uri="{9D8B030D-6E8A-4147-A177-3AD203B41FA5}">
                      <a16:colId xmlns:a16="http://schemas.microsoft.com/office/drawing/2014/main" val="4186345142"/>
                    </a:ext>
                  </a:extLst>
                </a:gridCol>
                <a:gridCol w="1032654">
                  <a:extLst>
                    <a:ext uri="{9D8B030D-6E8A-4147-A177-3AD203B41FA5}">
                      <a16:colId xmlns:a16="http://schemas.microsoft.com/office/drawing/2014/main" val="3513300562"/>
                    </a:ext>
                  </a:extLst>
                </a:gridCol>
                <a:gridCol w="1684020">
                  <a:extLst>
                    <a:ext uri="{9D8B030D-6E8A-4147-A177-3AD203B41FA5}">
                      <a16:colId xmlns:a16="http://schemas.microsoft.com/office/drawing/2014/main" val="986559387"/>
                    </a:ext>
                  </a:extLst>
                </a:gridCol>
              </a:tblGrid>
              <a:tr h="295756">
                <a:tc>
                  <a:txBody>
                    <a:bodyPr/>
                    <a:lstStyle/>
                    <a:p>
                      <a:pPr algn="ctr"/>
                      <a:r>
                        <a:rPr lang="en-US" dirty="0">
                          <a:latin typeface="Times New Roman" panose="02020603050405020304" pitchFamily="18" charset="0"/>
                          <a:cs typeface="Times New Roman" panose="02020603050405020304" pitchFamily="18" charset="0"/>
                        </a:rPr>
                        <a:t>id</a:t>
                      </a:r>
                    </a:p>
                  </a:txBody>
                  <a:tcPr>
                    <a:solidFill>
                      <a:schemeClr val="accent2"/>
                    </a:solidFill>
                  </a:tcPr>
                </a:tc>
                <a:tc>
                  <a:txBody>
                    <a:bodyPr/>
                    <a:lstStyle/>
                    <a:p>
                      <a:pPr algn="ctr"/>
                      <a:r>
                        <a:rPr lang="en-US" dirty="0">
                          <a:latin typeface="Times New Roman" panose="02020603050405020304" pitchFamily="18" charset="0"/>
                          <a:cs typeface="Times New Roman" panose="02020603050405020304" pitchFamily="18" charset="0"/>
                        </a:rPr>
                        <a:t>name</a:t>
                      </a:r>
                    </a:p>
                  </a:txBody>
                  <a:tcPr>
                    <a:solidFill>
                      <a:schemeClr val="accent2"/>
                    </a:solidFill>
                  </a:tcPr>
                </a:tc>
                <a:tc>
                  <a:txBody>
                    <a:bodyPr/>
                    <a:lstStyle/>
                    <a:p>
                      <a:pPr algn="ctr"/>
                      <a:r>
                        <a:rPr lang="en-US" dirty="0" err="1">
                          <a:latin typeface="Times New Roman" panose="02020603050405020304" pitchFamily="18" charset="0"/>
                          <a:cs typeface="Times New Roman" panose="02020603050405020304" pitchFamily="18" charset="0"/>
                        </a:rPr>
                        <a:t>project_id</a:t>
                      </a:r>
                      <a:endParaRPr lang="en-US" dirty="0">
                        <a:latin typeface="Times New Roman" panose="02020603050405020304" pitchFamily="18" charset="0"/>
                        <a:cs typeface="Times New Roman" panose="02020603050405020304" pitchFamily="18" charset="0"/>
                      </a:endParaRPr>
                    </a:p>
                  </a:txBody>
                  <a:tcPr>
                    <a:solidFill>
                      <a:schemeClr val="accent2"/>
                    </a:solidFill>
                  </a:tcPr>
                </a:tc>
                <a:extLst>
                  <a:ext uri="{0D108BD9-81ED-4DB2-BD59-A6C34878D82A}">
                    <a16:rowId xmlns:a16="http://schemas.microsoft.com/office/drawing/2014/main" val="893977853"/>
                  </a:ext>
                </a:extLst>
              </a:tr>
              <a:tr h="295756">
                <a:tc>
                  <a:txBody>
                    <a:bodyPr/>
                    <a:lstStyle/>
                    <a:p>
                      <a:pPr algn="ctr"/>
                      <a:r>
                        <a:rPr lang="en-US" dirty="0">
                          <a:latin typeface="Times New Roman" panose="02020603050405020304" pitchFamily="18" charset="0"/>
                          <a:cs typeface="Times New Roman" panose="02020603050405020304" pitchFamily="18" charset="0"/>
                        </a:rPr>
                        <a:t>1</a:t>
                      </a:r>
                    </a:p>
                  </a:txBody>
                  <a:tcPr/>
                </a:tc>
                <a:tc>
                  <a:txBody>
                    <a:bodyPr/>
                    <a:lstStyle/>
                    <a:p>
                      <a:pPr algn="ctr"/>
                      <a:r>
                        <a:rPr lang="en-US" dirty="0">
                          <a:latin typeface="Times New Roman" panose="02020603050405020304" pitchFamily="18" charset="0"/>
                          <a:cs typeface="Times New Roman" panose="02020603050405020304" pitchFamily="18" charset="0"/>
                        </a:rPr>
                        <a:t>php</a:t>
                      </a:r>
                    </a:p>
                  </a:txBody>
                  <a:tcPr/>
                </a:tc>
                <a:tc>
                  <a:txBody>
                    <a:bodyPr/>
                    <a:lstStyle/>
                    <a:p>
                      <a:pPr algn="ctr"/>
                      <a:r>
                        <a:rPr lang="en-US" dirty="0">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124400432"/>
                  </a:ext>
                </a:extLst>
              </a:tr>
              <a:tr h="295756">
                <a:tc>
                  <a:txBody>
                    <a:bodyPr/>
                    <a:lstStyle/>
                    <a:p>
                      <a:pPr algn="ctr"/>
                      <a:r>
                        <a:rPr lang="en-US" dirty="0">
                          <a:latin typeface="Times New Roman" panose="02020603050405020304" pitchFamily="18" charset="0"/>
                          <a:cs typeface="Times New Roman" panose="02020603050405020304" pitchFamily="18" charset="0"/>
                        </a:rPr>
                        <a:t>2</a:t>
                      </a:r>
                    </a:p>
                  </a:txBody>
                  <a:tcPr/>
                </a:tc>
                <a:tc>
                  <a:txBody>
                    <a:bodyPr/>
                    <a:lstStyle/>
                    <a:p>
                      <a:pPr algn="ctr"/>
                      <a:r>
                        <a:rPr lang="en-US" dirty="0" err="1">
                          <a:latin typeface="Times New Roman" panose="02020603050405020304" pitchFamily="18" charset="0"/>
                          <a:cs typeface="Times New Roman" panose="02020603050405020304" pitchFamily="18" charset="0"/>
                        </a:rPr>
                        <a:t>pythom</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2490271880"/>
                  </a:ext>
                </a:extLst>
              </a:tr>
              <a:tr h="295756">
                <a:tc>
                  <a:txBody>
                    <a:bodyPr/>
                    <a:lstStyle/>
                    <a:p>
                      <a:pPr algn="ctr"/>
                      <a:r>
                        <a:rPr lang="en-US" dirty="0">
                          <a:latin typeface="Times New Roman" panose="02020603050405020304" pitchFamily="18" charset="0"/>
                          <a:cs typeface="Times New Roman" panose="02020603050405020304" pitchFamily="18" charset="0"/>
                        </a:rPr>
                        <a:t>3</a:t>
                      </a:r>
                    </a:p>
                  </a:txBody>
                  <a:tcPr/>
                </a:tc>
                <a:tc>
                  <a:txBody>
                    <a:bodyPr/>
                    <a:lstStyle/>
                    <a:p>
                      <a:pPr algn="ctr"/>
                      <a:r>
                        <a:rPr lang="en-US" dirty="0">
                          <a:latin typeface="Times New Roman" panose="02020603050405020304" pitchFamily="18" charset="0"/>
                          <a:cs typeface="Times New Roman" panose="02020603050405020304" pitchFamily="18" charset="0"/>
                        </a:rPr>
                        <a:t>java</a:t>
                      </a:r>
                    </a:p>
                  </a:txBody>
                  <a:tcPr/>
                </a:tc>
                <a:tc>
                  <a:txBody>
                    <a:bodyPr/>
                    <a:lstStyle/>
                    <a:p>
                      <a:pPr algn="ctr"/>
                      <a:r>
                        <a:rPr lang="en-US" dirty="0">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56107947"/>
                  </a:ext>
                </a:extLst>
              </a:tr>
            </a:tbl>
          </a:graphicData>
        </a:graphic>
      </p:graphicFrame>
      <p:graphicFrame>
        <p:nvGraphicFramePr>
          <p:cNvPr id="7" name="Table 4">
            <a:extLst>
              <a:ext uri="{FF2B5EF4-FFF2-40B4-BE49-F238E27FC236}">
                <a16:creationId xmlns:a16="http://schemas.microsoft.com/office/drawing/2014/main" id="{F5D0EAE0-669D-4AA8-A0B1-B7E9772760F7}"/>
              </a:ext>
            </a:extLst>
          </p:cNvPr>
          <p:cNvGraphicFramePr>
            <a:graphicFrameLocks noGrp="1"/>
          </p:cNvGraphicFramePr>
          <p:nvPr>
            <p:extLst>
              <p:ext uri="{D42A27DB-BD31-4B8C-83A1-F6EECF244321}">
                <p14:modId xmlns:p14="http://schemas.microsoft.com/office/powerpoint/2010/main" val="1856174240"/>
              </p:ext>
            </p:extLst>
          </p:nvPr>
        </p:nvGraphicFramePr>
        <p:xfrm>
          <a:off x="7413350" y="1669111"/>
          <a:ext cx="3818066" cy="1463040"/>
        </p:xfrm>
        <a:graphic>
          <a:graphicData uri="http://schemas.openxmlformats.org/drawingml/2006/table">
            <a:tbl>
              <a:tblPr firstRow="1" bandRow="1">
                <a:tableStyleId>{5940675A-B579-460E-94D1-54222C63F5DA}</a:tableStyleId>
              </a:tblPr>
              <a:tblGrid>
                <a:gridCol w="769955">
                  <a:extLst>
                    <a:ext uri="{9D8B030D-6E8A-4147-A177-3AD203B41FA5}">
                      <a16:colId xmlns:a16="http://schemas.microsoft.com/office/drawing/2014/main" val="4186345142"/>
                    </a:ext>
                  </a:extLst>
                </a:gridCol>
                <a:gridCol w="1404035">
                  <a:extLst>
                    <a:ext uri="{9D8B030D-6E8A-4147-A177-3AD203B41FA5}">
                      <a16:colId xmlns:a16="http://schemas.microsoft.com/office/drawing/2014/main" val="3513300562"/>
                    </a:ext>
                  </a:extLst>
                </a:gridCol>
                <a:gridCol w="1644076">
                  <a:extLst>
                    <a:ext uri="{9D8B030D-6E8A-4147-A177-3AD203B41FA5}">
                      <a16:colId xmlns:a16="http://schemas.microsoft.com/office/drawing/2014/main" val="986559387"/>
                    </a:ext>
                  </a:extLst>
                </a:gridCol>
              </a:tblGrid>
              <a:tr h="295756">
                <a:tc>
                  <a:txBody>
                    <a:bodyPr/>
                    <a:lstStyle/>
                    <a:p>
                      <a:pPr algn="ctr"/>
                      <a:r>
                        <a:rPr lang="en-US" dirty="0">
                          <a:latin typeface="Times New Roman" panose="02020603050405020304" pitchFamily="18" charset="0"/>
                          <a:cs typeface="Times New Roman" panose="02020603050405020304" pitchFamily="18" charset="0"/>
                        </a:rPr>
                        <a:t>id</a:t>
                      </a:r>
                    </a:p>
                  </a:txBody>
                  <a:tcPr>
                    <a:solidFill>
                      <a:schemeClr val="accent2"/>
                    </a:solidFill>
                  </a:tcPr>
                </a:tc>
                <a:tc>
                  <a:txBody>
                    <a:bodyPr/>
                    <a:lstStyle/>
                    <a:p>
                      <a:pPr algn="ctr"/>
                      <a:r>
                        <a:rPr lang="en-US" dirty="0">
                          <a:latin typeface="Times New Roman" panose="02020603050405020304" pitchFamily="18" charset="0"/>
                          <a:cs typeface="Times New Roman" panose="02020603050405020304" pitchFamily="18" charset="0"/>
                        </a:rPr>
                        <a:t>work</a:t>
                      </a:r>
                    </a:p>
                  </a:txBody>
                  <a:tcPr>
                    <a:solidFill>
                      <a:schemeClr val="accent2"/>
                    </a:solidFill>
                  </a:tcPr>
                </a:tc>
                <a:tc>
                  <a:txBody>
                    <a:bodyPr/>
                    <a:lstStyle/>
                    <a:p>
                      <a:pPr algn="ctr"/>
                      <a:r>
                        <a:rPr lang="en-US" dirty="0" err="1">
                          <a:latin typeface="Times New Roman" panose="02020603050405020304" pitchFamily="18" charset="0"/>
                          <a:cs typeface="Times New Roman" panose="02020603050405020304" pitchFamily="18" charset="0"/>
                        </a:rPr>
                        <a:t>language_id</a:t>
                      </a:r>
                      <a:endParaRPr lang="en-US" dirty="0">
                        <a:latin typeface="Times New Roman" panose="02020603050405020304" pitchFamily="18" charset="0"/>
                        <a:cs typeface="Times New Roman" panose="02020603050405020304" pitchFamily="18" charset="0"/>
                      </a:endParaRPr>
                    </a:p>
                  </a:txBody>
                  <a:tcPr>
                    <a:solidFill>
                      <a:schemeClr val="accent2"/>
                    </a:solidFill>
                  </a:tcPr>
                </a:tc>
                <a:extLst>
                  <a:ext uri="{0D108BD9-81ED-4DB2-BD59-A6C34878D82A}">
                    <a16:rowId xmlns:a16="http://schemas.microsoft.com/office/drawing/2014/main" val="893977853"/>
                  </a:ext>
                </a:extLst>
              </a:tr>
              <a:tr h="295756">
                <a:tc>
                  <a:txBody>
                    <a:bodyPr/>
                    <a:lstStyle/>
                    <a:p>
                      <a:pPr algn="ctr"/>
                      <a:r>
                        <a:rPr lang="en-US" dirty="0">
                          <a:latin typeface="Times New Roman" panose="02020603050405020304" pitchFamily="18" charset="0"/>
                          <a:cs typeface="Times New Roman" panose="02020603050405020304" pitchFamily="18" charset="0"/>
                        </a:rPr>
                        <a:t>1</a:t>
                      </a:r>
                    </a:p>
                  </a:txBody>
                  <a:tcPr/>
                </a:tc>
                <a:tc>
                  <a:txBody>
                    <a:bodyPr/>
                    <a:lstStyle/>
                    <a:p>
                      <a:pPr algn="ctr"/>
                      <a:r>
                        <a:rPr lang="en-US" dirty="0">
                          <a:latin typeface="Times New Roman" panose="02020603050405020304" pitchFamily="18" charset="0"/>
                          <a:cs typeface="Times New Roman" panose="02020603050405020304" pitchFamily="18" charset="0"/>
                        </a:rPr>
                        <a:t>done</a:t>
                      </a:r>
                    </a:p>
                  </a:txBody>
                  <a:tcPr/>
                </a:tc>
                <a:tc>
                  <a:txBody>
                    <a:bodyPr/>
                    <a:lstStyle/>
                    <a:p>
                      <a:pPr algn="ctr"/>
                      <a:r>
                        <a:rPr lang="en-US" dirty="0">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124400432"/>
                  </a:ext>
                </a:extLst>
              </a:tr>
              <a:tr h="295756">
                <a:tc>
                  <a:txBody>
                    <a:bodyPr/>
                    <a:lstStyle/>
                    <a:p>
                      <a:pPr algn="ctr"/>
                      <a:r>
                        <a:rPr lang="en-US" dirty="0">
                          <a:latin typeface="Times New Roman" panose="02020603050405020304" pitchFamily="18" charset="0"/>
                          <a:cs typeface="Times New Roman" panose="02020603050405020304" pitchFamily="18" charset="0"/>
                        </a:rPr>
                        <a:t>2</a:t>
                      </a:r>
                    </a:p>
                  </a:txBody>
                  <a:tcPr/>
                </a:tc>
                <a:tc>
                  <a:txBody>
                    <a:bodyPr/>
                    <a:lstStyle/>
                    <a:p>
                      <a:pPr algn="ctr"/>
                      <a:r>
                        <a:rPr lang="en-US" dirty="0">
                          <a:latin typeface="Times New Roman" panose="02020603050405020304" pitchFamily="18" charset="0"/>
                          <a:cs typeface="Times New Roman" panose="02020603050405020304" pitchFamily="18" charset="0"/>
                        </a:rPr>
                        <a:t>pending</a:t>
                      </a:r>
                    </a:p>
                  </a:txBody>
                  <a:tcPr/>
                </a:tc>
                <a:tc>
                  <a:txBody>
                    <a:bodyPr/>
                    <a:lstStyle/>
                    <a:p>
                      <a:pPr algn="ctr"/>
                      <a:r>
                        <a:rPr lang="en-US" dirty="0">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2490271880"/>
                  </a:ext>
                </a:extLst>
              </a:tr>
              <a:tr h="195851">
                <a:tc>
                  <a:txBody>
                    <a:bodyPr/>
                    <a:lstStyle/>
                    <a:p>
                      <a:pPr algn="ctr"/>
                      <a:r>
                        <a:rPr lang="en-US" dirty="0">
                          <a:latin typeface="Times New Roman" panose="02020603050405020304" pitchFamily="18" charset="0"/>
                          <a:cs typeface="Times New Roman" panose="02020603050405020304" pitchFamily="18" charset="0"/>
                        </a:rPr>
                        <a:t>3</a:t>
                      </a:r>
                    </a:p>
                  </a:txBody>
                  <a:tcPr/>
                </a:tc>
                <a:tc>
                  <a:txBody>
                    <a:bodyPr/>
                    <a:lstStyle/>
                    <a:p>
                      <a:pPr algn="ctr"/>
                      <a:r>
                        <a:rPr lang="en-US" dirty="0">
                          <a:latin typeface="Times New Roman" panose="02020603050405020304" pitchFamily="18" charset="0"/>
                          <a:cs typeface="Times New Roman" panose="02020603050405020304" pitchFamily="18" charset="0"/>
                        </a:rPr>
                        <a:t>done</a:t>
                      </a:r>
                    </a:p>
                  </a:txBody>
                  <a:tcPr/>
                </a:tc>
                <a:tc>
                  <a:txBody>
                    <a:bodyPr/>
                    <a:lstStyle/>
                    <a:p>
                      <a:pPr algn="ctr"/>
                      <a:r>
                        <a:rPr lang="en-US" dirty="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56107947"/>
                  </a:ext>
                </a:extLst>
              </a:tr>
            </a:tbl>
          </a:graphicData>
        </a:graphic>
      </p:graphicFrame>
      <p:sp>
        <p:nvSpPr>
          <p:cNvPr id="8" name="TextBox 7">
            <a:extLst>
              <a:ext uri="{FF2B5EF4-FFF2-40B4-BE49-F238E27FC236}">
                <a16:creationId xmlns:a16="http://schemas.microsoft.com/office/drawing/2014/main" id="{DCB9C89A-251E-4B30-8DB5-1880FC4DBBEF}"/>
              </a:ext>
            </a:extLst>
          </p:cNvPr>
          <p:cNvSpPr txBox="1"/>
          <p:nvPr/>
        </p:nvSpPr>
        <p:spPr>
          <a:xfrm>
            <a:off x="1736217" y="1512129"/>
            <a:ext cx="900696"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Projects</a:t>
            </a:r>
          </a:p>
        </p:txBody>
      </p:sp>
      <p:sp>
        <p:nvSpPr>
          <p:cNvPr id="9" name="TextBox 8">
            <a:extLst>
              <a:ext uri="{FF2B5EF4-FFF2-40B4-BE49-F238E27FC236}">
                <a16:creationId xmlns:a16="http://schemas.microsoft.com/office/drawing/2014/main" id="{8FFA5BF1-BCE4-4EBE-BCC0-BBD8C9D789C9}"/>
              </a:ext>
            </a:extLst>
          </p:cNvPr>
          <p:cNvSpPr txBox="1"/>
          <p:nvPr/>
        </p:nvSpPr>
        <p:spPr>
          <a:xfrm>
            <a:off x="4678181" y="1315261"/>
            <a:ext cx="1130438"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Languages</a:t>
            </a:r>
          </a:p>
        </p:txBody>
      </p:sp>
      <p:sp>
        <p:nvSpPr>
          <p:cNvPr id="10" name="TextBox 9">
            <a:extLst>
              <a:ext uri="{FF2B5EF4-FFF2-40B4-BE49-F238E27FC236}">
                <a16:creationId xmlns:a16="http://schemas.microsoft.com/office/drawing/2014/main" id="{AD31BEBD-BA05-43E9-A851-B353018E3BB6}"/>
              </a:ext>
            </a:extLst>
          </p:cNvPr>
          <p:cNvSpPr txBox="1"/>
          <p:nvPr/>
        </p:nvSpPr>
        <p:spPr>
          <a:xfrm>
            <a:off x="8549560" y="1276191"/>
            <a:ext cx="1377300"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Deployments</a:t>
            </a:r>
          </a:p>
        </p:txBody>
      </p:sp>
    </p:spTree>
    <p:extLst>
      <p:ext uri="{BB962C8B-B14F-4D97-AF65-F5344CB8AC3E}">
        <p14:creationId xmlns:p14="http://schemas.microsoft.com/office/powerpoint/2010/main" val="3792100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itchFamily="18" charset="0"/>
                <a:cs typeface="Times New Roman" pitchFamily="18" charset="0"/>
              </a:rPr>
              <a:t>Has Many Through Relationship</a:t>
            </a:r>
          </a:p>
        </p:txBody>
      </p:sp>
      <p:sp>
        <p:nvSpPr>
          <p:cNvPr id="3" name="Content Placeholder 2">
            <a:extLst>
              <a:ext uri="{FF2B5EF4-FFF2-40B4-BE49-F238E27FC236}">
                <a16:creationId xmlns:a16="http://schemas.microsoft.com/office/drawing/2014/main" id="{1C7DD53C-D323-40AA-B621-8C5B4B9E3FF9}"/>
              </a:ext>
            </a:extLst>
          </p:cNvPr>
          <p:cNvSpPr>
            <a:spLocks noGrp="1"/>
          </p:cNvSpPr>
          <p:nvPr>
            <p:ph idx="1"/>
          </p:nvPr>
        </p:nvSpPr>
        <p:spPr>
          <a:xfrm>
            <a:off x="838200" y="1253331"/>
            <a:ext cx="10515600" cy="5286806"/>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&lt;?php</a:t>
            </a:r>
          </a:p>
          <a:p>
            <a:pPr marL="0" indent="0">
              <a:buNone/>
            </a:pPr>
            <a:r>
              <a:rPr lang="en-US" sz="2000" dirty="0">
                <a:latin typeface="Times New Roman" panose="02020603050405020304" pitchFamily="18" charset="0"/>
                <a:cs typeface="Times New Roman" panose="02020603050405020304" pitchFamily="18" charset="0"/>
              </a:rPr>
              <a:t>namespace App\Models;</a:t>
            </a:r>
          </a:p>
          <a:p>
            <a:pPr marL="0" indent="0">
              <a:buNone/>
            </a:pPr>
            <a:r>
              <a:rPr lang="en-US" sz="2000" dirty="0">
                <a:latin typeface="Times New Roman" panose="02020603050405020304" pitchFamily="18" charset="0"/>
                <a:cs typeface="Times New Roman" panose="02020603050405020304" pitchFamily="18" charset="0"/>
              </a:rPr>
              <a:t>use Illuminate\Database\Eloquent\Model;</a:t>
            </a:r>
          </a:p>
          <a:p>
            <a:pPr marL="0" indent="0">
              <a:buNone/>
            </a:pPr>
            <a:r>
              <a:rPr lang="en-US" sz="2000" dirty="0">
                <a:latin typeface="Times New Roman" panose="02020603050405020304" pitchFamily="18" charset="0"/>
                <a:cs typeface="Times New Roman" panose="02020603050405020304" pitchFamily="18" charset="0"/>
              </a:rPr>
              <a:t>class Project extends Model {</a:t>
            </a:r>
          </a:p>
          <a:p>
            <a:pPr marL="0" indent="0">
              <a:buNone/>
            </a:pPr>
            <a:r>
              <a:rPr lang="en-US" sz="2000" dirty="0">
                <a:latin typeface="Times New Roman" panose="02020603050405020304" pitchFamily="18" charset="0"/>
                <a:cs typeface="Times New Roman" panose="02020603050405020304" pitchFamily="18" charset="0"/>
              </a:rPr>
              <a:t>   public function deployments() {</a:t>
            </a:r>
          </a:p>
          <a:p>
            <a:pPr marL="0" indent="0">
              <a:buNone/>
            </a:pPr>
            <a:r>
              <a:rPr lang="en-US" sz="2000" dirty="0">
                <a:latin typeface="Times New Roman" panose="02020603050405020304" pitchFamily="18" charset="0"/>
                <a:cs typeface="Times New Roman" panose="02020603050405020304" pitchFamily="18" charset="0"/>
              </a:rPr>
              <a:t>        return $this-&gt;</a:t>
            </a:r>
            <a:r>
              <a:rPr lang="en-US" sz="2000" dirty="0" err="1">
                <a:latin typeface="Times New Roman" panose="02020603050405020304" pitchFamily="18" charset="0"/>
                <a:cs typeface="Times New Roman" panose="02020603050405020304" pitchFamily="18" charset="0"/>
              </a:rPr>
              <a:t>hasManyThrough</a:t>
            </a:r>
            <a:r>
              <a:rPr lang="en-US" sz="2000" dirty="0">
                <a:latin typeface="Times New Roman" panose="02020603050405020304" pitchFamily="18" charset="0"/>
                <a:cs typeface="Times New Roman" panose="02020603050405020304" pitchFamily="18" charset="0"/>
              </a:rPr>
              <a:t>(Deployment::class, Language::class, ‘</a:t>
            </a:r>
            <a:r>
              <a:rPr lang="en-US" sz="2000" dirty="0" err="1">
                <a:latin typeface="Times New Roman" panose="02020603050405020304" pitchFamily="18" charset="0"/>
                <a:cs typeface="Times New Roman" panose="02020603050405020304" pitchFamily="18" charset="0"/>
              </a:rPr>
              <a:t>project_id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language_id</a:t>
            </a:r>
            <a:r>
              <a:rPr lang="en-US" sz="2000" dirty="0">
                <a:latin typeface="Times New Roman" panose="02020603050405020304" pitchFamily="18" charset="0"/>
                <a:cs typeface="Times New Roman" panose="02020603050405020304" pitchFamily="18" charset="0"/>
              </a:rPr>
              <a:t>’, ‘id’, ‘id’);</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project_id</a:t>
            </a:r>
            <a:r>
              <a:rPr lang="en-US" sz="2000" dirty="0">
                <a:latin typeface="Times New Roman" panose="02020603050405020304" pitchFamily="18" charset="0"/>
                <a:cs typeface="Times New Roman" panose="02020603050405020304" pitchFamily="18" charset="0"/>
              </a:rPr>
              <a:t>’ - Foreign key on the languages table</a:t>
            </a:r>
          </a:p>
          <a:p>
            <a:pPr marL="0" indent="0">
              <a:buNone/>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language_id</a:t>
            </a:r>
            <a:r>
              <a:rPr lang="en-US" sz="2000" dirty="0">
                <a:latin typeface="Times New Roman" panose="02020603050405020304" pitchFamily="18" charset="0"/>
                <a:cs typeface="Times New Roman" panose="02020603050405020304" pitchFamily="18" charset="0"/>
              </a:rPr>
              <a:t>’ - Foreign key on the deployments table</a:t>
            </a:r>
          </a:p>
          <a:p>
            <a:pPr marL="0" indent="0">
              <a:buNone/>
            </a:pPr>
            <a:r>
              <a:rPr lang="en-US" sz="2000" dirty="0">
                <a:latin typeface="Times New Roman" panose="02020603050405020304" pitchFamily="18" charset="0"/>
                <a:cs typeface="Times New Roman" panose="02020603050405020304" pitchFamily="18" charset="0"/>
              </a:rPr>
              <a:t>'id’ - Local key on the projects table</a:t>
            </a:r>
          </a:p>
          <a:p>
            <a:pPr marL="0" indent="0">
              <a:buNone/>
            </a:pPr>
            <a:r>
              <a:rPr lang="en-US" sz="2000" dirty="0">
                <a:latin typeface="Times New Roman" panose="02020603050405020304" pitchFamily="18" charset="0"/>
                <a:cs typeface="Times New Roman" panose="02020603050405020304" pitchFamily="18" charset="0"/>
              </a:rPr>
              <a:t>'id’ - Local key on the languages table</a:t>
            </a:r>
          </a:p>
        </p:txBody>
      </p:sp>
    </p:spTree>
    <p:extLst>
      <p:ext uri="{BB962C8B-B14F-4D97-AF65-F5344CB8AC3E}">
        <p14:creationId xmlns:p14="http://schemas.microsoft.com/office/powerpoint/2010/main" val="465559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25255"/>
            <a:ext cx="10515600" cy="1009651"/>
          </a:xfrm>
        </p:spPr>
        <p:txBody>
          <a:bodyPr>
            <a:normAutofit/>
          </a:bodyPr>
          <a:lstStyle/>
          <a:p>
            <a:pPr algn="ctr"/>
            <a:r>
              <a:rPr lang="en-US" b="1" u="sng" dirty="0">
                <a:latin typeface="Times New Roman" pitchFamily="18" charset="0"/>
                <a:cs typeface="Times New Roman" pitchFamily="18" charset="0"/>
              </a:rPr>
              <a:t>Many to Many Relationship</a:t>
            </a:r>
          </a:p>
        </p:txBody>
      </p:sp>
      <p:sp>
        <p:nvSpPr>
          <p:cNvPr id="2" name="Content Placeholder 1">
            <a:extLst>
              <a:ext uri="{FF2B5EF4-FFF2-40B4-BE49-F238E27FC236}">
                <a16:creationId xmlns:a16="http://schemas.microsoft.com/office/drawing/2014/main" id="{6B70C4D3-F20F-4305-B8DE-C549BFDB2738}"/>
              </a:ext>
            </a:extLst>
          </p:cNvPr>
          <p:cNvSpPr>
            <a:spLocks noGrp="1"/>
          </p:cNvSpPr>
          <p:nvPr>
            <p:ph idx="1"/>
          </p:nvPr>
        </p:nvSpPr>
        <p:spPr>
          <a:xfrm>
            <a:off x="838200" y="1142134"/>
            <a:ext cx="10515600" cy="797502"/>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Many-to-many relations are slightly more complicated than </a:t>
            </a:r>
            <a:r>
              <a:rPr lang="en-US" sz="2400" dirty="0" err="1">
                <a:latin typeface="Times New Roman" panose="02020603050405020304" pitchFamily="18" charset="0"/>
                <a:cs typeface="Times New Roman" panose="02020603050405020304" pitchFamily="18" charset="0"/>
              </a:rPr>
              <a:t>hasOne</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hasMany</a:t>
            </a:r>
            <a:r>
              <a:rPr lang="en-US" sz="2400" dirty="0">
                <a:latin typeface="Times New Roman" panose="02020603050405020304" pitchFamily="18" charset="0"/>
                <a:cs typeface="Times New Roman" panose="02020603050405020304" pitchFamily="18" charset="0"/>
              </a:rPr>
              <a:t> relationships. To define this relationship, three database tables are needed.</a:t>
            </a:r>
          </a:p>
        </p:txBody>
      </p:sp>
      <p:pic>
        <p:nvPicPr>
          <p:cNvPr id="3" name="Picture 2">
            <a:extLst>
              <a:ext uri="{FF2B5EF4-FFF2-40B4-BE49-F238E27FC236}">
                <a16:creationId xmlns:a16="http://schemas.microsoft.com/office/drawing/2014/main" id="{1EA16EBA-BAC2-4F39-98B4-9D12EFEB29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7642" y="2726699"/>
            <a:ext cx="4683220" cy="2685534"/>
          </a:xfrm>
          <a:prstGeom prst="rect">
            <a:avLst/>
          </a:prstGeom>
        </p:spPr>
      </p:pic>
      <p:pic>
        <p:nvPicPr>
          <p:cNvPr id="10" name="Picture 9">
            <a:extLst>
              <a:ext uri="{FF2B5EF4-FFF2-40B4-BE49-F238E27FC236}">
                <a16:creationId xmlns:a16="http://schemas.microsoft.com/office/drawing/2014/main" id="{EA25764B-99A1-419E-8EB9-C6FB9E95C0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084" y="2662076"/>
            <a:ext cx="4274716" cy="2845358"/>
          </a:xfrm>
          <a:prstGeom prst="rect">
            <a:avLst/>
          </a:prstGeom>
        </p:spPr>
      </p:pic>
    </p:spTree>
    <p:extLst>
      <p:ext uri="{BB962C8B-B14F-4D97-AF65-F5344CB8AC3E}">
        <p14:creationId xmlns:p14="http://schemas.microsoft.com/office/powerpoint/2010/main" val="928312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09600" y="54660"/>
            <a:ext cx="10972800" cy="858839"/>
          </a:xfrm>
        </p:spPr>
        <p:txBody>
          <a:bodyPr>
            <a:normAutofit/>
          </a:bodyPr>
          <a:lstStyle/>
          <a:p>
            <a:pPr algn="ctr"/>
            <a:r>
              <a:rPr lang="en-US" b="1" u="sng" dirty="0">
                <a:latin typeface="Times New Roman" pitchFamily="18" charset="0"/>
                <a:cs typeface="Times New Roman" pitchFamily="18" charset="0"/>
              </a:rPr>
              <a:t>Many to Many Relationship</a:t>
            </a:r>
          </a:p>
        </p:txBody>
      </p:sp>
      <p:graphicFrame>
        <p:nvGraphicFramePr>
          <p:cNvPr id="11" name="Table 10">
            <a:extLst>
              <a:ext uri="{FF2B5EF4-FFF2-40B4-BE49-F238E27FC236}">
                <a16:creationId xmlns:a16="http://schemas.microsoft.com/office/drawing/2014/main" id="{E608E996-9D31-45AC-B94E-0F1372C11ACA}"/>
              </a:ext>
            </a:extLst>
          </p:cNvPr>
          <p:cNvGraphicFramePr>
            <a:graphicFrameLocks noGrp="1"/>
          </p:cNvGraphicFramePr>
          <p:nvPr>
            <p:extLst>
              <p:ext uri="{D42A27DB-BD31-4B8C-83A1-F6EECF244321}">
                <p14:modId xmlns:p14="http://schemas.microsoft.com/office/powerpoint/2010/main" val="3281452818"/>
              </p:ext>
            </p:extLst>
          </p:nvPr>
        </p:nvGraphicFramePr>
        <p:xfrm>
          <a:off x="2556240" y="1306340"/>
          <a:ext cx="2743200" cy="2032000"/>
        </p:xfrm>
        <a:graphic>
          <a:graphicData uri="http://schemas.openxmlformats.org/drawingml/2006/table">
            <a:tbl>
              <a:tblPr firstRow="1" bandRow="1">
                <a:tableStyleId>{5940675A-B579-460E-94D1-54222C63F5DA}</a:tableStyleId>
              </a:tblPr>
              <a:tblGrid>
                <a:gridCol w="1186213">
                  <a:extLst>
                    <a:ext uri="{9D8B030D-6E8A-4147-A177-3AD203B41FA5}">
                      <a16:colId xmlns:a16="http://schemas.microsoft.com/office/drawing/2014/main" val="20000"/>
                    </a:ext>
                  </a:extLst>
                </a:gridCol>
                <a:gridCol w="1556987">
                  <a:extLst>
                    <a:ext uri="{9D8B030D-6E8A-4147-A177-3AD203B41FA5}">
                      <a16:colId xmlns:a16="http://schemas.microsoft.com/office/drawing/2014/main" val="20001"/>
                    </a:ext>
                  </a:extLst>
                </a:gridCol>
              </a:tblGrid>
              <a:tr h="508000">
                <a:tc>
                  <a:txBody>
                    <a:bodyPr/>
                    <a:lstStyle/>
                    <a:p>
                      <a:pPr algn="ctr"/>
                      <a:r>
                        <a:rPr lang="en-US" sz="2100" b="1" dirty="0">
                          <a:latin typeface="Times New Roman" pitchFamily="18" charset="0"/>
                          <a:cs typeface="Times New Roman" pitchFamily="18" charset="0"/>
                        </a:rPr>
                        <a:t>ID</a:t>
                      </a:r>
                    </a:p>
                  </a:txBody>
                  <a:tcPr marL="121920" marR="121920" marT="60960" marB="60960">
                    <a:solidFill>
                      <a:schemeClr val="accent2"/>
                    </a:solidFill>
                  </a:tcPr>
                </a:tc>
                <a:tc>
                  <a:txBody>
                    <a:bodyPr/>
                    <a:lstStyle/>
                    <a:p>
                      <a:pPr algn="ctr"/>
                      <a:r>
                        <a:rPr lang="en-US" sz="2100" b="1" dirty="0">
                          <a:latin typeface="Times New Roman" pitchFamily="18" charset="0"/>
                          <a:cs typeface="Times New Roman" pitchFamily="18" charset="0"/>
                        </a:rPr>
                        <a:t>name</a:t>
                      </a:r>
                    </a:p>
                  </a:txBody>
                  <a:tcPr marL="121920" marR="121920" marT="60960" marB="60960">
                    <a:solidFill>
                      <a:schemeClr val="accent2"/>
                    </a:solidFill>
                  </a:tcPr>
                </a:tc>
                <a:extLst>
                  <a:ext uri="{0D108BD9-81ED-4DB2-BD59-A6C34878D82A}">
                    <a16:rowId xmlns:a16="http://schemas.microsoft.com/office/drawing/2014/main" val="10000"/>
                  </a:ext>
                </a:extLst>
              </a:tr>
              <a:tr h="508000">
                <a:tc>
                  <a:txBody>
                    <a:bodyPr/>
                    <a:lstStyle/>
                    <a:p>
                      <a:pPr algn="ctr"/>
                      <a:r>
                        <a:rPr lang="en-US" sz="1900" dirty="0">
                          <a:latin typeface="Times New Roman" pitchFamily="18" charset="0"/>
                          <a:cs typeface="Times New Roman" pitchFamily="18" charset="0"/>
                        </a:rPr>
                        <a:t>1</a:t>
                      </a:r>
                    </a:p>
                  </a:txBody>
                  <a:tcPr marL="121920" marR="121920" marT="60960" marB="60960"/>
                </a:tc>
                <a:tc>
                  <a:txBody>
                    <a:bodyPr/>
                    <a:lstStyle/>
                    <a:p>
                      <a:pPr algn="ctr"/>
                      <a:r>
                        <a:rPr lang="en-US" sz="1900" dirty="0">
                          <a:latin typeface="Times New Roman" pitchFamily="18" charset="0"/>
                          <a:cs typeface="Times New Roman" pitchFamily="18" charset="0"/>
                        </a:rPr>
                        <a:t>Rahul</a:t>
                      </a:r>
                    </a:p>
                  </a:txBody>
                  <a:tcPr marL="121920" marR="121920" marT="60960" marB="60960"/>
                </a:tc>
                <a:extLst>
                  <a:ext uri="{0D108BD9-81ED-4DB2-BD59-A6C34878D82A}">
                    <a16:rowId xmlns:a16="http://schemas.microsoft.com/office/drawing/2014/main" val="10001"/>
                  </a:ext>
                </a:extLst>
              </a:tr>
              <a:tr h="508000">
                <a:tc>
                  <a:txBody>
                    <a:bodyPr/>
                    <a:lstStyle/>
                    <a:p>
                      <a:pPr algn="ctr"/>
                      <a:r>
                        <a:rPr lang="en-US" sz="1900" dirty="0">
                          <a:latin typeface="Times New Roman" pitchFamily="18" charset="0"/>
                          <a:cs typeface="Times New Roman" pitchFamily="18" charset="0"/>
                        </a:rPr>
                        <a:t>2</a:t>
                      </a:r>
                    </a:p>
                  </a:txBody>
                  <a:tcPr marL="121920" marR="121920" marT="60960" marB="60960"/>
                </a:tc>
                <a:tc>
                  <a:txBody>
                    <a:bodyPr/>
                    <a:lstStyle/>
                    <a:p>
                      <a:pPr algn="ctr"/>
                      <a:r>
                        <a:rPr lang="en-US" sz="1900" dirty="0" err="1">
                          <a:latin typeface="Times New Roman" pitchFamily="18" charset="0"/>
                          <a:cs typeface="Times New Roman" pitchFamily="18" charset="0"/>
                        </a:rPr>
                        <a:t>Sonam</a:t>
                      </a:r>
                      <a:endParaRPr lang="en-US" sz="1900" dirty="0">
                        <a:latin typeface="Times New Roman" pitchFamily="18" charset="0"/>
                        <a:cs typeface="Times New Roman" pitchFamily="18" charset="0"/>
                      </a:endParaRPr>
                    </a:p>
                  </a:txBody>
                  <a:tcPr marL="121920" marR="121920" marT="60960" marB="60960"/>
                </a:tc>
                <a:extLst>
                  <a:ext uri="{0D108BD9-81ED-4DB2-BD59-A6C34878D82A}">
                    <a16:rowId xmlns:a16="http://schemas.microsoft.com/office/drawing/2014/main" val="10002"/>
                  </a:ext>
                </a:extLst>
              </a:tr>
              <a:tr h="508000">
                <a:tc>
                  <a:txBody>
                    <a:bodyPr/>
                    <a:lstStyle/>
                    <a:p>
                      <a:pPr algn="ctr"/>
                      <a:r>
                        <a:rPr lang="en-US" sz="1900" dirty="0">
                          <a:latin typeface="Times New Roman" pitchFamily="18" charset="0"/>
                          <a:cs typeface="Times New Roman" pitchFamily="18" charset="0"/>
                        </a:rPr>
                        <a:t>3</a:t>
                      </a:r>
                    </a:p>
                  </a:txBody>
                  <a:tcPr marL="121920" marR="121920" marT="60960" marB="60960"/>
                </a:tc>
                <a:tc>
                  <a:txBody>
                    <a:bodyPr/>
                    <a:lstStyle/>
                    <a:p>
                      <a:pPr algn="ctr"/>
                      <a:r>
                        <a:rPr lang="en-US" sz="1900" dirty="0" err="1">
                          <a:latin typeface="Times New Roman" pitchFamily="18" charset="0"/>
                          <a:cs typeface="Times New Roman" pitchFamily="18" charset="0"/>
                        </a:rPr>
                        <a:t>Kunal</a:t>
                      </a:r>
                      <a:endParaRPr lang="en-US" sz="1900" dirty="0">
                        <a:latin typeface="Times New Roman" pitchFamily="18" charset="0"/>
                        <a:cs typeface="Times New Roman" pitchFamily="18" charset="0"/>
                      </a:endParaRPr>
                    </a:p>
                  </a:txBody>
                  <a:tcPr marL="121920" marR="121920" marT="60960" marB="60960"/>
                </a:tc>
                <a:extLst>
                  <a:ext uri="{0D108BD9-81ED-4DB2-BD59-A6C34878D82A}">
                    <a16:rowId xmlns:a16="http://schemas.microsoft.com/office/drawing/2014/main" val="10003"/>
                  </a:ext>
                </a:extLst>
              </a:tr>
            </a:tbl>
          </a:graphicData>
        </a:graphic>
      </p:graphicFrame>
      <p:graphicFrame>
        <p:nvGraphicFramePr>
          <p:cNvPr id="12" name="Table 11">
            <a:extLst>
              <a:ext uri="{FF2B5EF4-FFF2-40B4-BE49-F238E27FC236}">
                <a16:creationId xmlns:a16="http://schemas.microsoft.com/office/drawing/2014/main" id="{E5BA827E-9D83-496F-AE2B-65AF5C0A6C55}"/>
              </a:ext>
            </a:extLst>
          </p:cNvPr>
          <p:cNvGraphicFramePr>
            <a:graphicFrameLocks noGrp="1"/>
          </p:cNvGraphicFramePr>
          <p:nvPr>
            <p:extLst>
              <p:ext uri="{D42A27DB-BD31-4B8C-83A1-F6EECF244321}">
                <p14:modId xmlns:p14="http://schemas.microsoft.com/office/powerpoint/2010/main" val="226512428"/>
              </p:ext>
            </p:extLst>
          </p:nvPr>
        </p:nvGraphicFramePr>
        <p:xfrm>
          <a:off x="2715897" y="4096311"/>
          <a:ext cx="2423886" cy="2032000"/>
        </p:xfrm>
        <a:graphic>
          <a:graphicData uri="http://schemas.openxmlformats.org/drawingml/2006/table">
            <a:tbl>
              <a:tblPr firstRow="1" bandRow="1">
                <a:tableStyleId>{5940675A-B579-460E-94D1-54222C63F5DA}</a:tableStyleId>
              </a:tblPr>
              <a:tblGrid>
                <a:gridCol w="830217">
                  <a:extLst>
                    <a:ext uri="{9D8B030D-6E8A-4147-A177-3AD203B41FA5}">
                      <a16:colId xmlns:a16="http://schemas.microsoft.com/office/drawing/2014/main" val="20000"/>
                    </a:ext>
                  </a:extLst>
                </a:gridCol>
                <a:gridCol w="1593669">
                  <a:extLst>
                    <a:ext uri="{9D8B030D-6E8A-4147-A177-3AD203B41FA5}">
                      <a16:colId xmlns:a16="http://schemas.microsoft.com/office/drawing/2014/main" val="20001"/>
                    </a:ext>
                  </a:extLst>
                </a:gridCol>
              </a:tblGrid>
              <a:tr h="508000">
                <a:tc>
                  <a:txBody>
                    <a:bodyPr/>
                    <a:lstStyle/>
                    <a:p>
                      <a:pPr algn="ctr"/>
                      <a:r>
                        <a:rPr lang="en-US" sz="2100" b="1" dirty="0">
                          <a:latin typeface="Times New Roman" pitchFamily="18" charset="0"/>
                          <a:cs typeface="Times New Roman" pitchFamily="18" charset="0"/>
                        </a:rPr>
                        <a:t>ID</a:t>
                      </a:r>
                    </a:p>
                  </a:txBody>
                  <a:tcPr marL="121920" marR="121920" marT="60960" marB="60960">
                    <a:solidFill>
                      <a:schemeClr val="accent2"/>
                    </a:solidFill>
                  </a:tcPr>
                </a:tc>
                <a:tc>
                  <a:txBody>
                    <a:bodyPr/>
                    <a:lstStyle/>
                    <a:p>
                      <a:pPr algn="ctr"/>
                      <a:r>
                        <a:rPr lang="en-US" sz="2100" b="1" dirty="0">
                          <a:latin typeface="Times New Roman" pitchFamily="18" charset="0"/>
                          <a:cs typeface="Times New Roman" pitchFamily="18" charset="0"/>
                        </a:rPr>
                        <a:t>title</a:t>
                      </a:r>
                    </a:p>
                  </a:txBody>
                  <a:tcPr marL="121920" marR="121920" marT="60960" marB="60960">
                    <a:solidFill>
                      <a:schemeClr val="accent2"/>
                    </a:solidFill>
                  </a:tcPr>
                </a:tc>
                <a:extLst>
                  <a:ext uri="{0D108BD9-81ED-4DB2-BD59-A6C34878D82A}">
                    <a16:rowId xmlns:a16="http://schemas.microsoft.com/office/drawing/2014/main" val="10000"/>
                  </a:ext>
                </a:extLst>
              </a:tr>
              <a:tr h="508000">
                <a:tc>
                  <a:txBody>
                    <a:bodyPr/>
                    <a:lstStyle/>
                    <a:p>
                      <a:pPr algn="ctr"/>
                      <a:r>
                        <a:rPr lang="en-US" sz="1900" dirty="0">
                          <a:latin typeface="Times New Roman" pitchFamily="18" charset="0"/>
                          <a:cs typeface="Times New Roman" pitchFamily="18" charset="0"/>
                        </a:rPr>
                        <a:t>1</a:t>
                      </a:r>
                    </a:p>
                  </a:txBody>
                  <a:tcPr marL="121920" marR="121920" marT="60960" marB="60960"/>
                </a:tc>
                <a:tc>
                  <a:txBody>
                    <a:bodyPr/>
                    <a:lstStyle/>
                    <a:p>
                      <a:pPr algn="ctr"/>
                      <a:r>
                        <a:rPr lang="en-US" sz="1900" dirty="0">
                          <a:latin typeface="Times New Roman" pitchFamily="18" charset="0"/>
                          <a:cs typeface="Times New Roman" pitchFamily="18" charset="0"/>
                        </a:rPr>
                        <a:t>Tum hi ho</a:t>
                      </a:r>
                    </a:p>
                  </a:txBody>
                  <a:tcPr marL="121920" marR="121920" marT="60960" marB="60960"/>
                </a:tc>
                <a:extLst>
                  <a:ext uri="{0D108BD9-81ED-4DB2-BD59-A6C34878D82A}">
                    <a16:rowId xmlns:a16="http://schemas.microsoft.com/office/drawing/2014/main" val="10001"/>
                  </a:ext>
                </a:extLst>
              </a:tr>
              <a:tr h="508000">
                <a:tc>
                  <a:txBody>
                    <a:bodyPr/>
                    <a:lstStyle/>
                    <a:p>
                      <a:pPr algn="ctr"/>
                      <a:r>
                        <a:rPr lang="en-US" sz="1900" dirty="0">
                          <a:latin typeface="Times New Roman" pitchFamily="18" charset="0"/>
                          <a:cs typeface="Times New Roman" pitchFamily="18" charset="0"/>
                        </a:rPr>
                        <a:t>2</a:t>
                      </a:r>
                    </a:p>
                  </a:txBody>
                  <a:tcPr marL="121920" marR="121920" marT="60960" marB="60960"/>
                </a:tc>
                <a:tc>
                  <a:txBody>
                    <a:bodyPr/>
                    <a:lstStyle/>
                    <a:p>
                      <a:pPr algn="ctr"/>
                      <a:r>
                        <a:rPr lang="en-US" sz="1900" dirty="0" err="1">
                          <a:latin typeface="Times New Roman" pitchFamily="18" charset="0"/>
                          <a:cs typeface="Times New Roman" pitchFamily="18" charset="0"/>
                        </a:rPr>
                        <a:t>Kuch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Kuch</a:t>
                      </a:r>
                      <a:endParaRPr lang="en-US" sz="1900" dirty="0">
                        <a:latin typeface="Times New Roman" pitchFamily="18" charset="0"/>
                        <a:cs typeface="Times New Roman" pitchFamily="18" charset="0"/>
                      </a:endParaRPr>
                    </a:p>
                  </a:txBody>
                  <a:tcPr marL="121920" marR="121920" marT="60960" marB="60960"/>
                </a:tc>
                <a:extLst>
                  <a:ext uri="{0D108BD9-81ED-4DB2-BD59-A6C34878D82A}">
                    <a16:rowId xmlns:a16="http://schemas.microsoft.com/office/drawing/2014/main" val="10002"/>
                  </a:ext>
                </a:extLst>
              </a:tr>
              <a:tr h="508000">
                <a:tc>
                  <a:txBody>
                    <a:bodyPr/>
                    <a:lstStyle/>
                    <a:p>
                      <a:pPr algn="ctr"/>
                      <a:r>
                        <a:rPr lang="en-US" sz="1900" dirty="0">
                          <a:latin typeface="Times New Roman" pitchFamily="18" charset="0"/>
                          <a:cs typeface="Times New Roman" pitchFamily="18" charset="0"/>
                        </a:rPr>
                        <a:t>3</a:t>
                      </a:r>
                    </a:p>
                  </a:txBody>
                  <a:tcPr marL="121920" marR="121920" marT="60960" marB="60960"/>
                </a:tc>
                <a:tc>
                  <a:txBody>
                    <a:bodyPr/>
                    <a:lstStyle/>
                    <a:p>
                      <a:pPr algn="ctr"/>
                      <a:r>
                        <a:rPr lang="en-US" sz="1900" dirty="0" err="1">
                          <a:latin typeface="Times New Roman" pitchFamily="18" charset="0"/>
                          <a:cs typeface="Times New Roman" pitchFamily="18" charset="0"/>
                        </a:rPr>
                        <a:t>Dil</a:t>
                      </a:r>
                      <a:r>
                        <a:rPr lang="en-US" sz="1900" dirty="0">
                          <a:latin typeface="Times New Roman" pitchFamily="18" charset="0"/>
                          <a:cs typeface="Times New Roman" pitchFamily="18" charset="0"/>
                        </a:rPr>
                        <a:t> to </a:t>
                      </a:r>
                      <a:r>
                        <a:rPr lang="en-US" sz="1900" dirty="0" err="1">
                          <a:latin typeface="Times New Roman" pitchFamily="18" charset="0"/>
                          <a:cs typeface="Times New Roman" pitchFamily="18" charset="0"/>
                        </a:rPr>
                        <a:t>hai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dil</a:t>
                      </a:r>
                      <a:endParaRPr lang="en-US" sz="1900" dirty="0">
                        <a:latin typeface="Times New Roman" pitchFamily="18" charset="0"/>
                        <a:cs typeface="Times New Roman" pitchFamily="18" charset="0"/>
                      </a:endParaRPr>
                    </a:p>
                  </a:txBody>
                  <a:tcPr marL="121920" marR="121920" marT="60960" marB="60960"/>
                </a:tc>
                <a:extLst>
                  <a:ext uri="{0D108BD9-81ED-4DB2-BD59-A6C34878D82A}">
                    <a16:rowId xmlns:a16="http://schemas.microsoft.com/office/drawing/2014/main" val="10003"/>
                  </a:ext>
                </a:extLst>
              </a:tr>
            </a:tbl>
          </a:graphicData>
        </a:graphic>
      </p:graphicFrame>
      <p:sp>
        <p:nvSpPr>
          <p:cNvPr id="13" name="TextBox 12">
            <a:extLst>
              <a:ext uri="{FF2B5EF4-FFF2-40B4-BE49-F238E27FC236}">
                <a16:creationId xmlns:a16="http://schemas.microsoft.com/office/drawing/2014/main" id="{FB4AA848-8935-4907-9473-C3BDA908CA39}"/>
              </a:ext>
            </a:extLst>
          </p:cNvPr>
          <p:cNvSpPr txBox="1"/>
          <p:nvPr/>
        </p:nvSpPr>
        <p:spPr>
          <a:xfrm>
            <a:off x="3274718" y="802679"/>
            <a:ext cx="1107996" cy="461665"/>
          </a:xfrm>
          <a:prstGeom prst="rect">
            <a:avLst/>
          </a:prstGeom>
          <a:noFill/>
        </p:spPr>
        <p:txBody>
          <a:bodyPr wrap="none" rtlCol="0">
            <a:spAutoFit/>
          </a:bodyPr>
          <a:lstStyle/>
          <a:p>
            <a:r>
              <a:rPr lang="en-US" sz="2400" b="1" dirty="0">
                <a:latin typeface="Times New Roman" pitchFamily="18" charset="0"/>
                <a:cs typeface="Times New Roman" pitchFamily="18" charset="0"/>
              </a:rPr>
              <a:t>singers</a:t>
            </a:r>
          </a:p>
        </p:txBody>
      </p:sp>
      <p:sp>
        <p:nvSpPr>
          <p:cNvPr id="14" name="TextBox 13">
            <a:extLst>
              <a:ext uri="{FF2B5EF4-FFF2-40B4-BE49-F238E27FC236}">
                <a16:creationId xmlns:a16="http://schemas.microsoft.com/office/drawing/2014/main" id="{BB99C805-8DC5-454A-8E2C-9092C4CEEA11}"/>
              </a:ext>
            </a:extLst>
          </p:cNvPr>
          <p:cNvSpPr txBox="1"/>
          <p:nvPr/>
        </p:nvSpPr>
        <p:spPr>
          <a:xfrm>
            <a:off x="7830304" y="1945803"/>
            <a:ext cx="1670650" cy="420564"/>
          </a:xfrm>
          <a:prstGeom prst="rect">
            <a:avLst/>
          </a:prstGeom>
          <a:noFill/>
        </p:spPr>
        <p:txBody>
          <a:bodyPr wrap="none" rtlCol="0">
            <a:spAutoFit/>
          </a:bodyPr>
          <a:lstStyle/>
          <a:p>
            <a:r>
              <a:rPr lang="en-US" sz="2133" b="1" dirty="0" err="1">
                <a:latin typeface="Times New Roman" pitchFamily="18" charset="0"/>
                <a:cs typeface="Times New Roman" pitchFamily="18" charset="0"/>
              </a:rPr>
              <a:t>song_singers</a:t>
            </a:r>
            <a:endParaRPr lang="en-US" sz="2133" b="1" dirty="0">
              <a:latin typeface="Times New Roman" pitchFamily="18" charset="0"/>
              <a:cs typeface="Times New Roman" pitchFamily="18" charset="0"/>
            </a:endParaRPr>
          </a:p>
        </p:txBody>
      </p:sp>
      <p:graphicFrame>
        <p:nvGraphicFramePr>
          <p:cNvPr id="15" name="Table 14">
            <a:extLst>
              <a:ext uri="{FF2B5EF4-FFF2-40B4-BE49-F238E27FC236}">
                <a16:creationId xmlns:a16="http://schemas.microsoft.com/office/drawing/2014/main" id="{D01AC1C8-FCCF-4378-9C59-0B9BB1944770}"/>
              </a:ext>
            </a:extLst>
          </p:cNvPr>
          <p:cNvGraphicFramePr>
            <a:graphicFrameLocks noGrp="1"/>
          </p:cNvGraphicFramePr>
          <p:nvPr>
            <p:extLst>
              <p:ext uri="{D42A27DB-BD31-4B8C-83A1-F6EECF244321}">
                <p14:modId xmlns:p14="http://schemas.microsoft.com/office/powerpoint/2010/main" val="3376847152"/>
              </p:ext>
            </p:extLst>
          </p:nvPr>
        </p:nvGraphicFramePr>
        <p:xfrm>
          <a:off x="6515463" y="2529552"/>
          <a:ext cx="4114800" cy="2543563"/>
        </p:xfrm>
        <a:graphic>
          <a:graphicData uri="http://schemas.openxmlformats.org/drawingml/2006/table">
            <a:tbl>
              <a:tblPr firstRow="1" bandRow="1">
                <a:tableStyleId>{5940675A-B579-460E-94D1-54222C63F5DA}</a:tableStyleId>
              </a:tblPr>
              <a:tblGrid>
                <a:gridCol w="1186213">
                  <a:extLst>
                    <a:ext uri="{9D8B030D-6E8A-4147-A177-3AD203B41FA5}">
                      <a16:colId xmlns:a16="http://schemas.microsoft.com/office/drawing/2014/main" val="20000"/>
                    </a:ext>
                  </a:extLst>
                </a:gridCol>
                <a:gridCol w="1556987">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511563">
                <a:tc>
                  <a:txBody>
                    <a:bodyPr/>
                    <a:lstStyle/>
                    <a:p>
                      <a:pPr algn="ctr"/>
                      <a:r>
                        <a:rPr lang="en-US" sz="2100" b="1" dirty="0">
                          <a:latin typeface="Times New Roman" pitchFamily="18" charset="0"/>
                          <a:cs typeface="Times New Roman" pitchFamily="18" charset="0"/>
                        </a:rPr>
                        <a:t>ID</a:t>
                      </a:r>
                    </a:p>
                  </a:txBody>
                  <a:tcPr marL="121920" marR="121920" marT="60960" marB="60960">
                    <a:solidFill>
                      <a:schemeClr val="accent2"/>
                    </a:solidFill>
                  </a:tcPr>
                </a:tc>
                <a:tc>
                  <a:txBody>
                    <a:bodyPr/>
                    <a:lstStyle/>
                    <a:p>
                      <a:pPr algn="ctr"/>
                      <a:r>
                        <a:rPr lang="en-US" sz="2100" b="1" dirty="0" err="1">
                          <a:latin typeface="Times New Roman" pitchFamily="18" charset="0"/>
                          <a:cs typeface="Times New Roman" pitchFamily="18" charset="0"/>
                        </a:rPr>
                        <a:t>song_id</a:t>
                      </a:r>
                      <a:endParaRPr lang="en-US" sz="2100" b="1" dirty="0">
                        <a:latin typeface="Times New Roman" pitchFamily="18" charset="0"/>
                        <a:cs typeface="Times New Roman" pitchFamily="18" charset="0"/>
                      </a:endParaRPr>
                    </a:p>
                  </a:txBody>
                  <a:tcPr marL="121920" marR="121920" marT="60960" marB="60960">
                    <a:solidFill>
                      <a:schemeClr val="accent2"/>
                    </a:solidFill>
                  </a:tcPr>
                </a:tc>
                <a:tc>
                  <a:txBody>
                    <a:bodyPr/>
                    <a:lstStyle/>
                    <a:p>
                      <a:pPr algn="ctr"/>
                      <a:r>
                        <a:rPr lang="en-US" sz="2100" b="1" dirty="0" err="1">
                          <a:latin typeface="Times New Roman" pitchFamily="18" charset="0"/>
                          <a:cs typeface="Times New Roman" pitchFamily="18" charset="0"/>
                        </a:rPr>
                        <a:t>singer_id</a:t>
                      </a:r>
                      <a:endParaRPr lang="en-US" sz="2100" b="1" dirty="0">
                        <a:latin typeface="Times New Roman" pitchFamily="18" charset="0"/>
                        <a:cs typeface="Times New Roman" pitchFamily="18" charset="0"/>
                      </a:endParaRPr>
                    </a:p>
                  </a:txBody>
                  <a:tcPr marL="121920" marR="121920" marT="60960" marB="60960">
                    <a:solidFill>
                      <a:schemeClr val="accent2"/>
                    </a:solidFill>
                  </a:tcPr>
                </a:tc>
                <a:extLst>
                  <a:ext uri="{0D108BD9-81ED-4DB2-BD59-A6C34878D82A}">
                    <a16:rowId xmlns:a16="http://schemas.microsoft.com/office/drawing/2014/main" val="10000"/>
                  </a:ext>
                </a:extLst>
              </a:tr>
              <a:tr h="508000">
                <a:tc>
                  <a:txBody>
                    <a:bodyPr/>
                    <a:lstStyle/>
                    <a:p>
                      <a:pPr algn="ctr"/>
                      <a:r>
                        <a:rPr lang="en-US" sz="1900" dirty="0">
                          <a:latin typeface="Times New Roman" pitchFamily="18" charset="0"/>
                          <a:cs typeface="Times New Roman" pitchFamily="18" charset="0"/>
                        </a:rPr>
                        <a:t>1</a:t>
                      </a:r>
                    </a:p>
                  </a:txBody>
                  <a:tcPr marL="121920" marR="121920" marT="60960" marB="60960"/>
                </a:tc>
                <a:tc>
                  <a:txBody>
                    <a:bodyPr/>
                    <a:lstStyle/>
                    <a:p>
                      <a:pPr algn="ctr"/>
                      <a:r>
                        <a:rPr lang="en-US" sz="1900" dirty="0">
                          <a:latin typeface="Times New Roman" pitchFamily="18" charset="0"/>
                          <a:cs typeface="Times New Roman" pitchFamily="18" charset="0"/>
                        </a:rPr>
                        <a:t>1</a:t>
                      </a:r>
                    </a:p>
                  </a:txBody>
                  <a:tcPr marL="121920" marR="121920" marT="60960" marB="60960"/>
                </a:tc>
                <a:tc>
                  <a:txBody>
                    <a:bodyPr/>
                    <a:lstStyle/>
                    <a:p>
                      <a:pPr algn="ctr"/>
                      <a:r>
                        <a:rPr lang="en-US" sz="1900" dirty="0">
                          <a:latin typeface="Times New Roman" pitchFamily="18" charset="0"/>
                          <a:cs typeface="Times New Roman" pitchFamily="18" charset="0"/>
                        </a:rPr>
                        <a:t>1</a:t>
                      </a:r>
                    </a:p>
                  </a:txBody>
                  <a:tcPr marL="121920" marR="121920" marT="60960" marB="60960"/>
                </a:tc>
                <a:extLst>
                  <a:ext uri="{0D108BD9-81ED-4DB2-BD59-A6C34878D82A}">
                    <a16:rowId xmlns:a16="http://schemas.microsoft.com/office/drawing/2014/main" val="10001"/>
                  </a:ext>
                </a:extLst>
              </a:tr>
              <a:tr h="508000">
                <a:tc>
                  <a:txBody>
                    <a:bodyPr/>
                    <a:lstStyle/>
                    <a:p>
                      <a:pPr algn="ctr"/>
                      <a:r>
                        <a:rPr lang="en-US" sz="1900" dirty="0">
                          <a:latin typeface="Times New Roman" pitchFamily="18" charset="0"/>
                          <a:cs typeface="Times New Roman" pitchFamily="18" charset="0"/>
                        </a:rPr>
                        <a:t>2</a:t>
                      </a:r>
                    </a:p>
                  </a:txBody>
                  <a:tcPr marL="121920" marR="121920" marT="60960" marB="60960"/>
                </a:tc>
                <a:tc>
                  <a:txBody>
                    <a:bodyPr/>
                    <a:lstStyle/>
                    <a:p>
                      <a:pPr algn="ctr"/>
                      <a:r>
                        <a:rPr lang="en-US" sz="1900" dirty="0">
                          <a:latin typeface="Times New Roman" pitchFamily="18" charset="0"/>
                          <a:cs typeface="Times New Roman" pitchFamily="18" charset="0"/>
                        </a:rPr>
                        <a:t>1</a:t>
                      </a:r>
                    </a:p>
                  </a:txBody>
                  <a:tcPr marL="121920" marR="121920" marT="60960" marB="60960"/>
                </a:tc>
                <a:tc>
                  <a:txBody>
                    <a:bodyPr/>
                    <a:lstStyle/>
                    <a:p>
                      <a:pPr algn="ctr"/>
                      <a:r>
                        <a:rPr lang="en-US" sz="1900" dirty="0">
                          <a:latin typeface="Times New Roman" pitchFamily="18" charset="0"/>
                          <a:cs typeface="Times New Roman" pitchFamily="18" charset="0"/>
                        </a:rPr>
                        <a:t>2</a:t>
                      </a:r>
                    </a:p>
                  </a:txBody>
                  <a:tcPr marL="121920" marR="121920" marT="60960" marB="60960"/>
                </a:tc>
                <a:extLst>
                  <a:ext uri="{0D108BD9-81ED-4DB2-BD59-A6C34878D82A}">
                    <a16:rowId xmlns:a16="http://schemas.microsoft.com/office/drawing/2014/main" val="10002"/>
                  </a:ext>
                </a:extLst>
              </a:tr>
              <a:tr h="508000">
                <a:tc>
                  <a:txBody>
                    <a:bodyPr/>
                    <a:lstStyle/>
                    <a:p>
                      <a:pPr algn="ctr"/>
                      <a:r>
                        <a:rPr lang="en-US" sz="1900" dirty="0">
                          <a:latin typeface="Times New Roman" pitchFamily="18" charset="0"/>
                          <a:cs typeface="Times New Roman" pitchFamily="18" charset="0"/>
                        </a:rPr>
                        <a:t>3</a:t>
                      </a:r>
                    </a:p>
                  </a:txBody>
                  <a:tcPr marL="121920" marR="121920" marT="60960" marB="60960"/>
                </a:tc>
                <a:tc>
                  <a:txBody>
                    <a:bodyPr/>
                    <a:lstStyle/>
                    <a:p>
                      <a:pPr algn="ctr"/>
                      <a:r>
                        <a:rPr lang="en-US" sz="1900" dirty="0">
                          <a:latin typeface="Times New Roman" pitchFamily="18" charset="0"/>
                          <a:cs typeface="Times New Roman" pitchFamily="18" charset="0"/>
                        </a:rPr>
                        <a:t>2</a:t>
                      </a:r>
                    </a:p>
                  </a:txBody>
                  <a:tcPr marL="121920" marR="121920" marT="60960" marB="60960"/>
                </a:tc>
                <a:tc>
                  <a:txBody>
                    <a:bodyPr/>
                    <a:lstStyle/>
                    <a:p>
                      <a:pPr algn="ctr"/>
                      <a:r>
                        <a:rPr lang="en-US" sz="1900" dirty="0">
                          <a:latin typeface="Times New Roman" pitchFamily="18" charset="0"/>
                          <a:cs typeface="Times New Roman" pitchFamily="18" charset="0"/>
                        </a:rPr>
                        <a:t>3</a:t>
                      </a:r>
                    </a:p>
                  </a:txBody>
                  <a:tcPr marL="121920" marR="121920" marT="60960" marB="60960"/>
                </a:tc>
                <a:extLst>
                  <a:ext uri="{0D108BD9-81ED-4DB2-BD59-A6C34878D82A}">
                    <a16:rowId xmlns:a16="http://schemas.microsoft.com/office/drawing/2014/main" val="10003"/>
                  </a:ext>
                </a:extLst>
              </a:tr>
              <a:tr h="508000">
                <a:tc>
                  <a:txBody>
                    <a:bodyPr/>
                    <a:lstStyle/>
                    <a:p>
                      <a:pPr algn="ctr"/>
                      <a:r>
                        <a:rPr lang="en-US" sz="1900" dirty="0">
                          <a:latin typeface="Times New Roman" pitchFamily="18" charset="0"/>
                          <a:cs typeface="Times New Roman" pitchFamily="18" charset="0"/>
                        </a:rPr>
                        <a:t>4</a:t>
                      </a:r>
                    </a:p>
                  </a:txBody>
                  <a:tcPr marL="121920" marR="121920" marT="60960" marB="60960"/>
                </a:tc>
                <a:tc>
                  <a:txBody>
                    <a:bodyPr/>
                    <a:lstStyle/>
                    <a:p>
                      <a:pPr algn="ctr"/>
                      <a:r>
                        <a:rPr lang="en-US" sz="1900" dirty="0">
                          <a:latin typeface="Times New Roman" pitchFamily="18" charset="0"/>
                          <a:cs typeface="Times New Roman" pitchFamily="18" charset="0"/>
                        </a:rPr>
                        <a:t>2</a:t>
                      </a:r>
                    </a:p>
                  </a:txBody>
                  <a:tcPr marL="121920" marR="121920" marT="60960" marB="60960"/>
                </a:tc>
                <a:tc>
                  <a:txBody>
                    <a:bodyPr/>
                    <a:lstStyle/>
                    <a:p>
                      <a:pPr algn="ctr"/>
                      <a:r>
                        <a:rPr lang="en-US" sz="1900" dirty="0">
                          <a:latin typeface="Times New Roman" pitchFamily="18" charset="0"/>
                          <a:cs typeface="Times New Roman" pitchFamily="18" charset="0"/>
                        </a:rPr>
                        <a:t>1</a:t>
                      </a:r>
                    </a:p>
                  </a:txBody>
                  <a:tcPr marL="121920" marR="121920" marT="60960" marB="60960"/>
                </a:tc>
                <a:extLst>
                  <a:ext uri="{0D108BD9-81ED-4DB2-BD59-A6C34878D82A}">
                    <a16:rowId xmlns:a16="http://schemas.microsoft.com/office/drawing/2014/main" val="1842261493"/>
                  </a:ext>
                </a:extLst>
              </a:tr>
            </a:tbl>
          </a:graphicData>
        </a:graphic>
      </p:graphicFrame>
      <p:sp>
        <p:nvSpPr>
          <p:cNvPr id="16" name="TextBox 15">
            <a:extLst>
              <a:ext uri="{FF2B5EF4-FFF2-40B4-BE49-F238E27FC236}">
                <a16:creationId xmlns:a16="http://schemas.microsoft.com/office/drawing/2014/main" id="{9E6F42B8-A0CA-4117-A795-75A1BC24D575}"/>
              </a:ext>
            </a:extLst>
          </p:cNvPr>
          <p:cNvSpPr txBox="1"/>
          <p:nvPr/>
        </p:nvSpPr>
        <p:spPr>
          <a:xfrm>
            <a:off x="3434375" y="3591052"/>
            <a:ext cx="821059" cy="420564"/>
          </a:xfrm>
          <a:prstGeom prst="rect">
            <a:avLst/>
          </a:prstGeom>
          <a:noFill/>
        </p:spPr>
        <p:txBody>
          <a:bodyPr wrap="none" rtlCol="0">
            <a:spAutoFit/>
          </a:bodyPr>
          <a:lstStyle/>
          <a:p>
            <a:r>
              <a:rPr lang="en-US" sz="2133" b="1" dirty="0">
                <a:latin typeface="Times New Roman" pitchFamily="18" charset="0"/>
                <a:cs typeface="Times New Roman" pitchFamily="18" charset="0"/>
              </a:rPr>
              <a:t>songs</a:t>
            </a:r>
          </a:p>
        </p:txBody>
      </p:sp>
    </p:spTree>
    <p:extLst>
      <p:ext uri="{BB962C8B-B14F-4D97-AF65-F5344CB8AC3E}">
        <p14:creationId xmlns:p14="http://schemas.microsoft.com/office/powerpoint/2010/main" val="1233309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itchFamily="18" charset="0"/>
                <a:cs typeface="Times New Roman" pitchFamily="18" charset="0"/>
              </a:rPr>
              <a:t>Many to Many Relationship</a:t>
            </a:r>
          </a:p>
        </p:txBody>
      </p:sp>
      <p:sp>
        <p:nvSpPr>
          <p:cNvPr id="3" name="Content Placeholder 2">
            <a:extLst>
              <a:ext uri="{FF2B5EF4-FFF2-40B4-BE49-F238E27FC236}">
                <a16:creationId xmlns:a16="http://schemas.microsoft.com/office/drawing/2014/main" id="{1C7DD53C-D323-40AA-B621-8C5B4B9E3FF9}"/>
              </a:ext>
            </a:extLst>
          </p:cNvPr>
          <p:cNvSpPr>
            <a:spLocks noGrp="1"/>
          </p:cNvSpPr>
          <p:nvPr>
            <p:ph idx="1"/>
          </p:nvPr>
        </p:nvSpPr>
        <p:spPr>
          <a:xfrm>
            <a:off x="838200" y="1253331"/>
            <a:ext cx="10515600" cy="5286806"/>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Many-to-many relationships are defined by writing a method that returns the result of the </a:t>
            </a:r>
            <a:r>
              <a:rPr lang="en-US" sz="2000" dirty="0" err="1">
                <a:latin typeface="Times New Roman" panose="02020603050405020304" pitchFamily="18" charset="0"/>
                <a:cs typeface="Times New Roman" panose="02020603050405020304" pitchFamily="18" charset="0"/>
              </a:rPr>
              <a:t>belongsToMany</a:t>
            </a:r>
            <a:r>
              <a:rPr lang="en-US" sz="2000" dirty="0">
                <a:latin typeface="Times New Roman" panose="02020603050405020304" pitchFamily="18" charset="0"/>
                <a:cs typeface="Times New Roman" panose="02020603050405020304" pitchFamily="18" charset="0"/>
              </a:rPr>
              <a:t> method. The </a:t>
            </a:r>
            <a:r>
              <a:rPr lang="en-US" sz="2000" dirty="0" err="1">
                <a:latin typeface="Times New Roman" panose="02020603050405020304" pitchFamily="18" charset="0"/>
                <a:cs typeface="Times New Roman" panose="02020603050405020304" pitchFamily="18" charset="0"/>
              </a:rPr>
              <a:t>belongsToMany</a:t>
            </a:r>
            <a:r>
              <a:rPr lang="en-US" sz="2000" dirty="0">
                <a:latin typeface="Times New Roman" panose="02020603050405020304" pitchFamily="18" charset="0"/>
                <a:cs typeface="Times New Roman" panose="02020603050405020304" pitchFamily="18" charset="0"/>
              </a:rPr>
              <a:t> method is provided by the Illuminate\Database\Eloquent\Model base class that is used by all of your application's Eloquent models.</a:t>
            </a:r>
          </a:p>
          <a:p>
            <a:pPr marL="0" indent="0">
              <a:buNone/>
            </a:pPr>
            <a:r>
              <a:rPr lang="en-US" sz="2000" dirty="0">
                <a:latin typeface="Times New Roman" panose="02020603050405020304" pitchFamily="18" charset="0"/>
                <a:cs typeface="Times New Roman" panose="02020603050405020304" pitchFamily="18" charset="0"/>
              </a:rPr>
              <a:t>Syntax:- </a:t>
            </a:r>
            <a:r>
              <a:rPr lang="en-US" sz="2000" dirty="0" err="1">
                <a:latin typeface="Times New Roman" panose="02020603050405020304" pitchFamily="18" charset="0"/>
                <a:cs typeface="Times New Roman" panose="02020603050405020304" pitchFamily="18" charset="0"/>
              </a:rPr>
              <a:t>belongsToMany</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Model_Class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intermediate_table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foreign_key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foreign_key</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Where,</a:t>
            </a:r>
          </a:p>
          <a:p>
            <a:pPr marL="0" indent="0">
              <a:buNone/>
            </a:pPr>
            <a:r>
              <a:rPr lang="en-US" sz="2000" dirty="0" err="1">
                <a:latin typeface="Times New Roman" panose="02020603050405020304" pitchFamily="18" charset="0"/>
                <a:cs typeface="Times New Roman" panose="02020603050405020304" pitchFamily="18" charset="0"/>
              </a:rPr>
              <a:t>Model_Class</a:t>
            </a:r>
            <a:r>
              <a:rPr lang="en-US" sz="2000" dirty="0">
                <a:latin typeface="Times New Roman" panose="02020603050405020304" pitchFamily="18" charset="0"/>
                <a:cs typeface="Times New Roman" panose="02020603050405020304" pitchFamily="18" charset="0"/>
              </a:rPr>
              <a:t> - The first argument passed to this method is the name of the related model class</a:t>
            </a:r>
          </a:p>
          <a:p>
            <a:pPr marL="0" indent="0">
              <a:buNone/>
            </a:pPr>
            <a:r>
              <a:rPr lang="en-US" sz="2000" dirty="0" err="1">
                <a:latin typeface="Times New Roman" panose="02020603050405020304" pitchFamily="18" charset="0"/>
                <a:cs typeface="Times New Roman" panose="02020603050405020304" pitchFamily="18" charset="0"/>
              </a:rPr>
              <a:t>Intermediate_Table</a:t>
            </a:r>
            <a:r>
              <a:rPr lang="en-US" sz="2000" dirty="0">
                <a:latin typeface="Times New Roman" panose="02020603050405020304" pitchFamily="18" charset="0"/>
                <a:cs typeface="Times New Roman" panose="02020603050405020304" pitchFamily="18" charset="0"/>
              </a:rPr>
              <a:t> - To determine the table name of the relationship's intermediate table, Eloquent will join the two related model names in alphabetical order. However, you are free to override this convention. You may do so by passing a second argument to the </a:t>
            </a:r>
            <a:r>
              <a:rPr lang="en-US" sz="2000" dirty="0" err="1">
                <a:latin typeface="Times New Roman" panose="02020603050405020304" pitchFamily="18" charset="0"/>
                <a:cs typeface="Times New Roman" panose="02020603050405020304" pitchFamily="18" charset="0"/>
              </a:rPr>
              <a:t>belongsToMany</a:t>
            </a:r>
            <a:r>
              <a:rPr lang="en-US" sz="2000" dirty="0">
                <a:latin typeface="Times New Roman" panose="02020603050405020304" pitchFamily="18" charset="0"/>
                <a:cs typeface="Times New Roman" panose="02020603050405020304" pitchFamily="18" charset="0"/>
              </a:rPr>
              <a:t> method.</a:t>
            </a:r>
          </a:p>
          <a:p>
            <a:pPr marL="0" indent="0">
              <a:buNone/>
            </a:pPr>
            <a:r>
              <a:rPr lang="en-US" sz="2000" dirty="0" err="1">
                <a:latin typeface="Times New Roman" panose="02020603050405020304" pitchFamily="18" charset="0"/>
                <a:cs typeface="Times New Roman" panose="02020603050405020304" pitchFamily="18" charset="0"/>
              </a:rPr>
              <a:t>Foreign_key</a:t>
            </a:r>
            <a:r>
              <a:rPr lang="en-US" sz="2000" dirty="0">
                <a:latin typeface="Times New Roman" panose="02020603050405020304" pitchFamily="18" charset="0"/>
                <a:cs typeface="Times New Roman" panose="02020603050405020304" pitchFamily="18" charset="0"/>
              </a:rPr>
              <a:t> - The third argument is the foreign key name of the model on which you are defining the relationship.</a:t>
            </a:r>
          </a:p>
          <a:p>
            <a:pPr marL="0" indent="0">
              <a:buNone/>
            </a:pPr>
            <a:r>
              <a:rPr lang="en-US" sz="2000" dirty="0" err="1">
                <a:latin typeface="Times New Roman" panose="02020603050405020304" pitchFamily="18" charset="0"/>
                <a:cs typeface="Times New Roman" panose="02020603050405020304" pitchFamily="18" charset="0"/>
              </a:rPr>
              <a:t>Foreign_key</a:t>
            </a:r>
            <a:r>
              <a:rPr lang="en-US" sz="2000" dirty="0">
                <a:latin typeface="Times New Roman" panose="02020603050405020304" pitchFamily="18" charset="0"/>
                <a:cs typeface="Times New Roman" panose="02020603050405020304" pitchFamily="18" charset="0"/>
              </a:rPr>
              <a:t> - The fourth argument is the foreign key name of the model that you are joining to.</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2007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itchFamily="18" charset="0"/>
                <a:cs typeface="Times New Roman" pitchFamily="18" charset="0"/>
              </a:rPr>
              <a:t>Many to Many Relationship</a:t>
            </a:r>
          </a:p>
        </p:txBody>
      </p:sp>
      <p:sp>
        <p:nvSpPr>
          <p:cNvPr id="3" name="Content Placeholder 2">
            <a:extLst>
              <a:ext uri="{FF2B5EF4-FFF2-40B4-BE49-F238E27FC236}">
                <a16:creationId xmlns:a16="http://schemas.microsoft.com/office/drawing/2014/main" id="{1C7DD53C-D323-40AA-B621-8C5B4B9E3FF9}"/>
              </a:ext>
            </a:extLst>
          </p:cNvPr>
          <p:cNvSpPr>
            <a:spLocks noGrp="1"/>
          </p:cNvSpPr>
          <p:nvPr>
            <p:ph idx="1"/>
          </p:nvPr>
        </p:nvSpPr>
        <p:spPr>
          <a:xfrm>
            <a:off x="838200" y="1253331"/>
            <a:ext cx="10515600" cy="5286806"/>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&lt;?php</a:t>
            </a:r>
          </a:p>
          <a:p>
            <a:pPr marL="0" indent="0">
              <a:buNone/>
            </a:pPr>
            <a:r>
              <a:rPr lang="en-US" sz="2000" dirty="0">
                <a:latin typeface="Times New Roman" panose="02020603050405020304" pitchFamily="18" charset="0"/>
                <a:cs typeface="Times New Roman" panose="02020603050405020304" pitchFamily="18" charset="0"/>
              </a:rPr>
              <a:t>namespace App\Models;</a:t>
            </a:r>
          </a:p>
          <a:p>
            <a:pPr marL="0" indent="0">
              <a:buNone/>
            </a:pPr>
            <a:r>
              <a:rPr lang="en-US" sz="2000" dirty="0">
                <a:latin typeface="Times New Roman" panose="02020603050405020304" pitchFamily="18" charset="0"/>
                <a:cs typeface="Times New Roman" panose="02020603050405020304" pitchFamily="18" charset="0"/>
              </a:rPr>
              <a:t>use Illuminate\Database\Eloquent\Model;</a:t>
            </a:r>
          </a:p>
          <a:p>
            <a:pPr marL="0" indent="0">
              <a:buNone/>
            </a:pPr>
            <a:r>
              <a:rPr lang="en-US" sz="2000" dirty="0">
                <a:latin typeface="Times New Roman" panose="02020603050405020304" pitchFamily="18" charset="0"/>
                <a:cs typeface="Times New Roman" panose="02020603050405020304" pitchFamily="18" charset="0"/>
              </a:rPr>
              <a:t>class Singer extends Model{</a:t>
            </a:r>
          </a:p>
          <a:p>
            <a:pPr marL="0" indent="0">
              <a:buNone/>
            </a:pPr>
            <a:r>
              <a:rPr lang="en-US" sz="2000" dirty="0">
                <a:latin typeface="Times New Roman" panose="02020603050405020304" pitchFamily="18" charset="0"/>
                <a:cs typeface="Times New Roman" panose="02020603050405020304" pitchFamily="18" charset="0"/>
              </a:rPr>
              <a:t>   public function songs()</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return $this-&gt;</a:t>
            </a:r>
            <a:r>
              <a:rPr lang="en-US" sz="2000" dirty="0" err="1">
                <a:latin typeface="Times New Roman" panose="02020603050405020304" pitchFamily="18" charset="0"/>
                <a:cs typeface="Times New Roman" panose="02020603050405020304" pitchFamily="18" charset="0"/>
              </a:rPr>
              <a:t>belongsToMany</a:t>
            </a:r>
            <a:r>
              <a:rPr lang="en-US" sz="2000" dirty="0">
                <a:latin typeface="Times New Roman" panose="02020603050405020304" pitchFamily="18" charset="0"/>
                <a:cs typeface="Times New Roman" panose="02020603050405020304" pitchFamily="18" charset="0"/>
              </a:rPr>
              <a:t>(Song::class, ‘</a:t>
            </a:r>
            <a:r>
              <a:rPr lang="en-US" sz="2000" dirty="0" err="1">
                <a:latin typeface="Times New Roman" panose="02020603050405020304" pitchFamily="18" charset="0"/>
                <a:cs typeface="Times New Roman" panose="02020603050405020304" pitchFamily="18" charset="0"/>
              </a:rPr>
              <a:t>singer_songs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singer_id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song_id</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10186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itchFamily="18" charset="0"/>
                <a:cs typeface="Times New Roman" pitchFamily="18" charset="0"/>
              </a:rPr>
              <a:t>Inverse Many to Many Relationship</a:t>
            </a:r>
          </a:p>
        </p:txBody>
      </p:sp>
      <p:sp>
        <p:nvSpPr>
          <p:cNvPr id="3" name="Content Placeholder 2">
            <a:extLst>
              <a:ext uri="{FF2B5EF4-FFF2-40B4-BE49-F238E27FC236}">
                <a16:creationId xmlns:a16="http://schemas.microsoft.com/office/drawing/2014/main" id="{1C7DD53C-D323-40AA-B621-8C5B4B9E3FF9}"/>
              </a:ext>
            </a:extLst>
          </p:cNvPr>
          <p:cNvSpPr>
            <a:spLocks noGrp="1"/>
          </p:cNvSpPr>
          <p:nvPr>
            <p:ph idx="1"/>
          </p:nvPr>
        </p:nvSpPr>
        <p:spPr>
          <a:xfrm>
            <a:off x="838200" y="1253331"/>
            <a:ext cx="10515600" cy="5286806"/>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To define the "inverse" of a many-to-many relationship, you should define a method on the related model which also returns the result of the </a:t>
            </a:r>
            <a:r>
              <a:rPr lang="en-US" sz="2000" dirty="0" err="1">
                <a:latin typeface="Times New Roman" panose="02020603050405020304" pitchFamily="18" charset="0"/>
                <a:cs typeface="Times New Roman" panose="02020603050405020304" pitchFamily="18" charset="0"/>
              </a:rPr>
              <a:t>belongsToMany</a:t>
            </a:r>
            <a:r>
              <a:rPr lang="en-US" sz="2000" dirty="0">
                <a:latin typeface="Times New Roman" panose="02020603050405020304" pitchFamily="18" charset="0"/>
                <a:cs typeface="Times New Roman" panose="02020603050405020304" pitchFamily="18" charset="0"/>
              </a:rPr>
              <a:t> method. </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1095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9E76-6773-4E11-98C9-1C30A423A3A1}"/>
              </a:ext>
            </a:extLst>
          </p:cNvPr>
          <p:cNvSpPr>
            <a:spLocks noGrp="1"/>
          </p:cNvSpPr>
          <p:nvPr>
            <p:ph type="title"/>
          </p:nvPr>
        </p:nvSpPr>
        <p:spPr>
          <a:xfrm>
            <a:off x="838200" y="108743"/>
            <a:ext cx="10515600" cy="1009651"/>
          </a:xfrm>
        </p:spPr>
        <p:txBody>
          <a:bodyPr/>
          <a:lstStyle/>
          <a:p>
            <a:pPr algn="ctr"/>
            <a:r>
              <a:rPr lang="en-US" b="1" u="sng" dirty="0">
                <a:latin typeface="Times New Roman" pitchFamily="18" charset="0"/>
                <a:cs typeface="Times New Roman" pitchFamily="18" charset="0"/>
              </a:rPr>
              <a:t>Inverse Many to Many Relationship</a:t>
            </a:r>
          </a:p>
        </p:txBody>
      </p:sp>
      <p:sp>
        <p:nvSpPr>
          <p:cNvPr id="3" name="Content Placeholder 2">
            <a:extLst>
              <a:ext uri="{FF2B5EF4-FFF2-40B4-BE49-F238E27FC236}">
                <a16:creationId xmlns:a16="http://schemas.microsoft.com/office/drawing/2014/main" id="{1C7DD53C-D323-40AA-B621-8C5B4B9E3FF9}"/>
              </a:ext>
            </a:extLst>
          </p:cNvPr>
          <p:cNvSpPr>
            <a:spLocks noGrp="1"/>
          </p:cNvSpPr>
          <p:nvPr>
            <p:ph idx="1"/>
          </p:nvPr>
        </p:nvSpPr>
        <p:spPr>
          <a:xfrm>
            <a:off x="838200" y="1253331"/>
            <a:ext cx="5257800" cy="5286806"/>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&lt;?php</a:t>
            </a:r>
          </a:p>
          <a:p>
            <a:pPr marL="0" indent="0">
              <a:buNone/>
            </a:pPr>
            <a:r>
              <a:rPr lang="en-US" sz="2000" dirty="0">
                <a:latin typeface="Times New Roman" panose="02020603050405020304" pitchFamily="18" charset="0"/>
                <a:cs typeface="Times New Roman" panose="02020603050405020304" pitchFamily="18" charset="0"/>
              </a:rPr>
              <a:t>namespace App\Models;</a:t>
            </a:r>
          </a:p>
          <a:p>
            <a:pPr marL="0" indent="0">
              <a:buNone/>
            </a:pPr>
            <a:r>
              <a:rPr lang="en-US" sz="2000" dirty="0">
                <a:latin typeface="Times New Roman" panose="02020603050405020304" pitchFamily="18" charset="0"/>
                <a:cs typeface="Times New Roman" panose="02020603050405020304" pitchFamily="18" charset="0"/>
              </a:rPr>
              <a:t>use Illuminate\Database\Eloquent\Model;</a:t>
            </a:r>
          </a:p>
          <a:p>
            <a:pPr marL="0" indent="0">
              <a:buNone/>
            </a:pPr>
            <a:r>
              <a:rPr lang="en-US" sz="2000" dirty="0">
                <a:latin typeface="Times New Roman" panose="02020603050405020304" pitchFamily="18" charset="0"/>
                <a:cs typeface="Times New Roman" panose="02020603050405020304" pitchFamily="18" charset="0"/>
              </a:rPr>
              <a:t>class Singer extends Model{</a:t>
            </a:r>
          </a:p>
          <a:p>
            <a:pPr marL="0" indent="0">
              <a:buNone/>
            </a:pPr>
            <a:r>
              <a:rPr lang="en-US" sz="2000" dirty="0">
                <a:latin typeface="Times New Roman" panose="02020603050405020304" pitchFamily="18" charset="0"/>
                <a:cs typeface="Times New Roman" panose="02020603050405020304" pitchFamily="18" charset="0"/>
              </a:rPr>
              <a:t>   public function songs()</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return $this-&gt;</a:t>
            </a:r>
            <a:r>
              <a:rPr lang="en-US" sz="2000" dirty="0" err="1">
                <a:latin typeface="Times New Roman" panose="02020603050405020304" pitchFamily="18" charset="0"/>
                <a:cs typeface="Times New Roman" panose="02020603050405020304" pitchFamily="18" charset="0"/>
              </a:rPr>
              <a:t>belongsToMany</a:t>
            </a:r>
            <a:r>
              <a:rPr lang="en-US" sz="2000" dirty="0">
                <a:latin typeface="Times New Roman" panose="02020603050405020304" pitchFamily="18" charset="0"/>
                <a:cs typeface="Times New Roman" panose="02020603050405020304" pitchFamily="18" charset="0"/>
              </a:rPr>
              <a:t>(Song::class);</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p:txBody>
      </p:sp>
      <p:sp>
        <p:nvSpPr>
          <p:cNvPr id="4" name="Content Placeholder 2">
            <a:extLst>
              <a:ext uri="{FF2B5EF4-FFF2-40B4-BE49-F238E27FC236}">
                <a16:creationId xmlns:a16="http://schemas.microsoft.com/office/drawing/2014/main" id="{FFBB55CA-7178-465F-8326-37920E9F0E78}"/>
              </a:ext>
            </a:extLst>
          </p:cNvPr>
          <p:cNvSpPr txBox="1">
            <a:spLocks/>
          </p:cNvSpPr>
          <p:nvPr/>
        </p:nvSpPr>
        <p:spPr>
          <a:xfrm>
            <a:off x="6301509" y="1253331"/>
            <a:ext cx="5257800" cy="52868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&lt;?php</a:t>
            </a:r>
          </a:p>
          <a:p>
            <a:pPr marL="0" indent="0">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namespace App\Models;</a:t>
            </a:r>
          </a:p>
          <a:p>
            <a:pPr marL="0" indent="0">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use Illuminate\Database\Eloquent\Model;</a:t>
            </a:r>
          </a:p>
          <a:p>
            <a:pPr marL="0" indent="0">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class Song extends Model{</a:t>
            </a:r>
          </a:p>
          <a:p>
            <a:pPr marL="0" indent="0">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   public function singers()</a:t>
            </a:r>
          </a:p>
          <a:p>
            <a:pPr marL="0" indent="0">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    {</a:t>
            </a:r>
          </a:p>
          <a:p>
            <a:pPr marL="0" indent="0">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        return $this-&gt;</a:t>
            </a:r>
            <a:r>
              <a:rPr lang="en-US" sz="2000" dirty="0" err="1">
                <a:latin typeface="Times New Roman" panose="02020603050405020304" pitchFamily="18" charset="0"/>
                <a:cs typeface="Times New Roman" panose="02020603050405020304" pitchFamily="18" charset="0"/>
              </a:rPr>
              <a:t>belongsToMany</a:t>
            </a:r>
            <a:r>
              <a:rPr lang="en-US" sz="2000" dirty="0">
                <a:latin typeface="Times New Roman" panose="02020603050405020304" pitchFamily="18" charset="0"/>
                <a:cs typeface="Times New Roman" panose="02020603050405020304" pitchFamily="18" charset="0"/>
              </a:rPr>
              <a:t>(Singer::class);</a:t>
            </a:r>
          </a:p>
          <a:p>
            <a:pPr marL="0" indent="0">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    }</a:t>
            </a:r>
          </a:p>
          <a:p>
            <a:pPr marL="0" indent="0">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062407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0" end="0"/>
                                            </p:txEl>
                                          </p:spTgt>
                                        </p:tgtEl>
                                        <p:attrNameLst>
                                          <p:attrName>style.visibility</p:attrName>
                                        </p:attrNameLst>
                                      </p:cBhvr>
                                      <p:to>
                                        <p:strVal val="visible"/>
                                      </p:to>
                                    </p:set>
                                    <p:animEffect transition="in" filter="fade">
                                      <p:cBhvr>
                                        <p:cTn id="52" dur="500"/>
                                        <p:tgtEl>
                                          <p:spTgt spid="4">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1" end="1"/>
                                            </p:txEl>
                                          </p:spTgt>
                                        </p:tgtEl>
                                        <p:attrNameLst>
                                          <p:attrName>style.visibility</p:attrName>
                                        </p:attrNameLst>
                                      </p:cBhvr>
                                      <p:to>
                                        <p:strVal val="visible"/>
                                      </p:to>
                                    </p:set>
                                    <p:animEffect transition="in" filter="fade">
                                      <p:cBhvr>
                                        <p:cTn id="57" dur="500"/>
                                        <p:tgtEl>
                                          <p:spTgt spid="4">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2" end="2"/>
                                            </p:txEl>
                                          </p:spTgt>
                                        </p:tgtEl>
                                        <p:attrNameLst>
                                          <p:attrName>style.visibility</p:attrName>
                                        </p:attrNameLst>
                                      </p:cBhvr>
                                      <p:to>
                                        <p:strVal val="visible"/>
                                      </p:to>
                                    </p:set>
                                    <p:animEffect transition="in" filter="fade">
                                      <p:cBhvr>
                                        <p:cTn id="62" dur="500"/>
                                        <p:tgtEl>
                                          <p:spTgt spid="4">
                                            <p:txEl>
                                              <p:pRg st="2" end="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3" end="3"/>
                                            </p:txEl>
                                          </p:spTgt>
                                        </p:tgtEl>
                                        <p:attrNameLst>
                                          <p:attrName>style.visibility</p:attrName>
                                        </p:attrNameLst>
                                      </p:cBhvr>
                                      <p:to>
                                        <p:strVal val="visible"/>
                                      </p:to>
                                    </p:set>
                                    <p:animEffect transition="in" filter="fade">
                                      <p:cBhvr>
                                        <p:cTn id="67" dur="500"/>
                                        <p:tgtEl>
                                          <p:spTgt spid="4">
                                            <p:txEl>
                                              <p:pRg st="3" end="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4" end="4"/>
                                            </p:txEl>
                                          </p:spTgt>
                                        </p:tgtEl>
                                        <p:attrNameLst>
                                          <p:attrName>style.visibility</p:attrName>
                                        </p:attrNameLst>
                                      </p:cBhvr>
                                      <p:to>
                                        <p:strVal val="visible"/>
                                      </p:to>
                                    </p:set>
                                    <p:animEffect transition="in" filter="fade">
                                      <p:cBhvr>
                                        <p:cTn id="72" dur="500"/>
                                        <p:tgtEl>
                                          <p:spTgt spid="4">
                                            <p:txEl>
                                              <p:pRg st="4" end="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5" end="5"/>
                                            </p:txEl>
                                          </p:spTgt>
                                        </p:tgtEl>
                                        <p:attrNameLst>
                                          <p:attrName>style.visibility</p:attrName>
                                        </p:attrNameLst>
                                      </p:cBhvr>
                                      <p:to>
                                        <p:strVal val="visible"/>
                                      </p:to>
                                    </p:set>
                                    <p:animEffect transition="in" filter="fade">
                                      <p:cBhvr>
                                        <p:cTn id="77" dur="500"/>
                                        <p:tgtEl>
                                          <p:spTgt spid="4">
                                            <p:txEl>
                                              <p:pRg st="5" end="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6" end="6"/>
                                            </p:txEl>
                                          </p:spTgt>
                                        </p:tgtEl>
                                        <p:attrNameLst>
                                          <p:attrName>style.visibility</p:attrName>
                                        </p:attrNameLst>
                                      </p:cBhvr>
                                      <p:to>
                                        <p:strVal val="visible"/>
                                      </p:to>
                                    </p:set>
                                    <p:animEffect transition="in" filter="fade">
                                      <p:cBhvr>
                                        <p:cTn id="82" dur="500"/>
                                        <p:tgtEl>
                                          <p:spTgt spid="4">
                                            <p:txEl>
                                              <p:pRg st="6" end="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
                                            <p:txEl>
                                              <p:pRg st="7" end="7"/>
                                            </p:txEl>
                                          </p:spTgt>
                                        </p:tgtEl>
                                        <p:attrNameLst>
                                          <p:attrName>style.visibility</p:attrName>
                                        </p:attrNameLst>
                                      </p:cBhvr>
                                      <p:to>
                                        <p:strVal val="visible"/>
                                      </p:to>
                                    </p:set>
                                    <p:animEffect transition="in" filter="fade">
                                      <p:cBhvr>
                                        <p:cTn id="87" dur="500"/>
                                        <p:tgtEl>
                                          <p:spTgt spid="4">
                                            <p:txEl>
                                              <p:pRg st="7" end="7"/>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
                                            <p:txEl>
                                              <p:pRg st="8" end="8"/>
                                            </p:txEl>
                                          </p:spTgt>
                                        </p:tgtEl>
                                        <p:attrNameLst>
                                          <p:attrName>style.visibility</p:attrName>
                                        </p:attrNameLst>
                                      </p:cBhvr>
                                      <p:to>
                                        <p:strVal val="visible"/>
                                      </p:to>
                                    </p:set>
                                    <p:animEffect transition="in" filter="fade">
                                      <p:cBhvr>
                                        <p:cTn id="92"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1505</TotalTime>
  <Words>1834</Words>
  <Application>Microsoft Office PowerPoint</Application>
  <PresentationFormat>Widescreen</PresentationFormat>
  <Paragraphs>293</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Times New Roman</vt:lpstr>
      <vt:lpstr>Office Theme</vt:lpstr>
      <vt:lpstr>Relationships</vt:lpstr>
      <vt:lpstr>One to One Relationship</vt:lpstr>
      <vt:lpstr>One to One Relationship</vt:lpstr>
      <vt:lpstr>Inverse of One to One Relationship</vt:lpstr>
      <vt:lpstr>One to One Relationship</vt:lpstr>
      <vt:lpstr>One to Many Relationship</vt:lpstr>
      <vt:lpstr>One to Many Relationship</vt:lpstr>
      <vt:lpstr>One to Many Relationship</vt:lpstr>
      <vt:lpstr>Inverse of One to Many Relationship</vt:lpstr>
      <vt:lpstr>One to Many Relationship</vt:lpstr>
      <vt:lpstr>Has One Through Relationship</vt:lpstr>
      <vt:lpstr>Has One Through Relationship</vt:lpstr>
      <vt:lpstr>Has One Through Relationship</vt:lpstr>
      <vt:lpstr>Has One Through Relationship</vt:lpstr>
      <vt:lpstr>Has Many Through Relationship</vt:lpstr>
      <vt:lpstr>Has Many Through Relationship</vt:lpstr>
      <vt:lpstr>Has Many Through Relationship</vt:lpstr>
      <vt:lpstr>Many to Many Relationship</vt:lpstr>
      <vt:lpstr>Many to Many Relationship</vt:lpstr>
      <vt:lpstr>Many to Many Relationship</vt:lpstr>
      <vt:lpstr>Many to Many Relationship</vt:lpstr>
      <vt:lpstr>Inverse Many to Many Relationship</vt:lpstr>
      <vt:lpstr>Inverse Many to Many Relationship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Install Laravel</dc:title>
  <dc:creator>RK</dc:creator>
  <cp:lastModifiedBy>RK</cp:lastModifiedBy>
  <cp:revision>196</cp:revision>
  <dcterms:created xsi:type="dcterms:W3CDTF">2020-01-16T07:28:28Z</dcterms:created>
  <dcterms:modified xsi:type="dcterms:W3CDTF">2021-04-20T10:03:21Z</dcterms:modified>
</cp:coreProperties>
</file>