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76" r:id="rId3"/>
    <p:sldId id="277" r:id="rId4"/>
    <p:sldId id="278" r:id="rId5"/>
    <p:sldId id="280" r:id="rId6"/>
    <p:sldId id="279" r:id="rId7"/>
    <p:sldId id="281" r:id="rId8"/>
    <p:sldId id="282" r:id="rId9"/>
    <p:sldId id="283" r:id="rId10"/>
    <p:sldId id="284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4/3/2021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203200" y="2057400"/>
            <a:ext cx="11785600" cy="4038600"/>
          </a:xfrm>
          <a:prstGeom prst="rect">
            <a:avLst/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491"/>
            <a:ext cx="10972800" cy="884239"/>
          </a:xfrm>
        </p:spPr>
        <p:txBody>
          <a:bodyPr>
            <a:normAutofit/>
          </a:bodyPr>
          <a:lstStyle/>
          <a:p>
            <a:pPr algn="ctr"/>
            <a:r>
              <a:rPr lang="en-US" sz="4267" b="1" u="sng" dirty="0">
                <a:latin typeface="Times New Roman" pitchFamily="18" charset="0"/>
                <a:cs typeface="Times New Roman" pitchFamily="18" charset="0"/>
              </a:rP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9168"/>
            <a:ext cx="10972800" cy="959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Database is integrated collection of related information along with the details so that it is available to the several user for the different application.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48716"/>
              </p:ext>
            </p:extLst>
          </p:nvPr>
        </p:nvGraphicFramePr>
        <p:xfrm>
          <a:off x="1828800" y="4231640"/>
          <a:ext cx="81280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id</a:t>
                      </a:r>
                    </a:p>
                  </a:txBody>
                  <a:tcPr marL="121920" marR="12192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 </a:t>
                      </a:r>
                    </a:p>
                  </a:txBody>
                  <a:tcPr marL="121920" marR="12192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City</a:t>
                      </a:r>
                    </a:p>
                  </a:txBody>
                  <a:tcPr marL="121920" marR="12192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Fees </a:t>
                      </a:r>
                    </a:p>
                  </a:txBody>
                  <a:tcPr marL="121920" marR="12192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Rahul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Delhi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10000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Raj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Mumbai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5000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Times New Roman" pitchFamily="18" charset="0"/>
                          <a:cs typeface="Times New Roman" pitchFamily="18" charset="0"/>
                        </a:rPr>
                        <a:t>Rohit</a:t>
                      </a:r>
                      <a:endParaRPr lang="en-US" sz="19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Kolkata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Times New Roman" pitchFamily="18" charset="0"/>
                          <a:cs typeface="Times New Roman" pitchFamily="18" charset="0"/>
                        </a:rPr>
                        <a:t>15000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76800" y="2819400"/>
            <a:ext cx="1327608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67" b="1" dirty="0">
                <a:latin typeface="Times New Roman" pitchFamily="18" charset="0"/>
                <a:cs typeface="Times New Roman" pitchFamily="18" charset="0"/>
              </a:rP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40669"/>
            <a:ext cx="4307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Table Name: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ComputerScience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2223" y="2362200"/>
            <a:ext cx="1909497" cy="42056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133" dirty="0">
                <a:latin typeface="Times New Roman" pitchFamily="18" charset="0"/>
                <a:cs typeface="Times New Roman" pitchFamily="18" charset="0"/>
              </a:rPr>
              <a:t>Database Name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5689605" y="2572482"/>
            <a:ext cx="572618" cy="24691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352803" y="3625333"/>
            <a:ext cx="4063999" cy="641867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080002" y="3946267"/>
            <a:ext cx="489511" cy="320933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569513" y="3946267"/>
            <a:ext cx="831289" cy="320933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69513" y="3946267"/>
            <a:ext cx="2964889" cy="320933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37757" y="3471445"/>
            <a:ext cx="3431709" cy="42056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133" dirty="0">
                <a:latin typeface="Times New Roman" pitchFamily="18" charset="0"/>
                <a:cs typeface="Times New Roman" pitchFamily="18" charset="0"/>
              </a:rPr>
              <a:t>Column or Field or Attributes</a:t>
            </a:r>
          </a:p>
        </p:txBody>
      </p:sp>
      <p:cxnSp>
        <p:nvCxnSpPr>
          <p:cNvPr id="27" name="Straight Connector 26"/>
          <p:cNvCxnSpPr>
            <a:cxnSpLocks/>
          </p:cNvCxnSpPr>
          <p:nvPr/>
        </p:nvCxnSpPr>
        <p:spPr>
          <a:xfrm>
            <a:off x="812800" y="3239964"/>
            <a:ext cx="0" cy="2322638"/>
          </a:xfrm>
          <a:prstGeom prst="line">
            <a:avLst/>
          </a:prstGeom>
          <a:ln w="285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</p:cNvCxnSpPr>
          <p:nvPr/>
        </p:nvCxnSpPr>
        <p:spPr>
          <a:xfrm>
            <a:off x="812800" y="5562600"/>
            <a:ext cx="1016000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/>
          </p:cNvCxnSpPr>
          <p:nvPr/>
        </p:nvCxnSpPr>
        <p:spPr>
          <a:xfrm>
            <a:off x="812800" y="5181600"/>
            <a:ext cx="1016000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812800" y="4800600"/>
            <a:ext cx="1016000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04801" y="2819400"/>
            <a:ext cx="2912849" cy="42056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133" dirty="0">
                <a:latin typeface="Times New Roman" pitchFamily="18" charset="0"/>
                <a:cs typeface="Times New Roman" pitchFamily="18" charset="0"/>
              </a:rPr>
              <a:t>Row  or Record or Tuple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9202" y="2880956"/>
            <a:ext cx="849913" cy="42056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133" dirty="0">
                <a:latin typeface="Times New Roman" pitchFamily="18" charset="0"/>
                <a:cs typeface="Times New Roman" pitchFamily="18" charset="0"/>
              </a:rPr>
              <a:t>Entity</a:t>
            </a:r>
          </a:p>
        </p:txBody>
      </p:sp>
      <p:cxnSp>
        <p:nvCxnSpPr>
          <p:cNvPr id="39" name="Straight Arrow Connector 38"/>
          <p:cNvCxnSpPr>
            <a:stCxn id="35" idx="2"/>
          </p:cNvCxnSpPr>
          <p:nvPr/>
        </p:nvCxnSpPr>
        <p:spPr>
          <a:xfrm>
            <a:off x="4184159" y="3301520"/>
            <a:ext cx="492387" cy="169927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18101" y="6382389"/>
            <a:ext cx="1455591" cy="37965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867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DATABASE</a:t>
            </a:r>
          </a:p>
        </p:txBody>
      </p:sp>
      <p:cxnSp>
        <p:nvCxnSpPr>
          <p:cNvPr id="45" name="Straight Arrow Connector 44"/>
          <p:cNvCxnSpPr>
            <a:stCxn id="41" idx="0"/>
          </p:cNvCxnSpPr>
          <p:nvPr/>
        </p:nvCxnSpPr>
        <p:spPr>
          <a:xfrm flipV="1">
            <a:off x="5445897" y="6096001"/>
            <a:ext cx="210324" cy="2863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37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" grpId="0" build="p"/>
      <p:bldP spid="5" grpId="0"/>
      <p:bldP spid="6" grpId="0"/>
      <p:bldP spid="7" grpId="0" animBg="1"/>
      <p:bldP spid="23" grpId="0" animBg="1"/>
      <p:bldP spid="34" grpId="0" animBg="1"/>
      <p:bldP spid="35" grpId="0" animBg="1"/>
      <p:bldP spid="4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configuration for Laravel's database services is located in your application's config/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database.php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file.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file, you may define all of your database connections, as well as specify which connection should be used by default.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configuration options within this file are driven by the values of your application's environment variables.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you have configured your database connection, you may run queries using the DB facade.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DB facade provides methods for each type of query: select, update, insert, delete, and statement.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Illuminate\Support\Facades\DB;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7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run a basic SELECT query, you may use the select method on the DB façade. The select method will always return an array of results.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query’, [parameter]);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argument passed to the select method is the SQL query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argument is any parameter bindings that need to be bound to the query. Typically, these are the values of the where clause constraints.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select(‘select * from student’)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select(‘select * from student where id = ?’, [1])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select(‘select * from student where id = :id’, [‘id’=&gt;1])</a:t>
            </a:r>
          </a:p>
        </p:txBody>
      </p:sp>
    </p:spTree>
    <p:extLst>
      <p:ext uri="{BB962C8B-B14F-4D97-AF65-F5344CB8AC3E}">
        <p14:creationId xmlns:p14="http://schemas.microsoft.com/office/powerpoint/2010/main" val="412116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use Illuminate\Support\Facades\DB;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class </a:t>
            </a:r>
            <a:r>
              <a:rPr lang="en-US" sz="2000" dirty="0" err="1">
                <a:cs typeface="Times New Roman" panose="02020603050405020304" pitchFamily="18" charset="0"/>
              </a:rPr>
              <a:t>StudentController</a:t>
            </a:r>
            <a:r>
              <a:rPr lang="en-US" sz="2000" dirty="0">
                <a:cs typeface="Times New Roman" panose="02020603050405020304" pitchFamily="18" charset="0"/>
              </a:rPr>
              <a:t> extends Controller {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public function index() {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    $students = DB::select('select * from student);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    return view(‘student', [‘students' =&gt; $students]);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121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( ) Method with 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use Illuminate\Support\Facades\DB;</a:t>
            </a:r>
          </a:p>
          <a:p>
            <a:pPr marL="0" indent="0">
              <a:buNone/>
            </a:pPr>
            <a:endParaRPr lang="en-US" sz="2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class </a:t>
            </a:r>
            <a:r>
              <a:rPr lang="en-US" sz="2000" dirty="0" err="1">
                <a:cs typeface="Times New Roman" panose="02020603050405020304" pitchFamily="18" charset="0"/>
              </a:rPr>
              <a:t>StudentController</a:t>
            </a:r>
            <a:r>
              <a:rPr lang="en-US" sz="2000" dirty="0">
                <a:cs typeface="Times New Roman" panose="02020603050405020304" pitchFamily="18" charset="0"/>
              </a:rPr>
              <a:t> extends Controller {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public function index() {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    $student = DB::select(‘select * from student where id = ?’, [1])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    return view(‘student', [‘student' =&gt; $student]);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609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( ) Method with 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use Illuminate\Support\Facades\DB;</a:t>
            </a:r>
          </a:p>
          <a:p>
            <a:pPr marL="0" indent="0">
              <a:buNone/>
            </a:pPr>
            <a:endParaRPr lang="en-US" sz="2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class </a:t>
            </a:r>
            <a:r>
              <a:rPr lang="en-US" sz="2000" dirty="0" err="1">
                <a:cs typeface="Times New Roman" panose="02020603050405020304" pitchFamily="18" charset="0"/>
              </a:rPr>
              <a:t>StudentController</a:t>
            </a:r>
            <a:r>
              <a:rPr lang="en-US" sz="2000" dirty="0">
                <a:cs typeface="Times New Roman" panose="02020603050405020304" pitchFamily="18" charset="0"/>
              </a:rPr>
              <a:t> extends Controller {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public function index() {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    $student = DB::select(‘select * from student where id = :id’, [‘id’=&gt;1])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    return view(‘student', [‘student' =&gt; $student]);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000" dirty="0"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739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an insert statement, you may use the insert method on the DB facade.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query’, [parameter]);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argument passed to the insert method is the SQL query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argument is any parameter bindings that need to be bound to the query.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insert(‘insert into student (name, city) values (?, ?)’, [‘jack’, ‘</a:t>
            </a:r>
            <a:r>
              <a:rPr lang="en-US" sz="2400" dirty="0" err="1">
                <a:cs typeface="Times New Roman" panose="02020603050405020304" pitchFamily="18" charset="0"/>
              </a:rPr>
              <a:t>ranchi</a:t>
            </a:r>
            <a:r>
              <a:rPr lang="en-US" sz="2400" dirty="0">
                <a:cs typeface="Times New Roman" panose="02020603050405020304" pitchFamily="18" charset="0"/>
              </a:rPr>
              <a:t>’])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insert(‘insert into student (name, city) values (:name, :city)’, [‘name’=&gt;‘jack’, ‘city’=&gt; ‘</a:t>
            </a:r>
            <a:r>
              <a:rPr lang="en-US" sz="2400" dirty="0" err="1">
                <a:cs typeface="Times New Roman" panose="02020603050405020304" pitchFamily="18" charset="0"/>
              </a:rPr>
              <a:t>ranchi</a:t>
            </a:r>
            <a:r>
              <a:rPr lang="en-US" sz="2400" dirty="0">
                <a:cs typeface="Times New Roman" panose="02020603050405020304" pitchFamily="18" charset="0"/>
              </a:rPr>
              <a:t>’])</a:t>
            </a:r>
          </a:p>
        </p:txBody>
      </p:sp>
    </p:spTree>
    <p:extLst>
      <p:ext uri="{BB962C8B-B14F-4D97-AF65-F5344CB8AC3E}">
        <p14:creationId xmlns:p14="http://schemas.microsoft.com/office/powerpoint/2010/main" val="172146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update method should be used to update existing records in the database. The number of rows affected by the statement is returned by the method.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query’, [parameter]);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argument passed to the update method is the SQL query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argument is any parameter bindings that need to be bound to the query.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update(‘update student set city = ? where id = ? ’, [‘</a:t>
            </a:r>
            <a:r>
              <a:rPr lang="en-US" sz="2400" dirty="0" err="1">
                <a:cs typeface="Times New Roman" panose="02020603050405020304" pitchFamily="18" charset="0"/>
              </a:rPr>
              <a:t>dhanbad</a:t>
            </a:r>
            <a:r>
              <a:rPr lang="en-US" sz="2400" dirty="0">
                <a:cs typeface="Times New Roman" panose="02020603050405020304" pitchFamily="18" charset="0"/>
              </a:rPr>
              <a:t>’, 5])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update(‘update student set city = :city where id = :id’, [‘city’=&gt; ‘</a:t>
            </a:r>
            <a:r>
              <a:rPr lang="en-US" sz="2400" dirty="0" err="1">
                <a:cs typeface="Times New Roman" panose="02020603050405020304" pitchFamily="18" charset="0"/>
              </a:rPr>
              <a:t>dhanbad</a:t>
            </a:r>
            <a:r>
              <a:rPr lang="en-US" sz="2400" dirty="0">
                <a:cs typeface="Times New Roman" panose="02020603050405020304" pitchFamily="18" charset="0"/>
              </a:rPr>
              <a:t>’, ‘id’=&gt; 5])</a:t>
            </a:r>
          </a:p>
        </p:txBody>
      </p:sp>
    </p:spTree>
    <p:extLst>
      <p:ext uri="{BB962C8B-B14F-4D97-AF65-F5344CB8AC3E}">
        <p14:creationId xmlns:p14="http://schemas.microsoft.com/office/powerpoint/2010/main" val="292392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delete method should be used to delete records from the database. The number of rows affected by the statement is returned by the method.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query’ [parameter]);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argument passed to the delete method is the SQL query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argument is any parameter bindings that need to be bound to the query.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delete(‘delete from student where id = ? ’, [2])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delete(‘delete from student where id = :id’, [‘id’=&gt; 2])</a:t>
            </a:r>
          </a:p>
        </p:txBody>
      </p:sp>
    </p:spTree>
    <p:extLst>
      <p:ext uri="{BB962C8B-B14F-4D97-AF65-F5344CB8AC3E}">
        <p14:creationId xmlns:p14="http://schemas.microsoft.com/office/powerpoint/2010/main" val="55330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Unprepared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unprepared method should be used to execute an SQL statement without binding any values. 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unprepared(‘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query’);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argument passed to the delete method is the SQL query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unprepared(‘delete from student where id = 2 ’)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unprepared(‘update student set city = </a:t>
            </a:r>
            <a:r>
              <a:rPr lang="en-US" sz="2400" dirty="0" err="1">
                <a:cs typeface="Times New Roman" panose="02020603050405020304" pitchFamily="18" charset="0"/>
              </a:rPr>
              <a:t>dhanbad</a:t>
            </a:r>
            <a:r>
              <a:rPr lang="en-US" sz="2400" dirty="0">
                <a:cs typeface="Times New Roman" panose="02020603050405020304" pitchFamily="18" charset="0"/>
              </a:rPr>
              <a:t> where id = 2 ’)</a:t>
            </a:r>
          </a:p>
        </p:txBody>
      </p:sp>
    </p:spTree>
    <p:extLst>
      <p:ext uri="{BB962C8B-B14F-4D97-AF65-F5344CB8AC3E}">
        <p14:creationId xmlns:p14="http://schemas.microsoft.com/office/powerpoint/2010/main" val="191872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use the transaction method provided by the DB facade to run a set of operations within a database transaction.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exception is thrown within the transaction closure, the transaction will automatically be rolled back.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closure executes successfully, the transaction will automatically be committed.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DB::transaction(function(){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DB::update('update student set city = ? where id = ?', ['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dhanbad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4]);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DB::delete('delete from student where id=:id', ['id'=&gt;6]);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}, 3);</a:t>
            </a:r>
          </a:p>
        </p:txBody>
      </p:sp>
    </p:spTree>
    <p:extLst>
      <p:ext uri="{BB962C8B-B14F-4D97-AF65-F5344CB8AC3E}">
        <p14:creationId xmlns:p14="http://schemas.microsoft.com/office/powerpoint/2010/main" val="416728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1026</Words>
  <Application>Microsoft Office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Database</vt:lpstr>
      <vt:lpstr>Database Configuration</vt:lpstr>
      <vt:lpstr>Running SQL Queries</vt:lpstr>
      <vt:lpstr>select ( ) Method</vt:lpstr>
      <vt:lpstr>select ( ) Method</vt:lpstr>
      <vt:lpstr>select ( ) Method with where clause</vt:lpstr>
      <vt:lpstr>select ( ) Method with where clause</vt:lpstr>
      <vt:lpstr>insert ( ) Method</vt:lpstr>
      <vt:lpstr>update ( ) Method</vt:lpstr>
      <vt:lpstr>delete ( ) Method</vt:lpstr>
      <vt:lpstr>Running Unprepared Statement</vt:lpstr>
      <vt:lpstr>Database Transactions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117</cp:revision>
  <dcterms:created xsi:type="dcterms:W3CDTF">2020-01-16T07:28:28Z</dcterms:created>
  <dcterms:modified xsi:type="dcterms:W3CDTF">2021-04-03T08:47:20Z</dcterms:modified>
</cp:coreProperties>
</file>