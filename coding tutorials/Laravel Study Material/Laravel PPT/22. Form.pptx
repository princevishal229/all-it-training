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309" r:id="rId3"/>
    <p:sldId id="310" r:id="rId4"/>
    <p:sldId id="311" r:id="rId5"/>
    <p:sldId id="312" r:id="rId6"/>
    <p:sldId id="277" r:id="rId7"/>
    <p:sldId id="278" r:id="rId8"/>
    <p:sldId id="280" r:id="rId9"/>
    <p:sldId id="281" r:id="rId10"/>
    <p:sldId id="282" r:id="rId11"/>
    <p:sldId id="283" r:id="rId12"/>
    <p:sldId id="284" r:id="rId13"/>
    <p:sldId id="285" r:id="rId14"/>
    <p:sldId id="286" r:id="rId15"/>
    <p:sldId id="287" r:id="rId16"/>
    <p:sldId id="288" r:id="rId17"/>
    <p:sldId id="294" r:id="rId18"/>
    <p:sldId id="305" r:id="rId19"/>
    <p:sldId id="304" r:id="rId20"/>
    <p:sldId id="303" r:id="rId21"/>
    <p:sldId id="313" r:id="rId22"/>
    <p:sldId id="297" r:id="rId23"/>
    <p:sldId id="306" r:id="rId24"/>
    <p:sldId id="307" r:id="rId25"/>
    <p:sldId id="308" r:id="rId26"/>
    <p:sldId id="298" r:id="rId27"/>
    <p:sldId id="289" r:id="rId28"/>
    <p:sldId id="290" r:id="rId29"/>
    <p:sldId id="291" r:id="rId30"/>
    <p:sldId id="292" r:id="rId31"/>
    <p:sldId id="293" r:id="rId32"/>
    <p:sldId id="299" r:id="rId33"/>
    <p:sldId id="300" r:id="rId34"/>
    <p:sldId id="301" r:id="rId35"/>
    <p:sldId id="30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4/2/2021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Form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r>
              <a:rPr lang="en-US" sz="3200" dirty="0">
                <a:latin typeface="Times New Roman" panose="02020603050405020304" pitchFamily="18" charset="0"/>
                <a:cs typeface="Times New Roman" panose="02020603050405020304" pitchFamily="18" charset="0"/>
              </a:rPr>
              <a:t>Creating Form</a:t>
            </a:r>
          </a:p>
          <a:p>
            <a:r>
              <a:rPr lang="en-US" sz="3200" dirty="0">
                <a:latin typeface="Times New Roman" panose="02020603050405020304" pitchFamily="18" charset="0"/>
                <a:cs typeface="Times New Roman" panose="02020603050405020304" pitchFamily="18" charset="0"/>
              </a:rPr>
              <a:t>Accessing Form Data</a:t>
            </a:r>
          </a:p>
          <a:p>
            <a:r>
              <a:rPr lang="en-US" sz="3200" dirty="0">
                <a:latin typeface="Times New Roman" panose="02020603050405020304" pitchFamily="18" charset="0"/>
                <a:cs typeface="Times New Roman" panose="02020603050405020304" pitchFamily="18" charset="0"/>
              </a:rPr>
              <a:t>Validating Form</a:t>
            </a: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Creating Form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b="1" dirty="0">
                <a:cs typeface="Times New Roman" panose="02020603050405020304" pitchFamily="18" charset="0"/>
              </a:rPr>
              <a:t>resources\views\</a:t>
            </a:r>
            <a:r>
              <a:rPr lang="en-US" sz="2400" b="1" dirty="0" err="1">
                <a:cs typeface="Times New Roman" panose="02020603050405020304" pitchFamily="18" charset="0"/>
              </a:rPr>
              <a:t>registration.blade.php</a:t>
            </a:r>
            <a:endParaRPr lang="en-US" sz="2400" b="1" dirty="0">
              <a:cs typeface="Times New Roman" panose="02020603050405020304" pitchFamily="18" charset="0"/>
            </a:endParaRPr>
          </a:p>
          <a:p>
            <a:pPr marL="0" indent="0">
              <a:buNone/>
            </a:pPr>
            <a:r>
              <a:rPr lang="en-US" sz="2400" dirty="0">
                <a:cs typeface="Times New Roman" panose="02020603050405020304" pitchFamily="18" charset="0"/>
              </a:rPr>
              <a:t>&lt;form action="" method="post"&gt;</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csrf</a:t>
            </a: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        Name: &lt;input type="text" name="name" id="name"&gt; &lt;</a:t>
            </a:r>
            <a:r>
              <a:rPr lang="en-US" sz="2400" dirty="0" err="1">
                <a:cs typeface="Times New Roman" panose="02020603050405020304" pitchFamily="18" charset="0"/>
              </a:rPr>
              <a:t>br</a:t>
            </a:r>
            <a:r>
              <a:rPr lang="en-US" sz="2400" dirty="0">
                <a:cs typeface="Times New Roman" panose="02020603050405020304" pitchFamily="18" charset="0"/>
              </a:rPr>
              <a:t>&gt;&lt;</a:t>
            </a:r>
            <a:r>
              <a:rPr lang="en-US" sz="2400" dirty="0" err="1">
                <a:cs typeface="Times New Roman" panose="02020603050405020304" pitchFamily="18" charset="0"/>
              </a:rPr>
              <a:t>br</a:t>
            </a:r>
            <a:r>
              <a:rPr lang="en-US" sz="2400" dirty="0">
                <a:cs typeface="Times New Roman" panose="02020603050405020304" pitchFamily="18" charset="0"/>
              </a:rPr>
              <a:t>&gt;</a:t>
            </a:r>
          </a:p>
          <a:p>
            <a:pPr marL="0" indent="0">
              <a:buNone/>
            </a:pPr>
            <a:r>
              <a:rPr lang="en-US" sz="2400" dirty="0">
                <a:cs typeface="Times New Roman" panose="02020603050405020304" pitchFamily="18" charset="0"/>
              </a:rPr>
              <a:t>        Email: &lt;input type="email" name="email" id="email"&gt; &lt;</a:t>
            </a:r>
            <a:r>
              <a:rPr lang="en-US" sz="2400" dirty="0" err="1">
                <a:cs typeface="Times New Roman" panose="02020603050405020304" pitchFamily="18" charset="0"/>
              </a:rPr>
              <a:t>br</a:t>
            </a:r>
            <a:r>
              <a:rPr lang="en-US" sz="2400" dirty="0">
                <a:cs typeface="Times New Roman" panose="02020603050405020304" pitchFamily="18" charset="0"/>
              </a:rPr>
              <a:t>&gt;&lt;</a:t>
            </a:r>
            <a:r>
              <a:rPr lang="en-US" sz="2400" dirty="0" err="1">
                <a:cs typeface="Times New Roman" panose="02020603050405020304" pitchFamily="18" charset="0"/>
              </a:rPr>
              <a:t>br</a:t>
            </a:r>
            <a:r>
              <a:rPr lang="en-US" sz="2400" dirty="0">
                <a:cs typeface="Times New Roman" panose="02020603050405020304" pitchFamily="18" charset="0"/>
              </a:rPr>
              <a:t>&gt;</a:t>
            </a:r>
          </a:p>
          <a:p>
            <a:pPr marL="0" indent="0">
              <a:buNone/>
            </a:pPr>
            <a:r>
              <a:rPr lang="en-US" sz="2400" dirty="0">
                <a:cs typeface="Times New Roman" panose="02020603050405020304" pitchFamily="18" charset="0"/>
              </a:rPr>
              <a:t>        Password: &lt;input type="password" name="password" id="password"&gt; &lt;</a:t>
            </a:r>
            <a:r>
              <a:rPr lang="en-US" sz="2400" dirty="0" err="1">
                <a:cs typeface="Times New Roman" panose="02020603050405020304" pitchFamily="18" charset="0"/>
              </a:rPr>
              <a:t>br</a:t>
            </a:r>
            <a:r>
              <a:rPr lang="en-US" sz="2400" dirty="0">
                <a:cs typeface="Times New Roman" panose="02020603050405020304" pitchFamily="18" charset="0"/>
              </a:rPr>
              <a:t>&gt;&lt;</a:t>
            </a:r>
            <a:r>
              <a:rPr lang="en-US" sz="2400" dirty="0" err="1">
                <a:cs typeface="Times New Roman" panose="02020603050405020304" pitchFamily="18" charset="0"/>
              </a:rPr>
              <a:t>br</a:t>
            </a:r>
            <a:r>
              <a:rPr lang="en-US" sz="2400" dirty="0">
                <a:cs typeface="Times New Roman" panose="02020603050405020304" pitchFamily="18" charset="0"/>
              </a:rPr>
              <a:t>&gt;</a:t>
            </a:r>
          </a:p>
          <a:p>
            <a:pPr marL="0" indent="0">
              <a:buNone/>
            </a:pPr>
            <a:r>
              <a:rPr lang="en-US" sz="2400" dirty="0">
                <a:cs typeface="Times New Roman" panose="02020603050405020304" pitchFamily="18" charset="0"/>
              </a:rPr>
              <a:t>        &lt;input type="submit" value="Submit"&gt;</a:t>
            </a:r>
          </a:p>
          <a:p>
            <a:pPr marL="0" indent="0">
              <a:buNone/>
            </a:pPr>
            <a:r>
              <a:rPr lang="en-US" sz="2400" dirty="0">
                <a:cs typeface="Times New Roman" panose="02020603050405020304" pitchFamily="18" charset="0"/>
              </a:rPr>
              <a:t>&lt;/form&gt;</a:t>
            </a:r>
          </a:p>
        </p:txBody>
      </p:sp>
    </p:spTree>
    <p:extLst>
      <p:ext uri="{BB962C8B-B14F-4D97-AF65-F5344CB8AC3E}">
        <p14:creationId xmlns:p14="http://schemas.microsoft.com/office/powerpoint/2010/main" val="74130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mn-lt"/>
                <a:cs typeface="Times New Roman" panose="02020603050405020304" pitchFamily="18" charset="0"/>
              </a:rPr>
              <a:t>@</a:t>
            </a:r>
            <a:r>
              <a:rPr lang="en-US" sz="5400" b="1" u="sng" dirty="0" err="1">
                <a:latin typeface="+mn-lt"/>
                <a:cs typeface="Times New Roman" panose="02020603050405020304" pitchFamily="18" charset="0"/>
              </a:rPr>
              <a:t>csrf</a:t>
            </a:r>
            <a:endParaRPr lang="en-US" sz="5400" b="1" u="sng"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Cross-site request forgeries are a type of malicious exploit whereby unauthorized commands are performed on behalf of an authenticated user. Thankfully, Laravel makes it easy to protect your application from cross-site request forgery (CSRF) attacks.</a:t>
            </a:r>
          </a:p>
          <a:p>
            <a:pPr marL="0" indent="0">
              <a:buNone/>
            </a:pPr>
            <a:r>
              <a:rPr lang="en-US" sz="2400" dirty="0">
                <a:latin typeface="Times New Roman" panose="02020603050405020304" pitchFamily="18" charset="0"/>
                <a:cs typeface="Times New Roman" panose="02020603050405020304" pitchFamily="18" charset="0"/>
              </a:rPr>
              <a:t>you may use the @</a:t>
            </a:r>
            <a:r>
              <a:rPr lang="en-US" sz="2400" dirty="0" err="1">
                <a:latin typeface="Times New Roman" panose="02020603050405020304" pitchFamily="18" charset="0"/>
                <a:cs typeface="Times New Roman" panose="02020603050405020304" pitchFamily="18" charset="0"/>
              </a:rPr>
              <a:t>csrf</a:t>
            </a:r>
            <a:r>
              <a:rPr lang="en-US" sz="2400" dirty="0">
                <a:latin typeface="Times New Roman" panose="02020603050405020304" pitchFamily="18" charset="0"/>
                <a:cs typeface="Times New Roman" panose="02020603050405020304" pitchFamily="18" charset="0"/>
              </a:rPr>
              <a:t> Blade directive to generate the hidden token input field.</a:t>
            </a:r>
          </a:p>
        </p:txBody>
      </p:sp>
    </p:spTree>
    <p:extLst>
      <p:ext uri="{BB962C8B-B14F-4D97-AF65-F5344CB8AC3E}">
        <p14:creationId xmlns:p14="http://schemas.microsoft.com/office/powerpoint/2010/main" val="1872674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Accessing Form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cs typeface="Times New Roman" panose="02020603050405020304" pitchFamily="18" charset="0"/>
              </a:rPr>
              <a:t>App\Http\Controller\</a:t>
            </a:r>
            <a:r>
              <a:rPr lang="en-US" sz="2400" dirty="0" err="1">
                <a:cs typeface="Times New Roman" panose="02020603050405020304" pitchFamily="18" charset="0"/>
              </a:rPr>
              <a:t>RegistrationController</a:t>
            </a: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function signup(Request $request){</a:t>
            </a:r>
          </a:p>
          <a:p>
            <a:pPr marL="0" indent="0">
              <a:buNone/>
            </a:pPr>
            <a:r>
              <a:rPr lang="en-US" sz="2400" dirty="0">
                <a:cs typeface="Times New Roman" panose="02020603050405020304" pitchFamily="18" charset="0"/>
              </a:rPr>
              <a:t>        dd($request);</a:t>
            </a:r>
          </a:p>
          <a:p>
            <a:pPr marL="0" indent="0">
              <a:buNone/>
            </a:pPr>
            <a:r>
              <a:rPr lang="en-US" sz="2400" dirty="0">
                <a:cs typeface="Times New Roman" panose="02020603050405020304" pitchFamily="18" charset="0"/>
              </a:rPr>
              <a:t>        return view('registration');</a:t>
            </a:r>
          </a:p>
          <a:p>
            <a:pPr marL="0" indent="0">
              <a:buNone/>
            </a:pPr>
            <a:r>
              <a:rPr lang="en-US" sz="2400" dirty="0">
                <a:cs typeface="Times New Roman" panose="02020603050405020304" pitchFamily="18" charset="0"/>
              </a:rPr>
              <a:t>    }</a:t>
            </a:r>
          </a:p>
        </p:txBody>
      </p:sp>
    </p:spTree>
    <p:extLst>
      <p:ext uri="{BB962C8B-B14F-4D97-AF65-F5344CB8AC3E}">
        <p14:creationId xmlns:p14="http://schemas.microsoft.com/office/powerpoint/2010/main" val="283018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Accessing Form Data</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r>
              <a:rPr lang="en-US" dirty="0">
                <a:latin typeface="Times New Roman" panose="02020603050405020304" pitchFamily="18" charset="0"/>
                <a:cs typeface="Times New Roman" panose="02020603050405020304" pitchFamily="18" charset="0"/>
              </a:rPr>
              <a:t>Accessing All Input Data</a:t>
            </a:r>
          </a:p>
          <a:p>
            <a:r>
              <a:rPr lang="en-US" dirty="0">
                <a:latin typeface="Times New Roman" panose="02020603050405020304" pitchFamily="18" charset="0"/>
                <a:cs typeface="Times New Roman" panose="02020603050405020304" pitchFamily="18" charset="0"/>
              </a:rPr>
              <a:t>Accessing All Input Data as an associative array</a:t>
            </a:r>
          </a:p>
          <a:p>
            <a:r>
              <a:rPr lang="en-US" dirty="0">
                <a:latin typeface="Times New Roman" panose="02020603050405020304" pitchFamily="18" charset="0"/>
                <a:cs typeface="Times New Roman" panose="02020603050405020304" pitchFamily="18" charset="0"/>
              </a:rPr>
              <a:t>Accessing An Input Data</a:t>
            </a:r>
          </a:p>
          <a:p>
            <a:r>
              <a:rPr lang="en-US" dirty="0">
                <a:latin typeface="Times New Roman" panose="02020603050405020304" pitchFamily="18" charset="0"/>
                <a:cs typeface="Times New Roman" panose="02020603050405020304" pitchFamily="18" charset="0"/>
              </a:rPr>
              <a:t>Accessing Input Via Dynamic Properties</a:t>
            </a:r>
          </a:p>
          <a:p>
            <a:r>
              <a:rPr lang="en-US" dirty="0">
                <a:latin typeface="Times New Roman" panose="02020603050405020304" pitchFamily="18" charset="0"/>
                <a:cs typeface="Times New Roman" panose="02020603050405020304" pitchFamily="18" charset="0"/>
              </a:rPr>
              <a:t>Accessing a Portion of Input Data</a:t>
            </a:r>
          </a:p>
          <a:p>
            <a:r>
              <a:rPr lang="en-US" dirty="0">
                <a:latin typeface="Times New Roman" panose="02020603050405020304" pitchFamily="18" charset="0"/>
                <a:cs typeface="Times New Roman" panose="02020603050405020304" pitchFamily="18" charset="0"/>
              </a:rPr>
              <a:t>Determining If Input Is Present</a:t>
            </a:r>
          </a:p>
          <a:p>
            <a:r>
              <a:rPr lang="en-US" dirty="0">
                <a:latin typeface="Times New Roman" panose="02020603050405020304" pitchFamily="18" charset="0"/>
                <a:cs typeface="Times New Roman" panose="02020603050405020304" pitchFamily="18" charset="0"/>
              </a:rPr>
              <a:t>Flashing Input To The Session</a:t>
            </a:r>
          </a:p>
          <a:p>
            <a:r>
              <a:rPr lang="en-US" dirty="0">
                <a:latin typeface="Times New Roman" panose="02020603050405020304" pitchFamily="18" charset="0"/>
                <a:cs typeface="Times New Roman" panose="02020603050405020304" pitchFamily="18" charset="0"/>
              </a:rPr>
              <a:t>Accessing  Old Input</a:t>
            </a:r>
          </a:p>
          <a:p>
            <a:r>
              <a:rPr lang="en-US" dirty="0">
                <a:latin typeface="Times New Roman" panose="02020603050405020304" pitchFamily="18" charset="0"/>
                <a:cs typeface="Times New Roman" panose="02020603050405020304" pitchFamily="18" charset="0"/>
              </a:rPr>
              <a:t>Flashing Input Then Redirecting</a:t>
            </a:r>
          </a:p>
        </p:txBody>
      </p:sp>
    </p:spTree>
    <p:extLst>
      <p:ext uri="{BB962C8B-B14F-4D97-AF65-F5344CB8AC3E}">
        <p14:creationId xmlns:p14="http://schemas.microsoft.com/office/powerpoint/2010/main" val="234107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Validating Form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r>
              <a:rPr lang="en-US" sz="2400" dirty="0">
                <a:latin typeface="Times New Roman" panose="02020603050405020304" pitchFamily="18" charset="0"/>
                <a:cs typeface="Times New Roman" panose="02020603050405020304" pitchFamily="18" charset="0"/>
              </a:rPr>
              <a:t>Validate() Method</a:t>
            </a:r>
          </a:p>
          <a:p>
            <a:r>
              <a:rPr lang="en-US" sz="2400" dirty="0">
                <a:latin typeface="Times New Roman" panose="02020603050405020304" pitchFamily="18" charset="0"/>
                <a:cs typeface="Times New Roman" panose="02020603050405020304" pitchFamily="18" charset="0"/>
              </a:rPr>
              <a:t>Form Request Validation</a:t>
            </a:r>
          </a:p>
        </p:txBody>
      </p:sp>
    </p:spTree>
    <p:extLst>
      <p:ext uri="{BB962C8B-B14F-4D97-AF65-F5344CB8AC3E}">
        <p14:creationId xmlns:p14="http://schemas.microsoft.com/office/powerpoint/2010/main" val="23630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Validate (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validate ( ) Method is used to validate the application's incoming data. </a:t>
            </a:r>
          </a:p>
          <a:p>
            <a:pPr marL="0" indent="0">
              <a:buNone/>
            </a:pPr>
            <a:r>
              <a:rPr lang="en-US" sz="2400" dirty="0">
                <a:latin typeface="Times New Roman" panose="02020603050405020304" pitchFamily="18" charset="0"/>
                <a:cs typeface="Times New Roman" panose="02020603050405020304" pitchFamily="18" charset="0"/>
              </a:rPr>
              <a:t>Validate method is available on all incoming HTTP Requests. </a:t>
            </a:r>
          </a:p>
          <a:p>
            <a:pPr marL="0" indent="0">
              <a:buNone/>
            </a:pPr>
            <a:r>
              <a:rPr lang="en-US" sz="2400" dirty="0">
                <a:latin typeface="Times New Roman" panose="02020603050405020304" pitchFamily="18" charset="0"/>
                <a:cs typeface="Times New Roman" panose="02020603050405020304" pitchFamily="18" charset="0"/>
              </a:rPr>
              <a:t>Validate method provided by the Illuminate\Http\Request object. </a:t>
            </a:r>
          </a:p>
          <a:p>
            <a:pPr marL="0" indent="0">
              <a:buNone/>
            </a:pPr>
            <a:r>
              <a:rPr lang="en-US" sz="2400" dirty="0">
                <a:latin typeface="Times New Roman" panose="02020603050405020304" pitchFamily="18" charset="0"/>
                <a:cs typeface="Times New Roman" panose="02020603050405020304" pitchFamily="18" charset="0"/>
              </a:rPr>
              <a:t>If the validation rules pass, your code will keep executing normally; however, if validation fails, an exception will be thrown and the proper error response will automatically be sent back to the user. </a:t>
            </a:r>
          </a:p>
          <a:p>
            <a:pPr marL="0" indent="0">
              <a:buNone/>
            </a:pPr>
            <a:r>
              <a:rPr lang="en-US" sz="2400" dirty="0">
                <a:latin typeface="Times New Roman" panose="02020603050405020304" pitchFamily="18" charset="0"/>
                <a:cs typeface="Times New Roman" panose="02020603050405020304" pitchFamily="18" charset="0"/>
              </a:rPr>
              <a:t>If validation fails during a traditional HTTP request, a redirect response to the previous URL will be generated.</a:t>
            </a:r>
          </a:p>
          <a:p>
            <a:pPr marL="0" indent="0">
              <a:buNone/>
            </a:pPr>
            <a:r>
              <a:rPr lang="en-US" sz="2400" dirty="0">
                <a:latin typeface="Times New Roman" panose="02020603050405020304" pitchFamily="18" charset="0"/>
                <a:cs typeface="Times New Roman" panose="02020603050405020304" pitchFamily="18" charset="0"/>
              </a:rPr>
              <a:t>If the incoming request is an XHR request, a JSON response containing the validation error messages will be returned.</a:t>
            </a:r>
          </a:p>
        </p:txBody>
      </p:sp>
    </p:spTree>
    <p:extLst>
      <p:ext uri="{BB962C8B-B14F-4D97-AF65-F5344CB8AC3E}">
        <p14:creationId xmlns:p14="http://schemas.microsoft.com/office/powerpoint/2010/main" val="2491023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Validate ( ) Method</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Example:- </a:t>
            </a:r>
          </a:p>
          <a:p>
            <a:pPr marL="0" indent="0">
              <a:buNone/>
            </a:pPr>
            <a:r>
              <a:rPr lang="en-US" sz="2400" dirty="0">
                <a:latin typeface="Times New Roman" panose="02020603050405020304" pitchFamily="18" charset="0"/>
                <a:cs typeface="Times New Roman" panose="02020603050405020304" pitchFamily="18" charset="0"/>
              </a:rPr>
              <a:t>App\Http\Controllers\</a:t>
            </a:r>
            <a:r>
              <a:rPr lang="en-US" sz="2400" dirty="0" err="1">
                <a:latin typeface="Times New Roman" panose="02020603050405020304" pitchFamily="18" charset="0"/>
                <a:cs typeface="Times New Roman" panose="02020603050405020304" pitchFamily="18" charset="0"/>
              </a:rPr>
              <a:t>RegistrationController.php</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cs typeface="Times New Roman" panose="02020603050405020304" pitchFamily="18" charset="0"/>
              </a:rPr>
              <a:t>public function signup(Request $request)</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$validated = $request-&gt;validate([</a:t>
            </a:r>
          </a:p>
          <a:p>
            <a:pPr marL="0" indent="0">
              <a:buNone/>
            </a:pPr>
            <a:r>
              <a:rPr lang="en-US" sz="2400" dirty="0">
                <a:cs typeface="Times New Roman" panose="02020603050405020304" pitchFamily="18" charset="0"/>
              </a:rPr>
              <a:t>        ‘email' =&gt; 'required',</a:t>
            </a:r>
          </a:p>
          <a:p>
            <a:pPr marL="0" indent="0">
              <a:buNone/>
            </a:pPr>
            <a:r>
              <a:rPr lang="en-US" sz="2400" dirty="0">
                <a:cs typeface="Times New Roman" panose="02020603050405020304" pitchFamily="18" charset="0"/>
              </a:rPr>
              <a:t>        ‘password' =&gt; 'required',</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 The form is valid...</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232265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b="1" u="sng" dirty="0">
                <a:latin typeface="Times New Roman" panose="02020603050405020304" pitchFamily="18" charset="0"/>
                <a:cs typeface="Times New Roman" panose="02020603050405020304" pitchFamily="18" charset="0"/>
              </a:rPr>
              <a:t>Rules specified as Array</a:t>
            </a:r>
          </a:p>
          <a:p>
            <a:pPr marL="0" indent="0">
              <a:buNone/>
            </a:pPr>
            <a:r>
              <a:rPr lang="en-US" sz="2400" dirty="0">
                <a:cs typeface="Times New Roman" panose="02020603050405020304" pitchFamily="18" charset="0"/>
              </a:rPr>
              <a:t>public function signup(Request $request)</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$validated = $request-&gt;validate([</a:t>
            </a:r>
          </a:p>
          <a:p>
            <a:pPr marL="0" indent="0">
              <a:buNone/>
            </a:pPr>
            <a:r>
              <a:rPr lang="en-US" sz="2400" dirty="0">
                <a:cs typeface="Times New Roman" panose="02020603050405020304" pitchFamily="18" charset="0"/>
              </a:rPr>
              <a:t>        ‘email' =&gt; ['required’, ‘min:20’],</a:t>
            </a:r>
          </a:p>
          <a:p>
            <a:pPr marL="0" indent="0">
              <a:buNone/>
            </a:pPr>
            <a:r>
              <a:rPr lang="en-US" sz="2400" dirty="0">
                <a:cs typeface="Times New Roman" panose="02020603050405020304" pitchFamily="18" charset="0"/>
              </a:rPr>
              <a:t>        ‘password' =&gt; ['required’],</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68948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b="1" u="sng" dirty="0">
                <a:latin typeface="Times New Roman" panose="02020603050405020304" pitchFamily="18" charset="0"/>
                <a:cs typeface="Times New Roman" panose="02020603050405020304" pitchFamily="18" charset="0"/>
              </a:rPr>
              <a:t>Rules specified using a single | delimited String</a:t>
            </a:r>
          </a:p>
          <a:p>
            <a:pPr marL="0" indent="0">
              <a:buNone/>
            </a:pPr>
            <a:r>
              <a:rPr lang="en-US" sz="2400" dirty="0">
                <a:cs typeface="Times New Roman" panose="02020603050405020304" pitchFamily="18" charset="0"/>
              </a:rPr>
              <a:t>public function signup(Request $request)</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$validated = $request-&gt;validate([</a:t>
            </a:r>
          </a:p>
          <a:p>
            <a:pPr marL="0" indent="0">
              <a:buNone/>
            </a:pPr>
            <a:r>
              <a:rPr lang="en-US" sz="2400" dirty="0">
                <a:cs typeface="Times New Roman" panose="02020603050405020304" pitchFamily="18" charset="0"/>
              </a:rPr>
              <a:t>        ‘email' =&gt; 'required|min:20',</a:t>
            </a:r>
          </a:p>
          <a:p>
            <a:pPr marL="0" indent="0">
              <a:buNone/>
            </a:pPr>
            <a:r>
              <a:rPr lang="en-US" sz="2400" dirty="0">
                <a:cs typeface="Times New Roman" panose="02020603050405020304" pitchFamily="18" charset="0"/>
              </a:rPr>
              <a:t>        ‘password' =&gt; 'required',</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393359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accepted - The field under validation must be "yes", "on", 1, or true. This is useful for validating "Terms of Service" acceptance or similar fields.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alpha - The field under validation must be entirely alphabetic characters.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alpha_dash</a:t>
            </a:r>
            <a:r>
              <a:rPr lang="en-US" sz="2400" dirty="0">
                <a:latin typeface="Times New Roman" panose="02020603050405020304" pitchFamily="18" charset="0"/>
                <a:cs typeface="Times New Roman" panose="02020603050405020304" pitchFamily="18" charset="0"/>
              </a:rPr>
              <a:t> - The field under validation may have alpha-numeric characters, as well as dashes and underscores.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alpha_num</a:t>
            </a:r>
            <a:r>
              <a:rPr lang="en-US" sz="2400" dirty="0">
                <a:latin typeface="Times New Roman" panose="02020603050405020304" pitchFamily="18" charset="0"/>
                <a:cs typeface="Times New Roman" panose="02020603050405020304" pitchFamily="18" charset="0"/>
              </a:rPr>
              <a:t> - The field under validation must be entirely alpha-numeric characters.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array - The field under validation must be a PHP array.</a:t>
            </a:r>
          </a:p>
        </p:txBody>
      </p:sp>
    </p:spTree>
    <p:extLst>
      <p:ext uri="{BB962C8B-B14F-4D97-AF65-F5344CB8AC3E}">
        <p14:creationId xmlns:p14="http://schemas.microsoft.com/office/powerpoint/2010/main" val="2865057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err="1">
                <a:latin typeface="Times New Roman" panose="02020603050405020304" pitchFamily="18" charset="0"/>
                <a:cs typeface="Times New Roman" panose="02020603050405020304" pitchFamily="18" charset="0"/>
              </a:rPr>
              <a:t>boolean</a:t>
            </a:r>
            <a:r>
              <a:rPr lang="en-US" sz="2400" dirty="0">
                <a:latin typeface="Times New Roman" panose="02020603050405020304" pitchFamily="18" charset="0"/>
                <a:cs typeface="Times New Roman" panose="02020603050405020304" pitchFamily="18" charset="0"/>
              </a:rPr>
              <a:t> - The field under validation must be able to be cast as a </a:t>
            </a:r>
            <a:r>
              <a:rPr lang="en-US" sz="2400" dirty="0" err="1">
                <a:latin typeface="Times New Roman" panose="02020603050405020304" pitchFamily="18" charset="0"/>
                <a:cs typeface="Times New Roman" panose="02020603050405020304" pitchFamily="18" charset="0"/>
              </a:rPr>
              <a:t>boolean</a:t>
            </a:r>
            <a:r>
              <a:rPr lang="en-US" sz="2400" dirty="0">
                <a:latin typeface="Times New Roman" panose="02020603050405020304" pitchFamily="18" charset="0"/>
                <a:cs typeface="Times New Roman" panose="02020603050405020304" pitchFamily="18" charset="0"/>
              </a:rPr>
              <a:t>. Accepted input are true, false, 1, 0, "1", and "0".</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confirmed - The field under validation must have a matching field of {field}_confirmation. For example, if the field under validation is password, a matching </a:t>
            </a:r>
            <a:r>
              <a:rPr lang="en-US" sz="2400" dirty="0" err="1">
                <a:latin typeface="Times New Roman" panose="02020603050405020304" pitchFamily="18" charset="0"/>
                <a:cs typeface="Times New Roman" panose="02020603050405020304" pitchFamily="18" charset="0"/>
              </a:rPr>
              <a:t>password_confirmation</a:t>
            </a:r>
            <a:r>
              <a:rPr lang="en-US" sz="2400" dirty="0">
                <a:latin typeface="Times New Roman" panose="02020603050405020304" pitchFamily="18" charset="0"/>
                <a:cs typeface="Times New Roman" panose="02020603050405020304" pitchFamily="18" charset="0"/>
              </a:rPr>
              <a:t> field must be present in the input.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date - The field under validation must be a valid, non-relative date according to the </a:t>
            </a:r>
            <a:r>
              <a:rPr lang="en-US" sz="2400" dirty="0" err="1">
                <a:latin typeface="Times New Roman" panose="02020603050405020304" pitchFamily="18" charset="0"/>
                <a:cs typeface="Times New Roman" panose="02020603050405020304" pitchFamily="18" charset="0"/>
              </a:rPr>
              <a:t>strtotime</a:t>
            </a:r>
            <a:r>
              <a:rPr lang="en-US" sz="2400" dirty="0">
                <a:latin typeface="Times New Roman" panose="02020603050405020304" pitchFamily="18" charset="0"/>
                <a:cs typeface="Times New Roman" panose="02020603050405020304" pitchFamily="18" charset="0"/>
              </a:rPr>
              <a:t> PHP function.</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digits:value</a:t>
            </a:r>
            <a:r>
              <a:rPr lang="en-US" sz="2400" dirty="0">
                <a:latin typeface="Times New Roman" panose="02020603050405020304" pitchFamily="18" charset="0"/>
                <a:cs typeface="Times New Roman" panose="02020603050405020304" pitchFamily="18" charset="0"/>
              </a:rPr>
              <a:t> - The field under validation must be numeric and must have an exact length of value.</a:t>
            </a:r>
          </a:p>
        </p:txBody>
      </p:sp>
    </p:spTree>
    <p:extLst>
      <p:ext uri="{BB962C8B-B14F-4D97-AF65-F5344CB8AC3E}">
        <p14:creationId xmlns:p14="http://schemas.microsoft.com/office/powerpoint/2010/main" val="3853527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email - The field under validation must be formatted as an email address. </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file - The field under validation must be a successfully uploaded file.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filled - The field under validation must not be empty when it is present.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image - The file under validation must be an image (jpg, jpeg, </a:t>
            </a:r>
            <a:r>
              <a:rPr lang="en-US" sz="2400" dirty="0" err="1">
                <a:latin typeface="Times New Roman" panose="02020603050405020304" pitchFamily="18" charset="0"/>
                <a:cs typeface="Times New Roman" panose="02020603050405020304" pitchFamily="18" charset="0"/>
              </a:rPr>
              <a:t>png</a:t>
            </a:r>
            <a:r>
              <a:rPr lang="en-US" sz="2400" dirty="0">
                <a:latin typeface="Times New Roman" panose="02020603050405020304" pitchFamily="18" charset="0"/>
                <a:cs typeface="Times New Roman" panose="02020603050405020304" pitchFamily="18" charset="0"/>
              </a:rPr>
              <a:t>, bmp, gif, </a:t>
            </a:r>
            <a:r>
              <a:rPr lang="en-US" sz="2400" dirty="0" err="1">
                <a:latin typeface="Times New Roman" panose="02020603050405020304" pitchFamily="18" charset="0"/>
                <a:cs typeface="Times New Roman" panose="02020603050405020304" pitchFamily="18" charset="0"/>
              </a:rPr>
              <a:t>svg</a:t>
            </a:r>
            <a:r>
              <a:rPr lang="en-US" sz="2400" dirty="0">
                <a:latin typeface="Times New Roman" panose="02020603050405020304" pitchFamily="18" charset="0"/>
                <a:cs typeface="Times New Roman" panose="02020603050405020304" pitchFamily="18" charset="0"/>
              </a:rPr>
              <a:t>, or </a:t>
            </a:r>
            <a:r>
              <a:rPr lang="en-US" sz="2400" dirty="0" err="1">
                <a:latin typeface="Times New Roman" panose="02020603050405020304" pitchFamily="18" charset="0"/>
                <a:cs typeface="Times New Roman" panose="02020603050405020304" pitchFamily="18" charset="0"/>
              </a:rPr>
              <a:t>webp</a:t>
            </a:r>
            <a:r>
              <a:rPr lang="en-US" sz="2400" dirty="0">
                <a:latin typeface="Times New Roman" panose="02020603050405020304" pitchFamily="18" charset="0"/>
                <a:cs typeface="Times New Roman" panose="02020603050405020304" pitchFamily="18" charset="0"/>
              </a:rPr>
              <a: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integer - The field under validation must be an integer.</a:t>
            </a:r>
          </a:p>
        </p:txBody>
      </p:sp>
    </p:spTree>
    <p:extLst>
      <p:ext uri="{BB962C8B-B14F-4D97-AF65-F5344CB8AC3E}">
        <p14:creationId xmlns:p14="http://schemas.microsoft.com/office/powerpoint/2010/main" val="53288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err="1">
                <a:latin typeface="Times New Roman" panose="02020603050405020304" pitchFamily="18" charset="0"/>
                <a:cs typeface="Times New Roman" panose="02020603050405020304" pitchFamily="18" charset="0"/>
              </a:rPr>
              <a:t>max:value</a:t>
            </a:r>
            <a:r>
              <a:rPr lang="en-US" sz="2400" dirty="0">
                <a:latin typeface="Times New Roman" panose="02020603050405020304" pitchFamily="18" charset="0"/>
                <a:cs typeface="Times New Roman" panose="02020603050405020304" pitchFamily="18" charset="0"/>
              </a:rPr>
              <a:t> - The field under validation must be less than or equal to a maximum value. Strings, </a:t>
            </a:r>
            <a:r>
              <a:rPr lang="en-US" sz="2400" dirty="0" err="1">
                <a:latin typeface="Times New Roman" panose="02020603050405020304" pitchFamily="18" charset="0"/>
                <a:cs typeface="Times New Roman" panose="02020603050405020304" pitchFamily="18" charset="0"/>
              </a:rPr>
              <a:t>numerics</a:t>
            </a:r>
            <a:r>
              <a:rPr lang="en-US" sz="2400" dirty="0">
                <a:latin typeface="Times New Roman" panose="02020603050405020304" pitchFamily="18" charset="0"/>
                <a:cs typeface="Times New Roman" panose="02020603050405020304" pitchFamily="18" charset="0"/>
              </a:rPr>
              <a:t>, arrays, and files are evaluated in the same fashion as the size rule.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min:value</a:t>
            </a:r>
            <a:r>
              <a:rPr lang="en-US" sz="2400" dirty="0">
                <a:latin typeface="Times New Roman" panose="02020603050405020304" pitchFamily="18" charset="0"/>
                <a:cs typeface="Times New Roman" panose="02020603050405020304" pitchFamily="18" charset="0"/>
              </a:rPr>
              <a:t> - The field under validation must have a minimum value. Strings, </a:t>
            </a:r>
            <a:r>
              <a:rPr lang="en-US" sz="2400" dirty="0" err="1">
                <a:latin typeface="Times New Roman" panose="02020603050405020304" pitchFamily="18" charset="0"/>
                <a:cs typeface="Times New Roman" panose="02020603050405020304" pitchFamily="18" charset="0"/>
              </a:rPr>
              <a:t>numerics</a:t>
            </a:r>
            <a:r>
              <a:rPr lang="en-US" sz="2400" dirty="0">
                <a:latin typeface="Times New Roman" panose="02020603050405020304" pitchFamily="18" charset="0"/>
                <a:cs typeface="Times New Roman" panose="02020603050405020304" pitchFamily="18" charset="0"/>
              </a:rPr>
              <a:t>, arrays, and files are evaluated in the same fashion as the size rule.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nullable - The field under validation may be null.</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numeric - The field under validation must be numeric.</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password - The field under validation must match the authenticated user's password. </a:t>
            </a:r>
          </a:p>
        </p:txBody>
      </p:sp>
    </p:spTree>
    <p:extLst>
      <p:ext uri="{BB962C8B-B14F-4D97-AF65-F5344CB8AC3E}">
        <p14:creationId xmlns:p14="http://schemas.microsoft.com/office/powerpoint/2010/main" val="241412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required - The field under validation must be present in the input data and not empty. A field is considered "empty" if one of the following conditions are true:</a:t>
            </a:r>
          </a:p>
          <a:p>
            <a:r>
              <a:rPr lang="en-US" sz="2400" dirty="0">
                <a:latin typeface="Times New Roman" panose="02020603050405020304" pitchFamily="18" charset="0"/>
                <a:cs typeface="Times New Roman" panose="02020603050405020304" pitchFamily="18" charset="0"/>
              </a:rPr>
              <a:t>The value is null.</a:t>
            </a:r>
          </a:p>
          <a:p>
            <a:r>
              <a:rPr lang="en-US" sz="2400" dirty="0">
                <a:latin typeface="Times New Roman" panose="02020603050405020304" pitchFamily="18" charset="0"/>
                <a:cs typeface="Times New Roman" panose="02020603050405020304" pitchFamily="18" charset="0"/>
              </a:rPr>
              <a:t>The value is an empty string.</a:t>
            </a:r>
          </a:p>
          <a:p>
            <a:r>
              <a:rPr lang="en-US" sz="2400" dirty="0">
                <a:latin typeface="Times New Roman" panose="02020603050405020304" pitchFamily="18" charset="0"/>
                <a:cs typeface="Times New Roman" panose="02020603050405020304" pitchFamily="18" charset="0"/>
              </a:rPr>
              <a:t>The value is an empty array or empty Countable object.</a:t>
            </a:r>
          </a:p>
          <a:p>
            <a:r>
              <a:rPr lang="en-US" sz="2400" dirty="0">
                <a:latin typeface="Times New Roman" panose="02020603050405020304" pitchFamily="18" charset="0"/>
                <a:cs typeface="Times New Roman" panose="02020603050405020304" pitchFamily="18" charset="0"/>
              </a:rPr>
              <a:t>The value is an uploaded file with no path.</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size:value</a:t>
            </a:r>
            <a:r>
              <a:rPr lang="en-US" sz="2400" dirty="0">
                <a:latin typeface="Times New Roman" panose="02020603050405020304" pitchFamily="18" charset="0"/>
                <a:cs typeface="Times New Roman" panose="02020603050405020304" pitchFamily="18" charset="0"/>
              </a:rPr>
              <a:t> - The field under validation must have a size matching the given value. For string data, value corresponds to the number of characters. For numeric data, value corresponds to a given integer value (the attribute must also have the numeric or integer rule). For an array, size corresponds to the count of the array. For files, size corresponds to the file size in kilobytes.</a:t>
            </a:r>
          </a:p>
        </p:txBody>
      </p:sp>
    </p:spTree>
    <p:extLst>
      <p:ext uri="{BB962C8B-B14F-4D97-AF65-F5344CB8AC3E}">
        <p14:creationId xmlns:p14="http://schemas.microsoft.com/office/powerpoint/2010/main" val="260181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string - The field under validation must be a string. If you would like to allow the field to also be null, you should assign the nullable rule to the field.</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unique:table,column,except,idColumn</a:t>
            </a:r>
            <a:r>
              <a:rPr lang="en-US" sz="2400" dirty="0">
                <a:latin typeface="Times New Roman" panose="02020603050405020304" pitchFamily="18" charset="0"/>
                <a:cs typeface="Times New Roman" panose="02020603050405020304" pitchFamily="18" charset="0"/>
              </a:rPr>
              <a:t> - The field under validation must not exist within the given database table.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err="1">
                <a:latin typeface="Times New Roman" panose="02020603050405020304" pitchFamily="18" charset="0"/>
                <a:cs typeface="Times New Roman" panose="02020603050405020304" pitchFamily="18" charset="0"/>
              </a:rPr>
              <a:t>url</a:t>
            </a:r>
            <a:r>
              <a:rPr lang="en-US" sz="2400" dirty="0">
                <a:latin typeface="Times New Roman" panose="02020603050405020304" pitchFamily="18" charset="0"/>
                <a:cs typeface="Times New Roman" panose="02020603050405020304" pitchFamily="18" charset="0"/>
              </a:rPr>
              <a:t> - The field under validation must be a valid URL.</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053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Validation Errors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An $errors variable is shared with all of your application's views by the Illuminate\View\Middleware\</a:t>
            </a:r>
            <a:r>
              <a:rPr lang="en-US" sz="2400" dirty="0" err="1">
                <a:latin typeface="Times New Roman" panose="02020603050405020304" pitchFamily="18" charset="0"/>
                <a:cs typeface="Times New Roman" panose="02020603050405020304" pitchFamily="18" charset="0"/>
              </a:rPr>
              <a:t>ShareErrorsFromSession</a:t>
            </a:r>
            <a:r>
              <a:rPr lang="en-US" sz="2400" dirty="0">
                <a:latin typeface="Times New Roman" panose="02020603050405020304" pitchFamily="18" charset="0"/>
                <a:cs typeface="Times New Roman" panose="02020603050405020304" pitchFamily="18" charset="0"/>
              </a:rPr>
              <a:t> middleware, which is provided by the web middleware group. </a:t>
            </a:r>
          </a:p>
          <a:p>
            <a:pPr marL="0" indent="0">
              <a:buNone/>
            </a:pPr>
            <a:r>
              <a:rPr lang="en-US" sz="2400" dirty="0">
                <a:latin typeface="Times New Roman" panose="02020603050405020304" pitchFamily="18" charset="0"/>
                <a:cs typeface="Times New Roman" panose="02020603050405020304" pitchFamily="18" charset="0"/>
              </a:rPr>
              <a:t>When this middleware is applied an $errors variable will always be available in your views, allowing you to conveniently assume the $errors variable is always defined and can be safely used. </a:t>
            </a:r>
          </a:p>
          <a:p>
            <a:pPr marL="0" indent="0">
              <a:buNone/>
            </a:pPr>
            <a:r>
              <a:rPr lang="en-US" sz="2400" dirty="0">
                <a:latin typeface="Times New Roman" panose="02020603050405020304" pitchFamily="18" charset="0"/>
                <a:cs typeface="Times New Roman" panose="02020603050405020304" pitchFamily="18" charset="0"/>
              </a:rPr>
              <a:t>The $errors variable will be an instance of Illuminate\Support\</a:t>
            </a:r>
            <a:r>
              <a:rPr lang="en-US" sz="2400" dirty="0" err="1">
                <a:latin typeface="Times New Roman" panose="02020603050405020304" pitchFamily="18" charset="0"/>
                <a:cs typeface="Times New Roman" panose="02020603050405020304" pitchFamily="18" charset="0"/>
              </a:rPr>
              <a:t>MessageBag</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82475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Error Messages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Retrieving All Error Messages For All Fields</a:t>
            </a:r>
          </a:p>
          <a:p>
            <a:pPr marL="0" indent="0">
              <a:buNone/>
            </a:pPr>
            <a:r>
              <a:rPr lang="en-US" sz="2400" dirty="0">
                <a:latin typeface="Times New Roman" panose="02020603050405020304" pitchFamily="18" charset="0"/>
                <a:cs typeface="Times New Roman" panose="02020603050405020304" pitchFamily="18" charset="0"/>
              </a:rPr>
              <a:t>To retrieve an array of all messages for all fields, use the all method.</a:t>
            </a:r>
          </a:p>
          <a:p>
            <a:pPr marL="0" indent="0">
              <a:buNone/>
            </a:pPr>
            <a:r>
              <a:rPr lang="en-US" sz="2400" dirty="0">
                <a:cs typeface="Times New Roman" panose="02020603050405020304" pitchFamily="18" charset="0"/>
              </a:rPr>
              <a:t>@if ($errors-&gt;any())</a:t>
            </a:r>
          </a:p>
          <a:p>
            <a:pPr marL="0" indent="0">
              <a:buNone/>
            </a:pPr>
            <a:r>
              <a:rPr lang="en-US" sz="2400" dirty="0">
                <a:cs typeface="Times New Roman" panose="02020603050405020304" pitchFamily="18" charset="0"/>
              </a:rPr>
              <a:t>           @foreach ($errors-&gt;all() as $message)</a:t>
            </a:r>
          </a:p>
          <a:p>
            <a:pPr marL="0" indent="0">
              <a:buNone/>
            </a:pPr>
            <a:r>
              <a:rPr lang="en-US" sz="2400" dirty="0">
                <a:cs typeface="Times New Roman" panose="02020603050405020304" pitchFamily="18" charset="0"/>
              </a:rPr>
              <a:t>                 {{ $message }}</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endforeach</a:t>
            </a: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@endif</a:t>
            </a:r>
          </a:p>
        </p:txBody>
      </p:sp>
    </p:spTree>
    <p:extLst>
      <p:ext uri="{BB962C8B-B14F-4D97-AF65-F5344CB8AC3E}">
        <p14:creationId xmlns:p14="http://schemas.microsoft.com/office/powerpoint/2010/main" val="1113426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Error Messages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Retrieving All Error Messages For A Field</a:t>
            </a:r>
          </a:p>
          <a:p>
            <a:pPr marL="0" indent="0">
              <a:buNone/>
            </a:pPr>
            <a:r>
              <a:rPr lang="en-US" sz="2400" dirty="0">
                <a:latin typeface="Times New Roman" panose="02020603050405020304" pitchFamily="18" charset="0"/>
                <a:cs typeface="Times New Roman" panose="02020603050405020304" pitchFamily="18" charset="0"/>
              </a:rPr>
              <a:t>If you need to retrieve an array of all the messages for a given field, use the get method:</a:t>
            </a:r>
          </a:p>
          <a:p>
            <a:pPr marL="0" indent="0">
              <a:buNone/>
            </a:pPr>
            <a:r>
              <a:rPr lang="en-US" sz="2400" dirty="0">
                <a:cs typeface="Times New Roman" panose="02020603050405020304" pitchFamily="18" charset="0"/>
              </a:rPr>
              <a:t>foreach ($errors-&gt;get('email') as $message)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If you are validating an array form field, you may retrieve all of the messages for each of the array elements using the * character:</a:t>
            </a:r>
          </a:p>
          <a:p>
            <a:pPr marL="0" indent="0">
              <a:buNone/>
            </a:pPr>
            <a:r>
              <a:rPr lang="en-US" sz="2400" dirty="0">
                <a:cs typeface="Times New Roman" panose="02020603050405020304" pitchFamily="18" charset="0"/>
              </a:rPr>
              <a:t>foreach ($errors-&gt;get('attachments.*') as $message)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4030758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Error Messages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Retrieving The First Error Message For A Field</a:t>
            </a:r>
          </a:p>
          <a:p>
            <a:pPr marL="0" indent="0">
              <a:buNone/>
            </a:pPr>
            <a:r>
              <a:rPr lang="en-US" sz="2400" dirty="0">
                <a:latin typeface="Times New Roman" panose="02020603050405020304" pitchFamily="18" charset="0"/>
                <a:cs typeface="Times New Roman" panose="02020603050405020304" pitchFamily="18" charset="0"/>
              </a:rPr>
              <a:t>To retrieve the first error message for a given field, use the first method:</a:t>
            </a:r>
          </a:p>
          <a:p>
            <a:pPr marL="0" indent="0">
              <a:buNone/>
            </a:pPr>
            <a:r>
              <a:rPr lang="en-US" sz="2400" dirty="0">
                <a:cs typeface="Times New Roman" panose="02020603050405020304" pitchFamily="18" charset="0"/>
              </a:rPr>
              <a:t>$errors = $validator-&gt;errors();</a:t>
            </a:r>
          </a:p>
          <a:p>
            <a:pPr marL="0" indent="0">
              <a:buNone/>
            </a:pPr>
            <a:r>
              <a:rPr lang="en-US" sz="2400" dirty="0">
                <a:cs typeface="Times New Roman" panose="02020603050405020304" pitchFamily="18" charset="0"/>
              </a:rPr>
              <a:t>echo $errors-&gt;first('email’);</a:t>
            </a:r>
          </a:p>
          <a:p>
            <a:pPr marL="0" indent="0">
              <a:buNone/>
            </a:pPr>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421163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Displaying Error Messages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Determining If Messages Exist For A Field</a:t>
            </a:r>
          </a:p>
          <a:p>
            <a:pPr marL="0" indent="0">
              <a:buNone/>
            </a:pPr>
            <a:r>
              <a:rPr lang="en-US" sz="2400" dirty="0">
                <a:latin typeface="Times New Roman" panose="02020603050405020304" pitchFamily="18" charset="0"/>
                <a:cs typeface="Times New Roman" panose="02020603050405020304" pitchFamily="18" charset="0"/>
              </a:rPr>
              <a:t>The has method may be used to determine if any error messages exist for a given field.</a:t>
            </a:r>
          </a:p>
          <a:p>
            <a:pPr marL="0" indent="0">
              <a:buNone/>
            </a:pPr>
            <a:r>
              <a:rPr lang="en-US" sz="2400" dirty="0">
                <a:cs typeface="Times New Roman" panose="02020603050405020304" pitchFamily="18" charset="0"/>
              </a:rPr>
              <a:t>if ($errors-&gt;has('email'))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194952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Error Directive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may use the @error Blade directive to quickly determine if validation error messages exist for a given attribute. Within an @error directive, you may echo the $message variable to display the error message.</a:t>
            </a:r>
          </a:p>
          <a:p>
            <a:pPr marL="0" indent="0">
              <a:buNone/>
            </a:pPr>
            <a:r>
              <a:rPr lang="en-US" sz="2400" dirty="0">
                <a:cs typeface="Times New Roman" panose="02020603050405020304" pitchFamily="18" charset="0"/>
              </a:rPr>
              <a:t> Email: &lt;input type="email" name="email" id="email"&gt; &lt;</a:t>
            </a:r>
            <a:r>
              <a:rPr lang="en-US" sz="2400" dirty="0" err="1">
                <a:cs typeface="Times New Roman" panose="02020603050405020304" pitchFamily="18" charset="0"/>
              </a:rPr>
              <a:t>br</a:t>
            </a:r>
            <a:r>
              <a:rPr lang="en-US" sz="2400" dirty="0">
                <a:cs typeface="Times New Roman" panose="02020603050405020304" pitchFamily="18" charset="0"/>
              </a:rPr>
              <a:t>&gt;&lt;</a:t>
            </a:r>
            <a:r>
              <a:rPr lang="en-US" sz="2400" dirty="0" err="1">
                <a:cs typeface="Times New Roman" panose="02020603050405020304" pitchFamily="18" charset="0"/>
              </a:rPr>
              <a:t>br</a:t>
            </a:r>
            <a:r>
              <a:rPr lang="en-US" sz="2400" dirty="0">
                <a:cs typeface="Times New Roman" panose="02020603050405020304" pitchFamily="18" charset="0"/>
              </a:rPr>
              <a:t>&gt;</a:t>
            </a:r>
          </a:p>
          <a:p>
            <a:pPr marL="0" indent="0">
              <a:buNone/>
            </a:pPr>
            <a:r>
              <a:rPr lang="en-US" sz="2400" dirty="0">
                <a:cs typeface="Times New Roman" panose="02020603050405020304" pitchFamily="18" charset="0"/>
              </a:rPr>
              <a:t>        @error('email')</a:t>
            </a:r>
          </a:p>
          <a:p>
            <a:pPr marL="0" indent="0">
              <a:buNone/>
            </a:pPr>
            <a:r>
              <a:rPr lang="en-US" sz="2400" dirty="0">
                <a:cs typeface="Times New Roman" panose="02020603050405020304" pitchFamily="18" charset="0"/>
              </a:rPr>
              <a:t>            {{$message}} &lt;</a:t>
            </a:r>
            <a:r>
              <a:rPr lang="en-US" sz="2400" dirty="0" err="1">
                <a:cs typeface="Times New Roman" panose="02020603050405020304" pitchFamily="18" charset="0"/>
              </a:rPr>
              <a:t>br</a:t>
            </a:r>
            <a:r>
              <a:rPr lang="en-US" sz="2400" dirty="0">
                <a:cs typeface="Times New Roman" panose="02020603050405020304" pitchFamily="18" charset="0"/>
              </a:rPr>
              <a:t>&gt;            </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enderror</a:t>
            </a:r>
            <a:endParaRPr lang="en-US" sz="2400" dirty="0">
              <a:cs typeface="Times New Roman" panose="02020603050405020304" pitchFamily="18" charset="0"/>
            </a:endParaRPr>
          </a:p>
        </p:txBody>
      </p:sp>
    </p:spTree>
    <p:extLst>
      <p:ext uri="{BB962C8B-B14F-4D97-AF65-F5344CB8AC3E}">
        <p14:creationId xmlns:p14="http://schemas.microsoft.com/office/powerpoint/2010/main" val="134779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sz="4000" b="1" u="sng" dirty="0">
                <a:latin typeface="Times New Roman" panose="02020603050405020304" pitchFamily="18" charset="0"/>
                <a:cs typeface="Times New Roman" panose="02020603050405020304" pitchFamily="18" charset="0"/>
              </a:rPr>
              <a:t>Specifying Custom Messages In Language Files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Modifying Default Error Messages</a:t>
            </a:r>
          </a:p>
          <a:p>
            <a:pPr marL="0" indent="0">
              <a:buNone/>
            </a:pPr>
            <a:r>
              <a:rPr lang="en-US" sz="2400" dirty="0">
                <a:latin typeface="Times New Roman" panose="02020603050405020304" pitchFamily="18" charset="0"/>
                <a:cs typeface="Times New Roman" panose="02020603050405020304" pitchFamily="18" charset="0"/>
              </a:rPr>
              <a:t>Laravel's built-in validation rules each has an error message that is located in your application's resources/</a:t>
            </a:r>
            <a:r>
              <a:rPr lang="en-US" sz="2400" dirty="0" err="1">
                <a:latin typeface="Times New Roman" panose="02020603050405020304" pitchFamily="18" charset="0"/>
                <a:cs typeface="Times New Roman" panose="02020603050405020304" pitchFamily="18" charset="0"/>
              </a:rPr>
              <a:t>lang</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validation.php</a:t>
            </a:r>
            <a:r>
              <a:rPr lang="en-US" sz="2400" dirty="0">
                <a:latin typeface="Times New Roman" panose="02020603050405020304" pitchFamily="18" charset="0"/>
                <a:cs typeface="Times New Roman" panose="02020603050405020304" pitchFamily="18" charset="0"/>
              </a:rPr>
              <a:t> file. </a:t>
            </a:r>
          </a:p>
          <a:p>
            <a:pPr marL="0" indent="0">
              <a:buNone/>
            </a:pPr>
            <a:r>
              <a:rPr lang="en-US" sz="2400" dirty="0">
                <a:latin typeface="Times New Roman" panose="02020603050405020304" pitchFamily="18" charset="0"/>
                <a:cs typeface="Times New Roman" panose="02020603050405020304" pitchFamily="18" charset="0"/>
              </a:rPr>
              <a:t>Within this file, you will find a translation entry for each validation rule. </a:t>
            </a:r>
          </a:p>
          <a:p>
            <a:pPr marL="0" indent="0">
              <a:buNone/>
            </a:pPr>
            <a:r>
              <a:rPr lang="en-US" sz="2400" dirty="0">
                <a:latin typeface="Times New Roman" panose="02020603050405020304" pitchFamily="18" charset="0"/>
                <a:cs typeface="Times New Roman" panose="02020603050405020304" pitchFamily="18" charset="0"/>
              </a:rPr>
              <a:t>You are free to change or modify these messages based on the needs of your application.</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824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sz="4000" b="1" u="sng" dirty="0">
                <a:latin typeface="Times New Roman" panose="02020603050405020304" pitchFamily="18" charset="0"/>
                <a:cs typeface="Times New Roman" panose="02020603050405020304" pitchFamily="18" charset="0"/>
              </a:rPr>
              <a:t>Specifying Custom Messages In Language Files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Custom Messages For Specific Attributes</a:t>
            </a:r>
          </a:p>
          <a:p>
            <a:pPr marL="0" indent="0">
              <a:buNone/>
            </a:pPr>
            <a:r>
              <a:rPr lang="en-US" sz="2400" dirty="0">
                <a:latin typeface="Times New Roman" panose="02020603050405020304" pitchFamily="18" charset="0"/>
                <a:cs typeface="Times New Roman" panose="02020603050405020304" pitchFamily="18" charset="0"/>
              </a:rPr>
              <a:t>You may customize the error messages used for specified attribute and rule combinations within your application's validation language files. </a:t>
            </a:r>
          </a:p>
          <a:p>
            <a:pPr marL="0" indent="0">
              <a:buNone/>
            </a:pPr>
            <a:r>
              <a:rPr lang="en-US" sz="2400" dirty="0">
                <a:latin typeface="Times New Roman" panose="02020603050405020304" pitchFamily="18" charset="0"/>
                <a:cs typeface="Times New Roman" panose="02020603050405020304" pitchFamily="18" charset="0"/>
              </a:rPr>
              <a:t>To do so, add your message customizations to the custom array of your application's resources/</a:t>
            </a:r>
            <a:r>
              <a:rPr lang="en-US" sz="2400" dirty="0" err="1">
                <a:latin typeface="Times New Roman" panose="02020603050405020304" pitchFamily="18" charset="0"/>
                <a:cs typeface="Times New Roman" panose="02020603050405020304" pitchFamily="18" charset="0"/>
              </a:rPr>
              <a:t>lang</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validation.php</a:t>
            </a:r>
            <a:r>
              <a:rPr lang="en-US" sz="2400" dirty="0">
                <a:latin typeface="Times New Roman" panose="02020603050405020304" pitchFamily="18" charset="0"/>
                <a:cs typeface="Times New Roman" panose="02020603050405020304" pitchFamily="18" charset="0"/>
              </a:rPr>
              <a:t> language file:</a:t>
            </a:r>
          </a:p>
          <a:p>
            <a:pPr marL="0" indent="0">
              <a:buNone/>
            </a:pPr>
            <a:r>
              <a:rPr lang="en-US" sz="2400" dirty="0">
                <a:cs typeface="Times New Roman" panose="02020603050405020304" pitchFamily="18" charset="0"/>
              </a:rPr>
              <a:t>'custom' =&gt; [</a:t>
            </a:r>
          </a:p>
          <a:p>
            <a:pPr marL="0" indent="0">
              <a:buNone/>
            </a:pPr>
            <a:r>
              <a:rPr lang="en-US" sz="2400" dirty="0">
                <a:cs typeface="Times New Roman" panose="02020603050405020304" pitchFamily="18" charset="0"/>
              </a:rPr>
              <a:t>    'email' =&gt; [</a:t>
            </a:r>
          </a:p>
          <a:p>
            <a:pPr marL="0" indent="0">
              <a:buNone/>
            </a:pPr>
            <a:r>
              <a:rPr lang="en-US" sz="2400" dirty="0">
                <a:cs typeface="Times New Roman" panose="02020603050405020304" pitchFamily="18" charset="0"/>
              </a:rPr>
              <a:t>        'required' =&gt; 'We need to know your email address!',</a:t>
            </a:r>
          </a:p>
          <a:p>
            <a:pPr marL="0" indent="0">
              <a:buNone/>
            </a:pPr>
            <a:r>
              <a:rPr lang="en-US" sz="2400" dirty="0">
                <a:cs typeface="Times New Roman" panose="02020603050405020304" pitchFamily="18" charset="0"/>
              </a:rPr>
              <a:t>        'max' =&gt; 'Your email address is too long!'</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1618027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Autofit/>
          </a:bodyPr>
          <a:lstStyle/>
          <a:p>
            <a:pPr algn="ctr"/>
            <a:r>
              <a:rPr lang="en-US" b="1" u="sng" dirty="0">
                <a:latin typeface="Times New Roman" panose="02020603050405020304" pitchFamily="18" charset="0"/>
                <a:cs typeface="Times New Roman" panose="02020603050405020304" pitchFamily="18" charset="0"/>
              </a:rPr>
              <a:t>Specifying Attributes In Language Files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b="1" u="sng" dirty="0">
                <a:latin typeface="Times New Roman" panose="02020603050405020304" pitchFamily="18" charset="0"/>
                <a:cs typeface="Times New Roman" panose="02020603050405020304" pitchFamily="18" charset="0"/>
              </a:rPr>
              <a:t>Replacing default :attribute Placeholder</a:t>
            </a:r>
          </a:p>
          <a:p>
            <a:pPr marL="0" indent="0">
              <a:buNone/>
            </a:pPr>
            <a:r>
              <a:rPr lang="en-US" sz="2400" dirty="0">
                <a:latin typeface="Times New Roman" panose="02020603050405020304" pitchFamily="18" charset="0"/>
                <a:cs typeface="Times New Roman" panose="02020603050405020304" pitchFamily="18" charset="0"/>
              </a:rPr>
              <a:t>Many of Laravel's built-in error messages include an :attribute: placeholder that is replaced with the name of the field or attribute under validation. </a:t>
            </a:r>
          </a:p>
          <a:p>
            <a:pPr marL="0" indent="0">
              <a:buNone/>
            </a:pPr>
            <a:r>
              <a:rPr lang="en-US" sz="2400" dirty="0">
                <a:latin typeface="Times New Roman" panose="02020603050405020304" pitchFamily="18" charset="0"/>
                <a:cs typeface="Times New Roman" panose="02020603050405020304" pitchFamily="18" charset="0"/>
              </a:rPr>
              <a:t>If you would like the :attribute portion of your validation message to be replaced with a custom value, you may specify the custom attribute name in the attributes array of your resources/</a:t>
            </a:r>
            <a:r>
              <a:rPr lang="en-US" sz="2400" dirty="0" err="1">
                <a:latin typeface="Times New Roman" panose="02020603050405020304" pitchFamily="18" charset="0"/>
                <a:cs typeface="Times New Roman" panose="02020603050405020304" pitchFamily="18" charset="0"/>
              </a:rPr>
              <a:t>lang</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en</a:t>
            </a:r>
            <a:r>
              <a:rPr lang="en-US" sz="2400" dirty="0">
                <a:latin typeface="Times New Roman" panose="02020603050405020304" pitchFamily="18" charset="0"/>
                <a:cs typeface="Times New Roman" panose="02020603050405020304" pitchFamily="18" charset="0"/>
              </a:rPr>
              <a:t>/</a:t>
            </a:r>
            <a:r>
              <a:rPr lang="en-US" sz="2400" dirty="0" err="1">
                <a:latin typeface="Times New Roman" panose="02020603050405020304" pitchFamily="18" charset="0"/>
                <a:cs typeface="Times New Roman" panose="02020603050405020304" pitchFamily="18" charset="0"/>
              </a:rPr>
              <a:t>validation.php</a:t>
            </a:r>
            <a:r>
              <a:rPr lang="en-US" sz="2400" dirty="0">
                <a:latin typeface="Times New Roman" panose="02020603050405020304" pitchFamily="18" charset="0"/>
                <a:cs typeface="Times New Roman" panose="02020603050405020304" pitchFamily="18" charset="0"/>
              </a:rPr>
              <a:t> language file:</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'attributes' =&gt; [</a:t>
            </a:r>
          </a:p>
          <a:p>
            <a:pPr marL="0" indent="0">
              <a:buNone/>
            </a:pPr>
            <a:r>
              <a:rPr lang="en-US" sz="2400" dirty="0">
                <a:cs typeface="Times New Roman" panose="02020603050405020304" pitchFamily="18" charset="0"/>
              </a:rPr>
              <a:t>    'email' =&gt; 'email address',</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450679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Repopulating Form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retrieve flashed input from the previous request, invoke the old method on an instance of Illuminate\Http\Request. </a:t>
            </a:r>
          </a:p>
          <a:p>
            <a:pPr marL="0" indent="0">
              <a:buNone/>
            </a:pPr>
            <a:r>
              <a:rPr lang="en-US" sz="2400" dirty="0">
                <a:latin typeface="Times New Roman" panose="02020603050405020304" pitchFamily="18" charset="0"/>
                <a:cs typeface="Times New Roman" panose="02020603050405020304" pitchFamily="18" charset="0"/>
              </a:rPr>
              <a:t>The old method will pull the previously flashed input data from the session.</a:t>
            </a:r>
          </a:p>
          <a:p>
            <a:pPr marL="0" indent="0">
              <a:buNone/>
            </a:pPr>
            <a:r>
              <a:rPr lang="en-US" sz="2400" dirty="0">
                <a:cs typeface="Times New Roman" panose="02020603050405020304" pitchFamily="18" charset="0"/>
              </a:rPr>
              <a:t>$name = $request-&gt;old(‘name’);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Laravel also provides a global old helper. If you are displaying old input within a Blade template, it is more convenient to use the old helper to repopulate the form. </a:t>
            </a:r>
          </a:p>
          <a:p>
            <a:pPr marL="0" indent="0">
              <a:buNone/>
            </a:pPr>
            <a:r>
              <a:rPr lang="en-US" sz="2400" dirty="0">
                <a:latin typeface="Times New Roman" panose="02020603050405020304" pitchFamily="18" charset="0"/>
                <a:cs typeface="Times New Roman" panose="02020603050405020304" pitchFamily="18" charset="0"/>
              </a:rPr>
              <a:t>If no old input exists for the given field, null will be returned.</a:t>
            </a:r>
          </a:p>
          <a:p>
            <a:pPr marL="0" indent="0">
              <a:buNone/>
            </a:pPr>
            <a:r>
              <a:rPr lang="en-US" sz="2400" dirty="0">
                <a:cs typeface="Times New Roman" panose="02020603050405020304" pitchFamily="18" charset="0"/>
              </a:rPr>
              <a:t>&lt;input type="text" name=“name" value="{{ old(‘name') }}"&gt;</a:t>
            </a:r>
          </a:p>
        </p:txBody>
      </p:sp>
    </p:spTree>
    <p:extLst>
      <p:ext uri="{BB962C8B-B14F-4D97-AF65-F5344CB8AC3E}">
        <p14:creationId xmlns:p14="http://schemas.microsoft.com/office/powerpoint/2010/main" val="245751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Custom Validation Rules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r>
              <a:rPr lang="en-US" sz="2400" dirty="0">
                <a:latin typeface="Times New Roman" panose="02020603050405020304" pitchFamily="18" charset="0"/>
                <a:cs typeface="Times New Roman" panose="02020603050405020304" pitchFamily="18" charset="0"/>
              </a:rPr>
              <a:t>Using Rule Objects</a:t>
            </a:r>
          </a:p>
          <a:p>
            <a:r>
              <a:rPr lang="en-US" sz="2400" dirty="0">
                <a:latin typeface="Times New Roman" panose="02020603050405020304" pitchFamily="18" charset="0"/>
                <a:cs typeface="Times New Roman" panose="02020603050405020304" pitchFamily="18" charset="0"/>
              </a:rPr>
              <a:t>Using Closures</a:t>
            </a:r>
          </a:p>
        </p:txBody>
      </p:sp>
    </p:spTree>
    <p:extLst>
      <p:ext uri="{BB962C8B-B14F-4D97-AF65-F5344CB8AC3E}">
        <p14:creationId xmlns:p14="http://schemas.microsoft.com/office/powerpoint/2010/main" val="3278037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Using Rule Objects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To generate a new rule object, you may use the </a:t>
            </a:r>
            <a:r>
              <a:rPr lang="en-US" sz="2400" dirty="0" err="1">
                <a:latin typeface="Times New Roman" panose="02020603050405020304" pitchFamily="18" charset="0"/>
                <a:cs typeface="Times New Roman" panose="02020603050405020304" pitchFamily="18" charset="0"/>
              </a:rPr>
              <a:t>make:rule</a:t>
            </a:r>
            <a:r>
              <a:rPr lang="en-US" sz="2400" dirty="0">
                <a:latin typeface="Times New Roman" panose="02020603050405020304" pitchFamily="18" charset="0"/>
                <a:cs typeface="Times New Roman" panose="02020603050405020304" pitchFamily="18" charset="0"/>
              </a:rPr>
              <a:t> Artisan command. </a:t>
            </a:r>
          </a:p>
          <a:p>
            <a:pPr marL="0" indent="0">
              <a:buNone/>
            </a:pPr>
            <a:r>
              <a:rPr lang="en-US" sz="2400" dirty="0">
                <a:latin typeface="Times New Roman" panose="02020603050405020304" pitchFamily="18" charset="0"/>
                <a:cs typeface="Times New Roman" panose="02020603050405020304" pitchFamily="18" charset="0"/>
              </a:rPr>
              <a:t>Laravel will place the new rule in the app/Rules directory. If this directory does not exist, Laravel will create it when you execute the Artisan command to create your rule.</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make:rule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RuleName</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724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Using Rule Objects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cs typeface="Times New Roman" panose="02020603050405020304" pitchFamily="18" charset="0"/>
              </a:rPr>
              <a:t>&lt;?php</a:t>
            </a:r>
          </a:p>
          <a:p>
            <a:pPr marL="0" indent="0">
              <a:buNone/>
            </a:pPr>
            <a:r>
              <a:rPr lang="en-US" sz="2400" dirty="0">
                <a:cs typeface="Times New Roman" panose="02020603050405020304" pitchFamily="18" charset="0"/>
              </a:rPr>
              <a:t>namespace App\Rules;</a:t>
            </a:r>
          </a:p>
          <a:p>
            <a:pPr marL="0" indent="0">
              <a:buNone/>
            </a:pPr>
            <a:r>
              <a:rPr lang="en-US" sz="2400" dirty="0">
                <a:cs typeface="Times New Roman" panose="02020603050405020304" pitchFamily="18" charset="0"/>
              </a:rPr>
              <a:t>use Illuminate\Contracts\Validation\Rule;</a:t>
            </a:r>
          </a:p>
          <a:p>
            <a:pPr marL="0" indent="0">
              <a:buNone/>
            </a:pPr>
            <a:r>
              <a:rPr lang="en-US" sz="2400" dirty="0">
                <a:cs typeface="Times New Roman" panose="02020603050405020304" pitchFamily="18" charset="0"/>
              </a:rPr>
              <a:t>class Uppercase implements Rule {</a:t>
            </a:r>
          </a:p>
          <a:p>
            <a:pPr marL="0" indent="0">
              <a:buNone/>
            </a:pPr>
            <a:r>
              <a:rPr lang="en-US" sz="2400" dirty="0">
                <a:cs typeface="Times New Roman" panose="02020603050405020304" pitchFamily="18" charset="0"/>
              </a:rPr>
              <a:t>    public function passes($attribute, $value)  {</a:t>
            </a:r>
          </a:p>
          <a:p>
            <a:pPr marL="0" indent="0">
              <a:buNone/>
            </a:pPr>
            <a:r>
              <a:rPr lang="en-US" sz="2400" dirty="0">
                <a:cs typeface="Times New Roman" panose="02020603050405020304" pitchFamily="18" charset="0"/>
              </a:rPr>
              <a:t>        return </a:t>
            </a:r>
            <a:r>
              <a:rPr lang="en-US" sz="2400" dirty="0" err="1">
                <a:cs typeface="Times New Roman" panose="02020603050405020304" pitchFamily="18" charset="0"/>
              </a:rPr>
              <a:t>strtoupper</a:t>
            </a:r>
            <a:r>
              <a:rPr lang="en-US" sz="2400" dirty="0">
                <a:cs typeface="Times New Roman" panose="02020603050405020304" pitchFamily="18" charset="0"/>
              </a:rPr>
              <a:t>($value) === $value;</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public function message()   {</a:t>
            </a:r>
          </a:p>
          <a:p>
            <a:pPr marL="0" indent="0">
              <a:buNone/>
            </a:pPr>
            <a:r>
              <a:rPr lang="en-US" sz="2400" dirty="0">
                <a:cs typeface="Times New Roman" panose="02020603050405020304" pitchFamily="18" charset="0"/>
              </a:rPr>
              <a:t>        return 'The :attribute must be uppercase.';</a:t>
            </a:r>
          </a:p>
          <a:p>
            <a:pPr marL="0" indent="0">
              <a:buNone/>
            </a:pPr>
            <a:r>
              <a:rPr lang="en-US" sz="2400" dirty="0">
                <a:cs typeface="Times New Roman" panose="02020603050405020304" pitchFamily="18" charset="0"/>
              </a:rPr>
              <a:t>    } }</a:t>
            </a:r>
          </a:p>
        </p:txBody>
      </p:sp>
      <p:sp>
        <p:nvSpPr>
          <p:cNvPr id="4" name="Rectangle 3">
            <a:extLst>
              <a:ext uri="{FF2B5EF4-FFF2-40B4-BE49-F238E27FC236}">
                <a16:creationId xmlns:a16="http://schemas.microsoft.com/office/drawing/2014/main" id="{078B8D65-6399-42EB-983F-ACCE7BFFC0B7}"/>
              </a:ext>
            </a:extLst>
          </p:cNvPr>
          <p:cNvSpPr/>
          <p:nvPr/>
        </p:nvSpPr>
        <p:spPr>
          <a:xfrm>
            <a:off x="5837382" y="1176805"/>
            <a:ext cx="6096000" cy="1015663"/>
          </a:xfrm>
          <a:prstGeom prst="rect">
            <a:avLst/>
          </a:prstGeom>
          <a:ln w="38100">
            <a:solidFill>
              <a:srgbClr val="FFFF00"/>
            </a:solidFill>
          </a:ln>
        </p:spPr>
        <p:txBody>
          <a:bodyPr>
            <a:spAutoFit/>
          </a:bodyPr>
          <a:lstStyle/>
          <a:p>
            <a:r>
              <a:rPr lang="en-US" sz="2000" dirty="0"/>
              <a:t>The passes method receives the attribute value and name, and should return true or false depending on whether the attribute value is valid or not.</a:t>
            </a:r>
          </a:p>
        </p:txBody>
      </p:sp>
      <p:sp>
        <p:nvSpPr>
          <p:cNvPr id="5" name="Rectangle 4">
            <a:extLst>
              <a:ext uri="{FF2B5EF4-FFF2-40B4-BE49-F238E27FC236}">
                <a16:creationId xmlns:a16="http://schemas.microsoft.com/office/drawing/2014/main" id="{6EF99F08-775B-4268-BD53-88D03C6E6968}"/>
              </a:ext>
            </a:extLst>
          </p:cNvPr>
          <p:cNvSpPr/>
          <p:nvPr/>
        </p:nvSpPr>
        <p:spPr>
          <a:xfrm>
            <a:off x="6280728" y="3784600"/>
            <a:ext cx="4922982" cy="1015663"/>
          </a:xfrm>
          <a:prstGeom prst="rect">
            <a:avLst/>
          </a:prstGeom>
          <a:ln w="38100">
            <a:solidFill>
              <a:srgbClr val="FFFF00"/>
            </a:solidFill>
          </a:ln>
        </p:spPr>
        <p:txBody>
          <a:bodyPr wrap="square">
            <a:spAutoFit/>
          </a:bodyPr>
          <a:lstStyle/>
          <a:p>
            <a:r>
              <a:rPr lang="en-US" sz="2000" dirty="0"/>
              <a:t>The message method should return the validation error message that should be used when validation fails</a:t>
            </a:r>
          </a:p>
        </p:txBody>
      </p:sp>
      <p:cxnSp>
        <p:nvCxnSpPr>
          <p:cNvPr id="7" name="Straight Arrow Connector 6">
            <a:extLst>
              <a:ext uri="{FF2B5EF4-FFF2-40B4-BE49-F238E27FC236}">
                <a16:creationId xmlns:a16="http://schemas.microsoft.com/office/drawing/2014/main" id="{13D41147-0F21-4370-A509-44C135AB72DA}"/>
              </a:ext>
            </a:extLst>
          </p:cNvPr>
          <p:cNvCxnSpPr/>
          <p:nvPr/>
        </p:nvCxnSpPr>
        <p:spPr>
          <a:xfrm flipH="1">
            <a:off x="5708073" y="2192468"/>
            <a:ext cx="1754909" cy="901714"/>
          </a:xfrm>
          <a:prstGeom prst="straightConnector1">
            <a:avLst/>
          </a:prstGeom>
          <a:ln w="38100">
            <a:solidFill>
              <a:srgbClr val="FFFF00"/>
            </a:solidFill>
            <a:tailEnd type="triangle"/>
          </a:ln>
        </p:spPr>
        <p:style>
          <a:lnRef idx="1">
            <a:schemeClr val="accent6"/>
          </a:lnRef>
          <a:fillRef idx="0">
            <a:schemeClr val="accent6"/>
          </a:fillRef>
          <a:effectRef idx="0">
            <a:schemeClr val="accent6"/>
          </a:effectRef>
          <a:fontRef idx="minor">
            <a:schemeClr val="tx1"/>
          </a:fontRef>
        </p:style>
      </p:cxnSp>
      <p:cxnSp>
        <p:nvCxnSpPr>
          <p:cNvPr id="9" name="Straight Arrow Connector 8">
            <a:extLst>
              <a:ext uri="{FF2B5EF4-FFF2-40B4-BE49-F238E27FC236}">
                <a16:creationId xmlns:a16="http://schemas.microsoft.com/office/drawing/2014/main" id="{B59831B8-39F6-4735-9E4E-E062747BFD4E}"/>
              </a:ext>
            </a:extLst>
          </p:cNvPr>
          <p:cNvCxnSpPr/>
          <p:nvPr/>
        </p:nvCxnSpPr>
        <p:spPr>
          <a:xfrm flipH="1">
            <a:off x="4599709" y="4267200"/>
            <a:ext cx="1644073" cy="398333"/>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45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500"/>
                                        <p:tgtEl>
                                          <p:spTgt spid="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9"/>
                                        </p:tgtEl>
                                        <p:attrNameLst>
                                          <p:attrName>style.visibility</p:attrName>
                                        </p:attrNameLst>
                                      </p:cBhvr>
                                      <p:to>
                                        <p:strVal val="visible"/>
                                      </p:to>
                                    </p:set>
                                    <p:animEffect transition="in" filter="fade">
                                      <p:cBhvr>
                                        <p:cTn id="65" dur="500"/>
                                        <p:tgtEl>
                                          <p:spTgt spid="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Using Rule Objects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use App\Rules\Uppercase;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cs typeface="Times New Roman" panose="02020603050405020304" pitchFamily="18" charset="0"/>
              </a:rPr>
              <a:t>$request-&gt;validate([</a:t>
            </a:r>
          </a:p>
          <a:p>
            <a:pPr marL="0" indent="0">
              <a:buNone/>
            </a:pPr>
            <a:r>
              <a:rPr lang="en-US" sz="2400" dirty="0">
                <a:cs typeface="Times New Roman" panose="02020603050405020304" pitchFamily="18" charset="0"/>
              </a:rPr>
              <a:t>    'name' =&gt; ['required', 'string', new Uppercase],</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12525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400" b="1" u="sng" dirty="0">
                <a:latin typeface="Times New Roman" panose="02020603050405020304" pitchFamily="18" charset="0"/>
                <a:cs typeface="Times New Roman" panose="02020603050405020304" pitchFamily="18" charset="0"/>
              </a:rPr>
              <a:t>Using Closures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If you only need the functionality of a custom rule once throughout your application, you may use a closure instead of a rule object. The closure receives the attribute's name, the attribute's value, and a $fail callback that should be called if validation fails.</a:t>
            </a:r>
          </a:p>
          <a:p>
            <a:pPr marL="0" indent="0">
              <a:buNone/>
            </a:pPr>
            <a:r>
              <a:rPr lang="en-US" sz="2000" dirty="0">
                <a:cs typeface="Times New Roman" panose="02020603050405020304" pitchFamily="18" charset="0"/>
              </a:rPr>
              <a:t>use Illuminate\Support\Facades\Validator;</a:t>
            </a:r>
          </a:p>
          <a:p>
            <a:pPr marL="0" indent="0">
              <a:buNone/>
            </a:pPr>
            <a:r>
              <a:rPr lang="en-US" sz="2000" dirty="0">
                <a:cs typeface="Times New Roman" panose="02020603050405020304" pitchFamily="18" charset="0"/>
              </a:rPr>
              <a:t>$validator = Validator::make($request-&gt;all(), [</a:t>
            </a:r>
          </a:p>
          <a:p>
            <a:pPr marL="0" indent="0">
              <a:buNone/>
            </a:pPr>
            <a:r>
              <a:rPr lang="en-US" sz="2000" dirty="0">
                <a:cs typeface="Times New Roman" panose="02020603050405020304" pitchFamily="18" charset="0"/>
              </a:rPr>
              <a:t>    ‘name' =&gt; [</a:t>
            </a:r>
          </a:p>
          <a:p>
            <a:pPr marL="0" indent="0">
              <a:buNone/>
            </a:pPr>
            <a:r>
              <a:rPr lang="en-US" sz="2000" dirty="0">
                <a:cs typeface="Times New Roman" panose="02020603050405020304" pitchFamily="18" charset="0"/>
              </a:rPr>
              <a:t>        'required',</a:t>
            </a:r>
          </a:p>
          <a:p>
            <a:pPr marL="0" indent="0">
              <a:buNone/>
            </a:pPr>
            <a:r>
              <a:rPr lang="en-US" sz="2000" dirty="0">
                <a:cs typeface="Times New Roman" panose="02020603050405020304" pitchFamily="18" charset="0"/>
              </a:rPr>
              <a:t>        ‘max:20',</a:t>
            </a:r>
          </a:p>
          <a:p>
            <a:pPr marL="0" indent="0">
              <a:buNone/>
            </a:pPr>
            <a:r>
              <a:rPr lang="en-US" sz="2000" dirty="0">
                <a:cs typeface="Times New Roman" panose="02020603050405020304" pitchFamily="18" charset="0"/>
              </a:rPr>
              <a:t>        function ($attribute, $value, $fail) {</a:t>
            </a:r>
          </a:p>
          <a:p>
            <a:pPr marL="0" indent="0">
              <a:buNone/>
            </a:pPr>
            <a:r>
              <a:rPr lang="en-US" sz="2000" dirty="0">
                <a:cs typeface="Times New Roman" panose="02020603050405020304" pitchFamily="18" charset="0"/>
              </a:rPr>
              <a:t>            if ($value === ‘</a:t>
            </a:r>
            <a:r>
              <a:rPr lang="en-US" sz="2000" dirty="0" err="1">
                <a:cs typeface="Times New Roman" panose="02020603050405020304" pitchFamily="18" charset="0"/>
              </a:rPr>
              <a:t>sonam</a:t>
            </a:r>
            <a:r>
              <a:rPr lang="en-US" sz="2000" dirty="0">
                <a:cs typeface="Times New Roman" panose="02020603050405020304" pitchFamily="18" charset="0"/>
              </a:rPr>
              <a:t>') {</a:t>
            </a:r>
          </a:p>
          <a:p>
            <a:pPr marL="0" indent="0">
              <a:buNone/>
            </a:pPr>
            <a:r>
              <a:rPr lang="en-US" sz="2000" dirty="0">
                <a:cs typeface="Times New Roman" panose="02020603050405020304" pitchFamily="18" charset="0"/>
              </a:rPr>
              <a:t>                $fail('The '.$attribute.' is invalid.');</a:t>
            </a:r>
          </a:p>
          <a:p>
            <a:pPr marL="0" indent="0">
              <a:buNone/>
            </a:pPr>
            <a:r>
              <a:rPr lang="en-US" sz="2000" dirty="0">
                <a:cs typeface="Times New Roman" panose="02020603050405020304" pitchFamily="18" charset="0"/>
              </a:rPr>
              <a:t>            }</a:t>
            </a:r>
          </a:p>
          <a:p>
            <a:pPr marL="0" indent="0">
              <a:buNone/>
            </a:pPr>
            <a:r>
              <a:rPr lang="en-US" sz="2000" dirty="0">
                <a:cs typeface="Times New Roman" panose="02020603050405020304" pitchFamily="18" charset="0"/>
              </a:rPr>
              <a:t>        },  ],]);</a:t>
            </a:r>
          </a:p>
        </p:txBody>
      </p:sp>
    </p:spTree>
    <p:extLst>
      <p:ext uri="{BB962C8B-B14F-4D97-AF65-F5344CB8AC3E}">
        <p14:creationId xmlns:p14="http://schemas.microsoft.com/office/powerpoint/2010/main" val="1239342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Form Request Validation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 more complex validation scenarios, you may wish to create a "form request". </a:t>
            </a:r>
          </a:p>
          <a:p>
            <a:pPr marL="0" indent="0">
              <a:buNone/>
            </a:pPr>
            <a:r>
              <a:rPr lang="en-US" sz="2400" dirty="0">
                <a:latin typeface="Times New Roman" panose="02020603050405020304" pitchFamily="18" charset="0"/>
                <a:cs typeface="Times New Roman" panose="02020603050405020304" pitchFamily="18" charset="0"/>
              </a:rPr>
              <a:t>Form requests are custom request classes that encapsulate their own validation and authorization logic. </a:t>
            </a:r>
          </a:p>
          <a:p>
            <a:pPr marL="0" indent="0">
              <a:buNone/>
            </a:pPr>
            <a:r>
              <a:rPr lang="en-US" sz="2400" dirty="0">
                <a:latin typeface="Times New Roman" panose="02020603050405020304" pitchFamily="18" charset="0"/>
                <a:cs typeface="Times New Roman" panose="02020603050405020304" pitchFamily="18" charset="0"/>
              </a:rPr>
              <a:t>To create a form request class, you may use the </a:t>
            </a:r>
            <a:r>
              <a:rPr lang="en-US" sz="2400" dirty="0" err="1">
                <a:latin typeface="Times New Roman" panose="02020603050405020304" pitchFamily="18" charset="0"/>
                <a:cs typeface="Times New Roman" panose="02020603050405020304" pitchFamily="18" charset="0"/>
              </a:rPr>
              <a:t>make:request</a:t>
            </a:r>
            <a:r>
              <a:rPr lang="en-US" sz="2400" dirty="0">
                <a:latin typeface="Times New Roman" panose="02020603050405020304" pitchFamily="18" charset="0"/>
                <a:cs typeface="Times New Roman" panose="02020603050405020304" pitchFamily="18" charset="0"/>
              </a:rPr>
              <a:t> Artisan CLI command:</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make:request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RegistrationRequest</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The generated form request class will be placed in the app/Http/Requests directory.</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088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Form Request Validation</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 authorize() method is responsible for determining if the currently authenticated user can perform the action represented by the request.</a:t>
            </a:r>
          </a:p>
          <a:p>
            <a:pPr marL="0" indent="0">
              <a:buNone/>
            </a:pPr>
            <a:r>
              <a:rPr lang="en-US" sz="2400" dirty="0">
                <a:latin typeface="Times New Roman" panose="02020603050405020304" pitchFamily="18" charset="0"/>
                <a:cs typeface="Times New Roman" panose="02020603050405020304" pitchFamily="18" charset="0"/>
              </a:rPr>
              <a:t>The rules() method returns the validation rules that should apply to the request's data.</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227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Customizing The Error Messages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may customize the error messages used by the form request by overriding the messages method. This method should return an array of attribute / rule pairs and their corresponding error messages.</a:t>
            </a:r>
          </a:p>
          <a:p>
            <a:pPr marL="0" indent="0">
              <a:buNone/>
            </a:pPr>
            <a:r>
              <a:rPr lang="en-US" sz="2400" dirty="0">
                <a:cs typeface="Times New Roman" panose="02020603050405020304" pitchFamily="18" charset="0"/>
              </a:rPr>
              <a:t>public function messages()</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return [</a:t>
            </a:r>
          </a:p>
          <a:p>
            <a:pPr marL="0" indent="0">
              <a:buNone/>
            </a:pPr>
            <a:r>
              <a:rPr lang="en-US" sz="2400" dirty="0">
                <a:cs typeface="Times New Roman" panose="02020603050405020304" pitchFamily="18" charset="0"/>
              </a:rPr>
              <a:t>        ‘</a:t>
            </a:r>
            <a:r>
              <a:rPr lang="en-US" sz="2400" dirty="0" err="1">
                <a:cs typeface="Times New Roman" panose="02020603050405020304" pitchFamily="18" charset="0"/>
              </a:rPr>
              <a:t>name.required</a:t>
            </a:r>
            <a:r>
              <a:rPr lang="en-US" sz="2400" dirty="0">
                <a:cs typeface="Times New Roman" panose="02020603050405020304" pitchFamily="18" charset="0"/>
              </a:rPr>
              <a:t>' =&gt; ‘Naam </a:t>
            </a:r>
            <a:r>
              <a:rPr lang="en-US" sz="2400" dirty="0" err="1">
                <a:cs typeface="Times New Roman" panose="02020603050405020304" pitchFamily="18" charset="0"/>
              </a:rPr>
              <a:t>Jaruri</a:t>
            </a:r>
            <a:r>
              <a:rPr lang="en-US" sz="2400" dirty="0">
                <a:cs typeface="Times New Roman" panose="02020603050405020304" pitchFamily="18" charset="0"/>
              </a:rPr>
              <a:t> </a:t>
            </a:r>
            <a:r>
              <a:rPr lang="en-US" sz="2400" dirty="0" err="1">
                <a:cs typeface="Times New Roman" panose="02020603050405020304" pitchFamily="18" charset="0"/>
              </a:rPr>
              <a:t>hai</a:t>
            </a:r>
            <a:r>
              <a:rPr lang="en-US" sz="2400" dirty="0">
                <a:cs typeface="Times New Roman" panose="02020603050405020304" pitchFamily="18" charset="0"/>
              </a:rPr>
              <a:t>',</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3210206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fontScale="90000"/>
          </a:bodyPr>
          <a:lstStyle/>
          <a:p>
            <a:pPr algn="ctr"/>
            <a:r>
              <a:rPr lang="en-US" sz="5333" b="1" u="sng" dirty="0">
                <a:latin typeface="Times New Roman" panose="02020603050405020304" pitchFamily="18" charset="0"/>
                <a:cs typeface="Times New Roman" panose="02020603050405020304" pitchFamily="18" charset="0"/>
              </a:rPr>
              <a:t>Customizing The Validation Attributes</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Many of Laravel's built-in validation rule error messages contain an :attribute placeholder. If you would like the :attribute placeholder of your validation message to be replaced with a custom attribute name, you may specify the custom names by overriding the attributes method. This method should return an array of attribute / name pairs.</a:t>
            </a:r>
          </a:p>
          <a:p>
            <a:pPr marL="0" indent="0">
              <a:buNone/>
            </a:pPr>
            <a:r>
              <a:rPr lang="en-US" sz="2400" dirty="0">
                <a:cs typeface="Times New Roman" panose="02020603050405020304" pitchFamily="18" charset="0"/>
              </a:rPr>
              <a:t>public function attributes()</a:t>
            </a:r>
          </a:p>
          <a:p>
            <a:pPr marL="0" indent="0">
              <a:buNone/>
            </a:pPr>
            <a:r>
              <a:rPr lang="en-US" sz="2400" dirty="0">
                <a:cs typeface="Times New Roman" panose="02020603050405020304" pitchFamily="18" charset="0"/>
              </a:rPr>
              <a:t>{</a:t>
            </a:r>
          </a:p>
          <a:p>
            <a:pPr marL="0" indent="0">
              <a:buNone/>
            </a:pPr>
            <a:r>
              <a:rPr lang="en-US" sz="2400" dirty="0">
                <a:cs typeface="Times New Roman" panose="02020603050405020304" pitchFamily="18" charset="0"/>
              </a:rPr>
              <a:t>    return [</a:t>
            </a:r>
          </a:p>
          <a:p>
            <a:pPr marL="0" indent="0">
              <a:buNone/>
            </a:pPr>
            <a:r>
              <a:rPr lang="en-US" sz="2400" dirty="0">
                <a:cs typeface="Times New Roman" panose="02020603050405020304" pitchFamily="18" charset="0"/>
              </a:rPr>
              <a:t>        'email' =&gt; 'email address',</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3158693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985</TotalTime>
  <Words>2446</Words>
  <Application>Microsoft Office PowerPoint</Application>
  <PresentationFormat>Widescreen</PresentationFormat>
  <Paragraphs>257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Light</vt:lpstr>
      <vt:lpstr>Times New Roman</vt:lpstr>
      <vt:lpstr>Office Theme</vt:lpstr>
      <vt:lpstr>Form</vt:lpstr>
      <vt:lpstr>Creating Form</vt:lpstr>
      <vt:lpstr>@csrf</vt:lpstr>
      <vt:lpstr>Accessing Form Data</vt:lpstr>
      <vt:lpstr>Accessing Form Data</vt:lpstr>
      <vt:lpstr>Validating Form</vt:lpstr>
      <vt:lpstr>Validate ( ) Method</vt:lpstr>
      <vt:lpstr>Validate ( ) Method</vt:lpstr>
      <vt:lpstr>Validation Rules</vt:lpstr>
      <vt:lpstr>Validation Rules</vt:lpstr>
      <vt:lpstr>Validation Rules</vt:lpstr>
      <vt:lpstr>Validation Rules</vt:lpstr>
      <vt:lpstr>Validation Rules</vt:lpstr>
      <vt:lpstr>Validation Rules</vt:lpstr>
      <vt:lpstr>Validation Rules</vt:lpstr>
      <vt:lpstr>Validation Rules</vt:lpstr>
      <vt:lpstr>Displaying Validation Errors</vt:lpstr>
      <vt:lpstr>Displaying Error Messages</vt:lpstr>
      <vt:lpstr>Displaying Error Messages</vt:lpstr>
      <vt:lpstr>Displaying Error Messages</vt:lpstr>
      <vt:lpstr>Displaying Error Messages</vt:lpstr>
      <vt:lpstr>Error Directive</vt:lpstr>
      <vt:lpstr>Specifying Custom Messages In Language Files</vt:lpstr>
      <vt:lpstr>Specifying Custom Messages In Language Files</vt:lpstr>
      <vt:lpstr>Specifying Attributes In Language Files</vt:lpstr>
      <vt:lpstr>Repopulating Form</vt:lpstr>
      <vt:lpstr>Custom Validation Rules</vt:lpstr>
      <vt:lpstr>Using Rule Objects</vt:lpstr>
      <vt:lpstr>Using Rule Objects</vt:lpstr>
      <vt:lpstr>Using Rule Objects</vt:lpstr>
      <vt:lpstr>Using Closures</vt:lpstr>
      <vt:lpstr>Form Request Validation</vt:lpstr>
      <vt:lpstr>Form Request Validation</vt:lpstr>
      <vt:lpstr>Customizing The Error Messages</vt:lpstr>
      <vt:lpstr>Customizing The Validation Attributes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212</cp:revision>
  <dcterms:created xsi:type="dcterms:W3CDTF">2020-01-16T07:28:28Z</dcterms:created>
  <dcterms:modified xsi:type="dcterms:W3CDTF">2021-04-02T14:51:29Z</dcterms:modified>
</cp:coreProperties>
</file>