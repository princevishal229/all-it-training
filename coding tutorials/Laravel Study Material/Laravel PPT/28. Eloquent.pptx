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7" r:id="rId3"/>
    <p:sldId id="307" r:id="rId4"/>
    <p:sldId id="308" r:id="rId5"/>
    <p:sldId id="278" r:id="rId6"/>
    <p:sldId id="279" r:id="rId7"/>
    <p:sldId id="280" r:id="rId8"/>
    <p:sldId id="281" r:id="rId9"/>
    <p:sldId id="282" r:id="rId10"/>
    <p:sldId id="283" r:id="rId11"/>
    <p:sldId id="284" r:id="rId12"/>
    <p:sldId id="286" r:id="rId13"/>
    <p:sldId id="287"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6" r:id="rId27"/>
    <p:sldId id="301" r:id="rId28"/>
    <p:sldId id="302" r:id="rId29"/>
    <p:sldId id="303" r:id="rId30"/>
    <p:sldId id="30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4/11/2021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4/11/2021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Eloquent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Laravel includes Eloquent, an object-relational mapper (ORM) that makes it enjoyable to interact with your database.</a:t>
            </a:r>
          </a:p>
          <a:p>
            <a:pPr marL="0" indent="0">
              <a:buNone/>
            </a:pPr>
            <a:r>
              <a:rPr lang="en-US" sz="2400" dirty="0">
                <a:latin typeface="Times New Roman" panose="02020603050405020304" pitchFamily="18" charset="0"/>
                <a:cs typeface="Times New Roman" panose="02020603050405020304" pitchFamily="18" charset="0"/>
              </a:rPr>
              <a:t>When using Eloquent, each database table has a corresponding "Model" that is used to interact with that table.</a:t>
            </a:r>
          </a:p>
          <a:p>
            <a:pPr marL="0" indent="0">
              <a:buNone/>
            </a:pPr>
            <a:r>
              <a:rPr lang="en-US" sz="2400" dirty="0">
                <a:latin typeface="Times New Roman" panose="02020603050405020304" pitchFamily="18" charset="0"/>
                <a:cs typeface="Times New Roman" panose="02020603050405020304" pitchFamily="18" charset="0"/>
              </a:rPr>
              <a:t>In addition to retrieving records from the database table, Eloquent models allow you to insert, update, and delete records from the table as well.</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Generating Model Classes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Models typically live in the app\Models directory and extend the Illuminate\Database\Eloquent\Model class. You may use the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Artisan command to generate a new model.</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you would like to generate a database migration when you generate the model, you may use the --migration or -m option.</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–migration</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–m</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10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Generating Model Classes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 Generate a model and a Factory class...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--factory</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-f</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Generate a model and a Seeder class...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--seed</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Generate a model and a Controller class...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--controller</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-c</a:t>
            </a:r>
          </a:p>
        </p:txBody>
      </p:sp>
    </p:spTree>
    <p:extLst>
      <p:ext uri="{BB962C8B-B14F-4D97-AF65-F5344CB8AC3E}">
        <p14:creationId xmlns:p14="http://schemas.microsoft.com/office/powerpoint/2010/main" val="335958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Generating Model Classes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Generate a model and a migration, factory, seeder, and controller...</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Student -</a:t>
            </a:r>
            <a:r>
              <a:rPr lang="en-US" sz="2400" dirty="0" err="1">
                <a:latin typeface="Times New Roman" panose="02020603050405020304" pitchFamily="18" charset="0"/>
                <a:cs typeface="Times New Roman" panose="02020603050405020304" pitchFamily="18" charset="0"/>
              </a:rPr>
              <a:t>mfsc</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Generate a pivot model...</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make:model</a:t>
            </a:r>
            <a:r>
              <a:rPr lang="en-US" sz="2400" dirty="0">
                <a:latin typeface="Times New Roman" panose="02020603050405020304" pitchFamily="18" charset="0"/>
                <a:cs typeface="Times New Roman" panose="02020603050405020304" pitchFamily="18" charset="0"/>
              </a:rPr>
              <a:t> Member --pivot</a:t>
            </a:r>
          </a:p>
        </p:txBody>
      </p:sp>
    </p:spTree>
    <p:extLst>
      <p:ext uri="{BB962C8B-B14F-4D97-AF65-F5344CB8AC3E}">
        <p14:creationId xmlns:p14="http://schemas.microsoft.com/office/powerpoint/2010/main" val="24898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Model Class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dirty="0">
                <a:cs typeface="Times New Roman" panose="02020603050405020304" pitchFamily="18" charset="0"/>
              </a:rPr>
              <a:t>&lt;?php</a:t>
            </a:r>
          </a:p>
          <a:p>
            <a:pPr marL="0" indent="0">
              <a:buNone/>
            </a:pPr>
            <a:r>
              <a:rPr lang="en-US" dirty="0">
                <a:cs typeface="Times New Roman" panose="02020603050405020304" pitchFamily="18" charset="0"/>
              </a:rPr>
              <a:t>namespace App\Models;</a:t>
            </a:r>
          </a:p>
          <a:p>
            <a:pPr marL="0" indent="0">
              <a:buNone/>
            </a:pPr>
            <a:r>
              <a:rPr lang="en-US" dirty="0">
                <a:cs typeface="Times New Roman" panose="02020603050405020304" pitchFamily="18" charset="0"/>
              </a:rPr>
              <a:t>use Illuminate\Database\Eloquent\Factories\</a:t>
            </a:r>
            <a:r>
              <a:rPr lang="en-US" dirty="0" err="1">
                <a:cs typeface="Times New Roman" panose="02020603050405020304" pitchFamily="18" charset="0"/>
              </a:rPr>
              <a:t>HasFactory</a:t>
            </a:r>
            <a:r>
              <a:rPr lang="en-US" dirty="0">
                <a:cs typeface="Times New Roman" panose="02020603050405020304" pitchFamily="18" charset="0"/>
              </a:rPr>
              <a:t>;</a:t>
            </a:r>
          </a:p>
          <a:p>
            <a:pPr marL="0" indent="0">
              <a:buNone/>
            </a:pPr>
            <a:r>
              <a:rPr lang="en-US" dirty="0">
                <a:cs typeface="Times New Roman" panose="02020603050405020304" pitchFamily="18" charset="0"/>
              </a:rPr>
              <a:t>use Illuminate\Database\Eloquent\Model;</a:t>
            </a:r>
          </a:p>
          <a:p>
            <a:pPr marL="0" indent="0">
              <a:buNone/>
            </a:pPr>
            <a:r>
              <a:rPr lang="en-US" dirty="0">
                <a:cs typeface="Times New Roman" panose="02020603050405020304" pitchFamily="18" charset="0"/>
              </a:rPr>
              <a:t>class Student extends Model</a:t>
            </a:r>
          </a:p>
          <a:p>
            <a:pPr marL="0" indent="0">
              <a:buNone/>
            </a:pPr>
            <a:r>
              <a:rPr lang="en-US" dirty="0">
                <a:cs typeface="Times New Roman" panose="02020603050405020304" pitchFamily="18" charset="0"/>
              </a:rPr>
              <a:t>{</a:t>
            </a:r>
          </a:p>
          <a:p>
            <a:pPr marL="0" indent="0">
              <a:buNone/>
            </a:pPr>
            <a:r>
              <a:rPr lang="en-US" dirty="0">
                <a:cs typeface="Times New Roman" panose="02020603050405020304" pitchFamily="18" charset="0"/>
              </a:rPr>
              <a:t>    use </a:t>
            </a:r>
            <a:r>
              <a:rPr lang="en-US" dirty="0" err="1">
                <a:cs typeface="Times New Roman" panose="02020603050405020304" pitchFamily="18" charset="0"/>
              </a:rPr>
              <a:t>HasFactory</a:t>
            </a:r>
            <a:r>
              <a:rPr lang="en-US" dirty="0">
                <a:cs typeface="Times New Roman" panose="02020603050405020304" pitchFamily="18" charset="0"/>
              </a:rPr>
              <a:t>;</a:t>
            </a:r>
          </a:p>
          <a:p>
            <a:pPr marL="0" indent="0">
              <a:buNone/>
            </a:pPr>
            <a:r>
              <a:rPr lang="en-US" dirty="0">
                <a:cs typeface="Times New Roman" panose="02020603050405020304" pitchFamily="18" charset="0"/>
              </a:rPr>
              <a:t>}</a:t>
            </a:r>
          </a:p>
        </p:txBody>
      </p:sp>
    </p:spTree>
    <p:extLst>
      <p:ext uri="{BB962C8B-B14F-4D97-AF65-F5344CB8AC3E}">
        <p14:creationId xmlns:p14="http://schemas.microsoft.com/office/powerpoint/2010/main" val="75968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Table Name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By convention, the "snake case", plural name of the class will be used as the table name unless another name is explicitly specified.</a:t>
            </a:r>
          </a:p>
          <a:p>
            <a:pPr marL="0" indent="0">
              <a:buNone/>
            </a:pPr>
            <a:r>
              <a:rPr lang="en-US" sz="2400" dirty="0">
                <a:latin typeface="Times New Roman" panose="02020603050405020304" pitchFamily="18" charset="0"/>
                <a:cs typeface="Times New Roman" panose="02020603050405020304" pitchFamily="18" charset="0"/>
              </a:rPr>
              <a:t>Example:- </a:t>
            </a:r>
          </a:p>
          <a:p>
            <a:r>
              <a:rPr lang="en-US" sz="2400" dirty="0">
                <a:latin typeface="Times New Roman" panose="02020603050405020304" pitchFamily="18" charset="0"/>
                <a:cs typeface="Times New Roman" panose="02020603050405020304" pitchFamily="18" charset="0"/>
              </a:rPr>
              <a:t>The Student model stores records in the students table</a:t>
            </a:r>
          </a:p>
          <a:p>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AirTrafficController</a:t>
            </a:r>
            <a:r>
              <a:rPr lang="en-US" sz="2400" dirty="0">
                <a:latin typeface="Times New Roman" panose="02020603050405020304" pitchFamily="18" charset="0"/>
                <a:cs typeface="Times New Roman" panose="02020603050405020304" pitchFamily="18" charset="0"/>
              </a:rPr>
              <a:t> model would store records in an </a:t>
            </a:r>
            <a:r>
              <a:rPr lang="en-US" sz="2400" dirty="0" err="1">
                <a:latin typeface="Times New Roman" panose="02020603050405020304" pitchFamily="18" charset="0"/>
                <a:cs typeface="Times New Roman" panose="02020603050405020304" pitchFamily="18" charset="0"/>
              </a:rPr>
              <a:t>air_traffic_controllers</a:t>
            </a:r>
            <a:r>
              <a:rPr lang="en-US" sz="2400" dirty="0">
                <a:latin typeface="Times New Roman" panose="02020603050405020304" pitchFamily="18" charset="0"/>
                <a:cs typeface="Times New Roman" panose="02020603050405020304" pitchFamily="18" charset="0"/>
              </a:rPr>
              <a:t> table.</a:t>
            </a:r>
          </a:p>
          <a:p>
            <a:r>
              <a:rPr lang="en-US" sz="2400" dirty="0">
                <a:latin typeface="Times New Roman" panose="02020603050405020304" pitchFamily="18" charset="0"/>
                <a:cs typeface="Times New Roman" panose="02020603050405020304" pitchFamily="18" charset="0"/>
              </a:rPr>
              <a:t>If your model's corresponding database table does not fit this convention, you may manually specify the model's table name by defining a table property on the model.</a:t>
            </a:r>
          </a:p>
          <a:p>
            <a:pPr marL="0" indent="0">
              <a:buNone/>
            </a:pPr>
            <a:r>
              <a:rPr lang="en-US" sz="2400" dirty="0">
                <a:latin typeface="Times New Roman" panose="02020603050405020304" pitchFamily="18" charset="0"/>
                <a:cs typeface="Times New Roman" panose="02020603050405020304" pitchFamily="18" charset="0"/>
              </a:rPr>
              <a:t>	protected $table = ‘</a:t>
            </a:r>
            <a:r>
              <a:rPr lang="en-US" sz="2400" dirty="0" err="1">
                <a:latin typeface="Times New Roman" panose="02020603050405020304" pitchFamily="18" charset="0"/>
                <a:cs typeface="Times New Roman" panose="02020603050405020304" pitchFamily="18" charset="0"/>
              </a:rPr>
              <a:t>my_students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7215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Primary Keys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Eloquent will also assume that each model's corresponding database table has a primary key column named id. </a:t>
            </a:r>
          </a:p>
          <a:p>
            <a:pPr marL="0" indent="0">
              <a:buNone/>
            </a:pPr>
            <a:r>
              <a:rPr lang="en-US" sz="2400" dirty="0">
                <a:latin typeface="Times New Roman" panose="02020603050405020304" pitchFamily="18" charset="0"/>
                <a:cs typeface="Times New Roman" panose="02020603050405020304" pitchFamily="18" charset="0"/>
              </a:rPr>
              <a:t>If necessary, you may define a protected $</a:t>
            </a:r>
            <a:r>
              <a:rPr lang="en-US" sz="2400" dirty="0" err="1">
                <a:latin typeface="Times New Roman" panose="02020603050405020304" pitchFamily="18" charset="0"/>
                <a:cs typeface="Times New Roman" panose="02020603050405020304" pitchFamily="18" charset="0"/>
              </a:rPr>
              <a:t>primaryKey</a:t>
            </a:r>
            <a:r>
              <a:rPr lang="en-US" sz="2400" dirty="0">
                <a:latin typeface="Times New Roman" panose="02020603050405020304" pitchFamily="18" charset="0"/>
                <a:cs typeface="Times New Roman" panose="02020603050405020304" pitchFamily="18" charset="0"/>
              </a:rPr>
              <a:t> property on your model to specify a different column that serves as your model's primary key.</a:t>
            </a:r>
          </a:p>
          <a:p>
            <a:pPr marL="0" indent="0">
              <a:buNone/>
            </a:pPr>
            <a:r>
              <a:rPr lang="en-US" sz="2400" dirty="0">
                <a:latin typeface="Times New Roman" panose="02020603050405020304" pitchFamily="18" charset="0"/>
                <a:cs typeface="Times New Roman" panose="02020603050405020304" pitchFamily="18" charset="0"/>
              </a:rPr>
              <a:t>Example:- protected $</a:t>
            </a:r>
            <a:r>
              <a:rPr lang="en-US" sz="2400" dirty="0" err="1">
                <a:latin typeface="Times New Roman" panose="02020603050405020304" pitchFamily="18" charset="0"/>
                <a:cs typeface="Times New Roman" panose="02020603050405020304" pitchFamily="18" charset="0"/>
              </a:rPr>
              <a:t>primaryKey</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stu_id</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your model's primary key is not an integer, you should define a protected $</a:t>
            </a:r>
            <a:r>
              <a:rPr lang="en-US" sz="2400" dirty="0" err="1">
                <a:latin typeface="Times New Roman" panose="02020603050405020304" pitchFamily="18" charset="0"/>
                <a:cs typeface="Times New Roman" panose="02020603050405020304" pitchFamily="18" charset="0"/>
              </a:rPr>
              <a:t>keyType</a:t>
            </a:r>
            <a:r>
              <a:rPr lang="en-US" sz="2400" dirty="0">
                <a:latin typeface="Times New Roman" panose="02020603050405020304" pitchFamily="18" charset="0"/>
                <a:cs typeface="Times New Roman" panose="02020603050405020304" pitchFamily="18" charset="0"/>
              </a:rPr>
              <a:t> property on your model. This property should have a value of string.</a:t>
            </a:r>
          </a:p>
          <a:p>
            <a:pPr marL="0" indent="0">
              <a:buNone/>
            </a:pPr>
            <a:r>
              <a:rPr lang="en-US" sz="2400" dirty="0">
                <a:latin typeface="Times New Roman" panose="02020603050405020304" pitchFamily="18" charset="0"/>
                <a:cs typeface="Times New Roman" panose="02020603050405020304" pitchFamily="18" charset="0"/>
              </a:rPr>
              <a:t>Example:- protected $</a:t>
            </a:r>
            <a:r>
              <a:rPr lang="en-US" sz="2400" dirty="0" err="1">
                <a:latin typeface="Times New Roman" panose="02020603050405020304" pitchFamily="18" charset="0"/>
                <a:cs typeface="Times New Roman" panose="02020603050405020304" pitchFamily="18" charset="0"/>
              </a:rPr>
              <a:t>keyType</a:t>
            </a:r>
            <a:r>
              <a:rPr lang="en-US" sz="2400" dirty="0">
                <a:latin typeface="Times New Roman" panose="02020603050405020304" pitchFamily="18" charset="0"/>
                <a:cs typeface="Times New Roman" panose="02020603050405020304" pitchFamily="18" charset="0"/>
              </a:rPr>
              <a:t> = 'string';</a:t>
            </a:r>
          </a:p>
        </p:txBody>
      </p:sp>
    </p:spTree>
    <p:extLst>
      <p:ext uri="{BB962C8B-B14F-4D97-AF65-F5344CB8AC3E}">
        <p14:creationId xmlns:p14="http://schemas.microsoft.com/office/powerpoint/2010/main" val="2850399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Primary Keys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Eloquent assumes that the primary key is an incrementing integer value, which means that Eloquent will automatically cast the primary key to an integer. If you wish to use a non-incrementing or a non-numeric primary key you must define a public $incrementing property on your model that is set to false.</a:t>
            </a:r>
          </a:p>
          <a:p>
            <a:pPr marL="0" indent="0">
              <a:buNone/>
            </a:pPr>
            <a:r>
              <a:rPr lang="en-US" sz="2400" dirty="0">
                <a:latin typeface="Times New Roman" panose="02020603050405020304" pitchFamily="18" charset="0"/>
                <a:cs typeface="Times New Roman" panose="02020603050405020304" pitchFamily="18" charset="0"/>
              </a:rPr>
              <a:t>Example:- public $incrementing = false;</a:t>
            </a:r>
          </a:p>
        </p:txBody>
      </p:sp>
    </p:spTree>
    <p:extLst>
      <p:ext uri="{BB962C8B-B14F-4D97-AF65-F5344CB8AC3E}">
        <p14:creationId xmlns:p14="http://schemas.microsoft.com/office/powerpoint/2010/main" val="211077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err="1">
                <a:latin typeface="Times New Roman" panose="02020603050405020304" pitchFamily="18" charset="0"/>
                <a:cs typeface="Times New Roman" panose="02020603050405020304" pitchFamily="18" charset="0"/>
              </a:rPr>
              <a:t>Timesamps</a:t>
            </a:r>
            <a:endParaRPr lang="en-US" sz="5333"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By default, Eloquent expects </a:t>
            </a:r>
            <a:r>
              <a:rPr lang="en-US" sz="2400" dirty="0" err="1">
                <a:latin typeface="Times New Roman" panose="02020603050405020304" pitchFamily="18" charset="0"/>
                <a:cs typeface="Times New Roman" panose="02020603050405020304" pitchFamily="18" charset="0"/>
              </a:rPr>
              <a:t>created_at</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updated_at</a:t>
            </a:r>
            <a:r>
              <a:rPr lang="en-US" sz="2400" dirty="0">
                <a:latin typeface="Times New Roman" panose="02020603050405020304" pitchFamily="18" charset="0"/>
                <a:cs typeface="Times New Roman" panose="02020603050405020304" pitchFamily="18" charset="0"/>
              </a:rPr>
              <a:t> columns to exist on your model's corresponding database table. Eloquent will automatically set these column's values when models are created or updated. If you do not want these columns to be automatically managed by Eloquent, you should define a $timestamps property on your model with a value of false.</a:t>
            </a:r>
          </a:p>
          <a:p>
            <a:pPr marL="0" indent="0">
              <a:buNone/>
            </a:pPr>
            <a:r>
              <a:rPr lang="en-US" sz="2400" dirty="0">
                <a:latin typeface="Times New Roman" panose="02020603050405020304" pitchFamily="18" charset="0"/>
                <a:cs typeface="Times New Roman" panose="02020603050405020304" pitchFamily="18" charset="0"/>
              </a:rPr>
              <a:t>Example:- public $timestamps = false;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you need to customize the format of your model's timestamps, set the $</a:t>
            </a:r>
            <a:r>
              <a:rPr lang="en-US" sz="2400" dirty="0" err="1">
                <a:latin typeface="Times New Roman" panose="02020603050405020304" pitchFamily="18" charset="0"/>
                <a:cs typeface="Times New Roman" panose="02020603050405020304" pitchFamily="18" charset="0"/>
              </a:rPr>
              <a:t>dateFormat</a:t>
            </a:r>
            <a:r>
              <a:rPr lang="en-US" sz="2400" dirty="0">
                <a:latin typeface="Times New Roman" panose="02020603050405020304" pitchFamily="18" charset="0"/>
                <a:cs typeface="Times New Roman" panose="02020603050405020304" pitchFamily="18" charset="0"/>
              </a:rPr>
              <a:t> property on your model.</a:t>
            </a:r>
          </a:p>
          <a:p>
            <a:pPr marL="0" indent="0">
              <a:buNone/>
            </a:pPr>
            <a:r>
              <a:rPr lang="en-US" sz="2400" dirty="0">
                <a:latin typeface="Times New Roman" panose="02020603050405020304" pitchFamily="18" charset="0"/>
                <a:cs typeface="Times New Roman" panose="02020603050405020304" pitchFamily="18" charset="0"/>
              </a:rPr>
              <a:t>Example:- protected $</a:t>
            </a:r>
            <a:r>
              <a:rPr lang="en-US" sz="2400" dirty="0" err="1">
                <a:latin typeface="Times New Roman" panose="02020603050405020304" pitchFamily="18" charset="0"/>
                <a:cs typeface="Times New Roman" panose="02020603050405020304" pitchFamily="18" charset="0"/>
              </a:rPr>
              <a:t>dateFormat</a:t>
            </a:r>
            <a:r>
              <a:rPr lang="en-US" sz="2400" dirty="0">
                <a:latin typeface="Times New Roman" panose="02020603050405020304" pitchFamily="18" charset="0"/>
                <a:cs typeface="Times New Roman" panose="02020603050405020304" pitchFamily="18" charset="0"/>
              </a:rPr>
              <a:t> = 'U’;</a:t>
            </a:r>
          </a:p>
        </p:txBody>
      </p:sp>
    </p:spTree>
    <p:extLst>
      <p:ext uri="{BB962C8B-B14F-4D97-AF65-F5344CB8AC3E}">
        <p14:creationId xmlns:p14="http://schemas.microsoft.com/office/powerpoint/2010/main" val="367197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err="1">
                <a:latin typeface="Times New Roman" panose="02020603050405020304" pitchFamily="18" charset="0"/>
                <a:cs typeface="Times New Roman" panose="02020603050405020304" pitchFamily="18" charset="0"/>
              </a:rPr>
              <a:t>Timesamps</a:t>
            </a:r>
            <a:endParaRPr lang="en-US" sz="5333"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If you need to customize the names of the columns used to store the timestamps, you may define CREATED_AT and UPDATED_AT constants on your model.</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const CREATED_AT = '</a:t>
            </a:r>
            <a:r>
              <a:rPr lang="en-US" sz="2400" dirty="0" err="1">
                <a:latin typeface="Times New Roman" panose="02020603050405020304" pitchFamily="18" charset="0"/>
                <a:cs typeface="Times New Roman" panose="02020603050405020304" pitchFamily="18" charset="0"/>
              </a:rPr>
              <a:t>creation_date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const UPDATED_AT = '</a:t>
            </a:r>
            <a:r>
              <a:rPr lang="en-US" sz="2400" dirty="0" err="1">
                <a:latin typeface="Times New Roman" panose="02020603050405020304" pitchFamily="18" charset="0"/>
                <a:cs typeface="Times New Roman" panose="02020603050405020304" pitchFamily="18" charset="0"/>
              </a:rPr>
              <a:t>updated_date</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9783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Database Connections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By default, all Eloquent models will use the default database connection that is configured for your application. If you would like to specify a different connection that should be used when interacting with a particular model, you should define a $connection property on the model.</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protected $connection = '</a:t>
            </a:r>
            <a:r>
              <a:rPr lang="en-US" sz="2400" dirty="0" err="1">
                <a:latin typeface="Times New Roman" panose="02020603050405020304" pitchFamily="18" charset="0"/>
                <a:cs typeface="Times New Roman" panose="02020603050405020304" pitchFamily="18" charset="0"/>
              </a:rPr>
              <a:t>sqlite</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1430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Once you have created a model and its associated database table, you are ready to start retrieving data from your database. </a:t>
            </a:r>
          </a:p>
          <a:p>
            <a:pPr marL="0" indent="0">
              <a:buNone/>
            </a:pPr>
            <a:r>
              <a:rPr lang="en-US" sz="2400" dirty="0">
                <a:latin typeface="Times New Roman" panose="02020603050405020304" pitchFamily="18" charset="0"/>
                <a:cs typeface="Times New Roman" panose="02020603050405020304" pitchFamily="18" charset="0"/>
              </a:rPr>
              <a:t>The model's all method will retrieve all of the records from the model's associated database table.</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Student::all()</a:t>
            </a:r>
          </a:p>
        </p:txBody>
      </p:sp>
    </p:spTree>
    <p:extLst>
      <p:ext uri="{BB962C8B-B14F-4D97-AF65-F5344CB8AC3E}">
        <p14:creationId xmlns:p14="http://schemas.microsoft.com/office/powerpoint/2010/main" val="217820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Building Queries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Eloquent all method will return all of the results in the model's table. However, since each Eloquent model serves as a query builder, you may add additional constraints to queries and then invoke the get method to retrieve the results.</a:t>
            </a:r>
          </a:p>
          <a:p>
            <a:pPr marL="0" indent="0">
              <a:buNone/>
            </a:pPr>
            <a:r>
              <a:rPr lang="en-US" sz="2400" dirty="0">
                <a:cs typeface="Times New Roman" panose="02020603050405020304" pitchFamily="18" charset="0"/>
              </a:rPr>
              <a:t>Student::where(‘city’, ‘</a:t>
            </a:r>
            <a:r>
              <a:rPr lang="en-US" sz="2400" dirty="0" err="1">
                <a:cs typeface="Times New Roman" panose="02020603050405020304" pitchFamily="18" charset="0"/>
              </a:rPr>
              <a:t>bokaro</a:t>
            </a:r>
            <a:r>
              <a:rPr lang="en-US" sz="2400" dirty="0">
                <a:cs typeface="Times New Roman" panose="02020603050405020304" pitchFamily="18" charset="0"/>
              </a:rPr>
              <a:t>’)-&gt;</a:t>
            </a:r>
            <a:r>
              <a:rPr lang="en-US" sz="2400" dirty="0" err="1">
                <a:cs typeface="Times New Roman" panose="02020603050405020304" pitchFamily="18" charset="0"/>
              </a:rPr>
              <a:t>orderBy</a:t>
            </a:r>
            <a:r>
              <a:rPr lang="en-US" sz="2400" dirty="0">
                <a:cs typeface="Times New Roman" panose="02020603050405020304" pitchFamily="18" charset="0"/>
              </a:rPr>
              <a:t>('name')-&gt;get();</a:t>
            </a:r>
          </a:p>
        </p:txBody>
      </p:sp>
    </p:spTree>
    <p:extLst>
      <p:ext uri="{BB962C8B-B14F-4D97-AF65-F5344CB8AC3E}">
        <p14:creationId xmlns:p14="http://schemas.microsoft.com/office/powerpoint/2010/main" val="290784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Chunking Results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chunk method may be used to process large numbers of models more efficiently.</a:t>
            </a:r>
          </a:p>
          <a:p>
            <a:pPr marL="0" indent="0">
              <a:buNone/>
            </a:pPr>
            <a:r>
              <a:rPr lang="en-US" sz="2400" dirty="0">
                <a:latin typeface="Times New Roman" panose="02020603050405020304" pitchFamily="18" charset="0"/>
                <a:cs typeface="Times New Roman" panose="02020603050405020304" pitchFamily="18" charset="0"/>
              </a:rPr>
              <a:t>The chunk method will retrieve a subset of Eloquent models, passing them to a closure for processing. </a:t>
            </a:r>
          </a:p>
          <a:p>
            <a:pPr marL="0" indent="0">
              <a:buNone/>
            </a:pPr>
            <a:r>
              <a:rPr lang="en-US" sz="2400" dirty="0">
                <a:latin typeface="Times New Roman" panose="02020603050405020304" pitchFamily="18" charset="0"/>
                <a:cs typeface="Times New Roman" panose="02020603050405020304" pitchFamily="18" charset="0"/>
              </a:rPr>
              <a:t>Since only the current chunk of Eloquent models is retrieved at a time, the chunk method will provide significantly reduced memory usage when working with a large number of models.</a:t>
            </a:r>
          </a:p>
        </p:txBody>
      </p:sp>
    </p:spTree>
    <p:extLst>
      <p:ext uri="{BB962C8B-B14F-4D97-AF65-F5344CB8AC3E}">
        <p14:creationId xmlns:p14="http://schemas.microsoft.com/office/powerpoint/2010/main" val="102631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Chunking Results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cs typeface="Times New Roman" panose="02020603050405020304" pitchFamily="18" charset="0"/>
              </a:rPr>
              <a:t>Student::chunk(5, function ($students) {</a:t>
            </a:r>
          </a:p>
          <a:p>
            <a:pPr marL="0" indent="0">
              <a:buNone/>
            </a:pPr>
            <a:r>
              <a:rPr lang="en-US" sz="2400" dirty="0">
                <a:cs typeface="Times New Roman" panose="02020603050405020304" pitchFamily="18" charset="0"/>
              </a:rPr>
              <a:t>    foreach ($students as $</a:t>
            </a:r>
            <a:r>
              <a:rPr lang="en-US" sz="2400" dirty="0" err="1">
                <a:cs typeface="Times New Roman" panose="02020603050405020304" pitchFamily="18" charset="0"/>
              </a:rPr>
              <a:t>stu</a:t>
            </a: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The first argument passed to the chunk method is the number of records you wish to receive per "chunk". </a:t>
            </a:r>
          </a:p>
          <a:p>
            <a:pPr marL="0" indent="0">
              <a:buNone/>
            </a:pPr>
            <a:r>
              <a:rPr lang="en-US" sz="2400" dirty="0">
                <a:latin typeface="Times New Roman" panose="02020603050405020304" pitchFamily="18" charset="0"/>
                <a:cs typeface="Times New Roman" panose="02020603050405020304" pitchFamily="18" charset="0"/>
              </a:rPr>
              <a:t>The closure passed as the second argument will be invoked for each chunk that is retrieved from the database. A database query will be executed to retrieve each chunk of records passed to the closure.</a:t>
            </a:r>
          </a:p>
        </p:txBody>
      </p:sp>
    </p:spTree>
    <p:extLst>
      <p:ext uri="{BB962C8B-B14F-4D97-AF65-F5344CB8AC3E}">
        <p14:creationId xmlns:p14="http://schemas.microsoft.com/office/powerpoint/2010/main" val="139136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fontScale="90000"/>
          </a:bodyPr>
          <a:lstStyle/>
          <a:p>
            <a:pPr algn="ctr"/>
            <a:r>
              <a:rPr lang="en-US" sz="5333" b="1" u="sng" dirty="0">
                <a:latin typeface="Times New Roman" panose="02020603050405020304" pitchFamily="18" charset="0"/>
                <a:cs typeface="Times New Roman" panose="02020603050405020304" pitchFamily="18" charset="0"/>
              </a:rPr>
              <a:t>Retrieving Single Models / Aggregates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also retrieve single records using the find, first, or </a:t>
            </a:r>
            <a:r>
              <a:rPr lang="en-US" sz="2400" dirty="0" err="1">
                <a:latin typeface="Times New Roman" panose="02020603050405020304" pitchFamily="18" charset="0"/>
                <a:cs typeface="Times New Roman" panose="02020603050405020304" pitchFamily="18" charset="0"/>
              </a:rPr>
              <a:t>firstWhere</a:t>
            </a:r>
            <a:r>
              <a:rPr lang="en-US" sz="2400" dirty="0">
                <a:latin typeface="Times New Roman" panose="02020603050405020304" pitchFamily="18" charset="0"/>
                <a:cs typeface="Times New Roman" panose="02020603050405020304" pitchFamily="18" charset="0"/>
              </a:rPr>
              <a:t> methods. Instead of returning a collection of models, these methods return a single model instance.</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Retrieve a model by its primary key...</a:t>
            </a:r>
          </a:p>
          <a:p>
            <a:pPr marL="0" indent="0">
              <a:buNone/>
            </a:pPr>
            <a:r>
              <a:rPr lang="en-US" sz="2400" dirty="0">
                <a:cs typeface="Times New Roman" panose="02020603050405020304" pitchFamily="18" charset="0"/>
              </a:rPr>
              <a:t>$student = Student::find(1);</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 Retrieve the first model matching the query constraints...</a:t>
            </a:r>
          </a:p>
          <a:p>
            <a:pPr marL="0" indent="0">
              <a:buNone/>
            </a:pPr>
            <a:r>
              <a:rPr lang="en-US" sz="2400" dirty="0">
                <a:cs typeface="Times New Roman" panose="02020603050405020304" pitchFamily="18" charset="0"/>
              </a:rPr>
              <a:t>$student = Student::where(‘city’, ‘</a:t>
            </a:r>
            <a:r>
              <a:rPr lang="en-US" sz="2400" dirty="0" err="1">
                <a:cs typeface="Times New Roman" panose="02020603050405020304" pitchFamily="18" charset="0"/>
              </a:rPr>
              <a:t>bokaro</a:t>
            </a:r>
            <a:r>
              <a:rPr lang="en-US" sz="2400" dirty="0">
                <a:cs typeface="Times New Roman" panose="02020603050405020304" pitchFamily="18" charset="0"/>
              </a:rPr>
              <a:t>’)-&gt;first();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 Alternative to retrieving the first model matching the query constraints...</a:t>
            </a:r>
          </a:p>
          <a:p>
            <a:pPr marL="0" indent="0">
              <a:buNone/>
            </a:pPr>
            <a:r>
              <a:rPr lang="en-US" sz="2400" dirty="0">
                <a:cs typeface="Times New Roman" panose="02020603050405020304" pitchFamily="18" charset="0"/>
              </a:rPr>
              <a:t>$student = Student::</a:t>
            </a:r>
            <a:r>
              <a:rPr lang="en-US" sz="2400" dirty="0" err="1">
                <a:cs typeface="Times New Roman" panose="02020603050405020304" pitchFamily="18" charset="0"/>
              </a:rPr>
              <a:t>firstWhere</a:t>
            </a:r>
            <a:r>
              <a:rPr lang="en-US" sz="2400" dirty="0">
                <a:cs typeface="Times New Roman" panose="02020603050405020304" pitchFamily="18" charset="0"/>
              </a:rPr>
              <a:t>(‘city’, ‘</a:t>
            </a:r>
            <a:r>
              <a:rPr lang="en-US" sz="2400" dirty="0" err="1">
                <a:cs typeface="Times New Roman" panose="02020603050405020304" pitchFamily="18" charset="0"/>
              </a:rPr>
              <a:t>bokaro</a:t>
            </a:r>
            <a:r>
              <a:rPr lang="en-US" sz="2400" dirty="0">
                <a:cs typeface="Times New Roman" panose="02020603050405020304" pitchFamily="18" charset="0"/>
              </a:rPr>
              <a:t>’);</a:t>
            </a:r>
          </a:p>
        </p:txBody>
      </p:sp>
    </p:spTree>
    <p:extLst>
      <p:ext uri="{BB962C8B-B14F-4D97-AF65-F5344CB8AC3E}">
        <p14:creationId xmlns:p14="http://schemas.microsoft.com/office/powerpoint/2010/main" val="424486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fontScale="90000"/>
          </a:bodyPr>
          <a:lstStyle/>
          <a:p>
            <a:pPr algn="ctr"/>
            <a:r>
              <a:rPr lang="en-US" sz="5333" b="1" u="sng" dirty="0">
                <a:latin typeface="Times New Roman" panose="02020603050405020304" pitchFamily="18" charset="0"/>
                <a:cs typeface="Times New Roman" panose="02020603050405020304" pitchFamily="18" charset="0"/>
              </a:rPr>
              <a:t>Retrieving Single Models / Aggregates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Sometimes you may wish to retrieve the first result of a query or perform some other action if no results are found. The </a:t>
            </a:r>
            <a:r>
              <a:rPr lang="en-US" sz="2400" dirty="0" err="1">
                <a:latin typeface="Times New Roman" panose="02020603050405020304" pitchFamily="18" charset="0"/>
                <a:cs typeface="Times New Roman" panose="02020603050405020304" pitchFamily="18" charset="0"/>
              </a:rPr>
              <a:t>firstOr</a:t>
            </a:r>
            <a:r>
              <a:rPr lang="en-US" sz="2400" dirty="0">
                <a:latin typeface="Times New Roman" panose="02020603050405020304" pitchFamily="18" charset="0"/>
                <a:cs typeface="Times New Roman" panose="02020603050405020304" pitchFamily="18" charset="0"/>
              </a:rPr>
              <a:t> method will return the first result matching the query or, if no results are found, execute the given closure. The value returned by the closure will be considered the result of the </a:t>
            </a:r>
            <a:r>
              <a:rPr lang="en-US" sz="2400" dirty="0" err="1">
                <a:latin typeface="Times New Roman" panose="02020603050405020304" pitchFamily="18" charset="0"/>
                <a:cs typeface="Times New Roman" panose="02020603050405020304" pitchFamily="18" charset="0"/>
              </a:rPr>
              <a:t>firstOr</a:t>
            </a:r>
            <a:r>
              <a:rPr lang="en-US" sz="2400" dirty="0">
                <a:latin typeface="Times New Roman" panose="02020603050405020304" pitchFamily="18" charset="0"/>
                <a:cs typeface="Times New Roman" panose="02020603050405020304" pitchFamily="18" charset="0"/>
              </a:rPr>
              <a:t> method.</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 = Student::where(‘marks', '&gt;’, 90)-&gt;</a:t>
            </a:r>
            <a:r>
              <a:rPr lang="en-US" sz="2400" dirty="0" err="1">
                <a:cs typeface="Times New Roman" panose="02020603050405020304" pitchFamily="18" charset="0"/>
              </a:rPr>
              <a:t>firstOr</a:t>
            </a:r>
            <a:r>
              <a:rPr lang="en-US" sz="2400" dirty="0">
                <a:cs typeface="Times New Roman" panose="02020603050405020304" pitchFamily="18" charset="0"/>
              </a:rPr>
              <a:t>(function () {</a:t>
            </a:r>
          </a:p>
          <a:p>
            <a:pPr marL="0" indent="0">
              <a:buNone/>
            </a:pPr>
            <a:r>
              <a:rPr lang="en-US" sz="2400" dirty="0">
                <a:cs typeface="Times New Roman" panose="02020603050405020304" pitchFamily="18" charset="0"/>
              </a:rPr>
              <a:t>    //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52531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Or Creating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firstOrCreate</a:t>
            </a:r>
            <a:r>
              <a:rPr lang="en-US" sz="2400" dirty="0">
                <a:latin typeface="Times New Roman" panose="02020603050405020304" pitchFamily="18" charset="0"/>
                <a:cs typeface="Times New Roman" panose="02020603050405020304" pitchFamily="18" charset="0"/>
              </a:rPr>
              <a:t> method will attempt to locate a database record using the given column / value pairs. If the model can not be found in the database, a record will be inserted with the attributes resulting from merging the first array argument with the optional second array argument.</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Retrieve student by name or create it if it doesn't exist.</a:t>
            </a:r>
          </a:p>
          <a:p>
            <a:pPr marL="0" indent="0">
              <a:buNone/>
            </a:pPr>
            <a:r>
              <a:rPr lang="en-US" sz="2400" dirty="0">
                <a:cs typeface="Times New Roman" panose="02020603050405020304" pitchFamily="18" charset="0"/>
              </a:rPr>
              <a:t> $student = Student::</a:t>
            </a:r>
            <a:r>
              <a:rPr lang="en-US" sz="2400" dirty="0" err="1">
                <a:cs typeface="Times New Roman" panose="02020603050405020304" pitchFamily="18" charset="0"/>
              </a:rPr>
              <a:t>firstOrCreate</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['name'=&gt;'dell'],</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134327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Or Creating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Retrieve student by name or create it with the name, email, city and marks.</a:t>
            </a:r>
          </a:p>
          <a:p>
            <a:pPr marL="0" indent="0">
              <a:buNone/>
            </a:pPr>
            <a:r>
              <a:rPr lang="en-US" sz="2400" dirty="0">
                <a:cs typeface="Times New Roman" panose="02020603050405020304" pitchFamily="18" charset="0"/>
              </a:rPr>
              <a:t> $student = Student::</a:t>
            </a:r>
            <a:r>
              <a:rPr lang="en-US" sz="2400" dirty="0" err="1">
                <a:cs typeface="Times New Roman" panose="02020603050405020304" pitchFamily="18" charset="0"/>
              </a:rPr>
              <a:t>firstOrCreate</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['name'=&gt;'dell'],</a:t>
            </a:r>
          </a:p>
          <a:p>
            <a:pPr marL="0" indent="0">
              <a:buNone/>
            </a:pPr>
            <a:r>
              <a:rPr lang="en-US" sz="2400" dirty="0">
                <a:cs typeface="Times New Roman" panose="02020603050405020304" pitchFamily="18" charset="0"/>
              </a:rPr>
              <a:t>            ['email'=&gt;'dell@gmail.com', 'city'=&gt;'</a:t>
            </a:r>
            <a:r>
              <a:rPr lang="en-US" sz="2400" dirty="0" err="1">
                <a:cs typeface="Times New Roman" panose="02020603050405020304" pitchFamily="18" charset="0"/>
              </a:rPr>
              <a:t>dhanbad</a:t>
            </a:r>
            <a:r>
              <a:rPr lang="en-US" sz="2400" dirty="0">
                <a:cs typeface="Times New Roman" panose="02020603050405020304" pitchFamily="18" charset="0"/>
              </a:rPr>
              <a:t>','marks'=&gt;70]</a:t>
            </a:r>
          </a:p>
          <a:p>
            <a:pPr marL="0" indent="0">
              <a:buNone/>
            </a:pPr>
            <a:r>
              <a:rPr lang="en-US" sz="2400" dirty="0">
                <a:cs typeface="Times New Roman" panose="02020603050405020304" pitchFamily="18" charset="0"/>
              </a:rPr>
              <a:t>        );</a:t>
            </a:r>
          </a:p>
        </p:txBody>
      </p:sp>
    </p:spTree>
    <p:extLst>
      <p:ext uri="{BB962C8B-B14F-4D97-AF65-F5344CB8AC3E}">
        <p14:creationId xmlns:p14="http://schemas.microsoft.com/office/powerpoint/2010/main" val="112390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Or Creating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firstOrNew</a:t>
            </a:r>
            <a:r>
              <a:rPr lang="en-US" sz="2400" dirty="0">
                <a:latin typeface="Times New Roman" panose="02020603050405020304" pitchFamily="18" charset="0"/>
                <a:cs typeface="Times New Roman" panose="02020603050405020304" pitchFamily="18" charset="0"/>
              </a:rPr>
              <a:t> method, like </a:t>
            </a:r>
            <a:r>
              <a:rPr lang="en-US" sz="2400" dirty="0" err="1">
                <a:latin typeface="Times New Roman" panose="02020603050405020304" pitchFamily="18" charset="0"/>
                <a:cs typeface="Times New Roman" panose="02020603050405020304" pitchFamily="18" charset="0"/>
              </a:rPr>
              <a:t>firstOrCreate</a:t>
            </a:r>
            <a:r>
              <a:rPr lang="en-US" sz="2400" dirty="0">
                <a:latin typeface="Times New Roman" panose="02020603050405020304" pitchFamily="18" charset="0"/>
                <a:cs typeface="Times New Roman" panose="02020603050405020304" pitchFamily="18" charset="0"/>
              </a:rPr>
              <a:t>, will attempt to locate a record in the database matching the given attributes. However, if a model is not found, a new model instance will be returned. Note that the model returned by </a:t>
            </a:r>
            <a:r>
              <a:rPr lang="en-US" sz="2400" dirty="0" err="1">
                <a:latin typeface="Times New Roman" panose="02020603050405020304" pitchFamily="18" charset="0"/>
                <a:cs typeface="Times New Roman" panose="02020603050405020304" pitchFamily="18" charset="0"/>
              </a:rPr>
              <a:t>firstOrNew</a:t>
            </a:r>
            <a:r>
              <a:rPr lang="en-US" sz="2400" dirty="0">
                <a:latin typeface="Times New Roman" panose="02020603050405020304" pitchFamily="18" charset="0"/>
                <a:cs typeface="Times New Roman" panose="02020603050405020304" pitchFamily="18" charset="0"/>
              </a:rPr>
              <a:t> has not yet been persisted to the database. You will need to manually call the save method to persist it.</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Retrieve student by name or instantiate a new Student instance.</a:t>
            </a:r>
          </a:p>
          <a:p>
            <a:pPr marL="0" indent="0">
              <a:buNone/>
            </a:pPr>
            <a:r>
              <a:rPr lang="en-US" sz="2400" dirty="0">
                <a:cs typeface="Times New Roman" panose="02020603050405020304" pitchFamily="18" charset="0"/>
              </a:rPr>
              <a:t> $student = Student::</a:t>
            </a:r>
            <a:r>
              <a:rPr lang="en-US" sz="2400" dirty="0" err="1">
                <a:cs typeface="Times New Roman" panose="02020603050405020304" pitchFamily="18" charset="0"/>
              </a:rPr>
              <a:t>firstOrNew</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['name'=&gt;’dell'],</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411595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Or Creating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Retrieve student by name or instantiate with the name, email, city, marks</a:t>
            </a:r>
          </a:p>
          <a:p>
            <a:pPr marL="0" indent="0">
              <a:buNone/>
            </a:pPr>
            <a:r>
              <a:rPr lang="en-US" sz="2400" dirty="0">
                <a:cs typeface="Times New Roman" panose="02020603050405020304" pitchFamily="18" charset="0"/>
              </a:rPr>
              <a:t> $student = Student::</a:t>
            </a:r>
            <a:r>
              <a:rPr lang="en-US" sz="2400" dirty="0" err="1">
                <a:cs typeface="Times New Roman" panose="02020603050405020304" pitchFamily="18" charset="0"/>
              </a:rPr>
              <a:t>firstOrNew</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['name'=&gt;'hp'],</a:t>
            </a:r>
          </a:p>
          <a:p>
            <a:pPr marL="0" indent="0">
              <a:buNone/>
            </a:pPr>
            <a:r>
              <a:rPr lang="en-US" sz="2400" dirty="0">
                <a:cs typeface="Times New Roman" panose="02020603050405020304" pitchFamily="18" charset="0"/>
              </a:rPr>
              <a:t>            ['email'=&gt;'hp@gmail.com', 'city'=&gt;'</a:t>
            </a:r>
            <a:r>
              <a:rPr lang="en-US" sz="2400" dirty="0" err="1">
                <a:cs typeface="Times New Roman" panose="02020603050405020304" pitchFamily="18" charset="0"/>
              </a:rPr>
              <a:t>bokaro</a:t>
            </a:r>
            <a:r>
              <a:rPr lang="en-US" sz="2400" dirty="0">
                <a:cs typeface="Times New Roman" panose="02020603050405020304" pitchFamily="18" charset="0"/>
              </a:rPr>
              <a:t>','marks'=&gt;70]</a:t>
            </a:r>
          </a:p>
          <a:p>
            <a:pPr marL="0" indent="0">
              <a:buNone/>
            </a:pPr>
            <a:r>
              <a:rPr lang="en-US" sz="2400" dirty="0">
                <a:cs typeface="Times New Roman" panose="02020603050405020304" pitchFamily="18" charset="0"/>
              </a:rPr>
              <a:t>        );</a:t>
            </a:r>
          </a:p>
        </p:txBody>
      </p:sp>
    </p:spTree>
    <p:extLst>
      <p:ext uri="{BB962C8B-B14F-4D97-AF65-F5344CB8AC3E}">
        <p14:creationId xmlns:p14="http://schemas.microsoft.com/office/powerpoint/2010/main" val="314055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Aggregates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also use the count, sum, max, and other aggregate methods provided by the Laravel query builder.</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$count = Student::where(‘city’, ‘</a:t>
            </a:r>
            <a:r>
              <a:rPr lang="en-US" sz="2400" dirty="0" err="1">
                <a:cs typeface="Times New Roman" panose="02020603050405020304" pitchFamily="18" charset="0"/>
              </a:rPr>
              <a:t>bokaro</a:t>
            </a:r>
            <a:r>
              <a:rPr lang="en-US" sz="2400" dirty="0">
                <a:cs typeface="Times New Roman" panose="02020603050405020304" pitchFamily="18" charset="0"/>
              </a:rPr>
              <a:t>’)-&gt;count();</a:t>
            </a:r>
          </a:p>
          <a:p>
            <a:pPr marL="0" indent="0">
              <a:buNone/>
            </a:pPr>
            <a:r>
              <a:rPr lang="en-US" sz="2400" dirty="0">
                <a:cs typeface="Times New Roman" panose="02020603050405020304" pitchFamily="18" charset="0"/>
              </a:rPr>
              <a:t>$max = Student::where(‘city’, ‘</a:t>
            </a:r>
            <a:r>
              <a:rPr lang="en-US" sz="2400" dirty="0" err="1">
                <a:cs typeface="Times New Roman" panose="02020603050405020304" pitchFamily="18" charset="0"/>
              </a:rPr>
              <a:t>bokaro</a:t>
            </a:r>
            <a:r>
              <a:rPr lang="en-US" sz="2400" dirty="0">
                <a:cs typeface="Times New Roman" panose="02020603050405020304" pitchFamily="18" charset="0"/>
              </a:rPr>
              <a:t>’)-&gt;max(‘marks');</a:t>
            </a:r>
          </a:p>
        </p:txBody>
      </p:sp>
    </p:spTree>
    <p:extLst>
      <p:ext uri="{BB962C8B-B14F-4D97-AF65-F5344CB8AC3E}">
        <p14:creationId xmlns:p14="http://schemas.microsoft.com/office/powerpoint/2010/main" val="356647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Inserts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insert a new record into the database, you should instantiate a new model instance and set attributes on the model. Then, call the save method on the model instance.</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 $student = new Student;</a:t>
            </a:r>
          </a:p>
          <a:p>
            <a:pPr marL="0" indent="0">
              <a:buNone/>
            </a:pPr>
            <a:r>
              <a:rPr lang="en-US" sz="2400" dirty="0">
                <a:cs typeface="Times New Roman" panose="02020603050405020304" pitchFamily="18" charset="0"/>
              </a:rPr>
              <a:t>        $student-&gt;name = 'jack';</a:t>
            </a:r>
          </a:p>
          <a:p>
            <a:pPr marL="0" indent="0">
              <a:buNone/>
            </a:pPr>
            <a:r>
              <a:rPr lang="en-US" sz="2400" dirty="0">
                <a:cs typeface="Times New Roman" panose="02020603050405020304" pitchFamily="18" charset="0"/>
              </a:rPr>
              <a:t>        $student-&gt;email = 'jack@gmail.com';</a:t>
            </a:r>
          </a:p>
          <a:p>
            <a:pPr marL="0" indent="0">
              <a:buNone/>
            </a:pPr>
            <a:r>
              <a:rPr lang="en-US" sz="2400" dirty="0">
                <a:cs typeface="Times New Roman" panose="02020603050405020304" pitchFamily="18" charset="0"/>
              </a:rPr>
              <a:t>        $student-&gt;city = '</a:t>
            </a:r>
            <a:r>
              <a:rPr lang="en-US" sz="2400" dirty="0" err="1">
                <a:cs typeface="Times New Roman" panose="02020603050405020304" pitchFamily="18" charset="0"/>
              </a:rPr>
              <a:t>bokaro</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$student-&gt;marks = 80;</a:t>
            </a:r>
          </a:p>
          <a:p>
            <a:pPr marL="0" indent="0">
              <a:buNone/>
            </a:pPr>
            <a:r>
              <a:rPr lang="en-US" sz="2400" dirty="0">
                <a:cs typeface="Times New Roman" panose="02020603050405020304" pitchFamily="18" charset="0"/>
              </a:rPr>
              <a:t>        $student-&gt;save();</a:t>
            </a:r>
          </a:p>
          <a:p>
            <a:pPr marL="0" indent="0">
              <a:buNone/>
            </a:pPr>
            <a:r>
              <a:rPr lang="en-US" sz="2400" dirty="0">
                <a:latin typeface="Times New Roman" panose="02020603050405020304" pitchFamily="18" charset="0"/>
                <a:cs typeface="Times New Roman" panose="02020603050405020304" pitchFamily="18" charset="0"/>
              </a:rPr>
              <a:t>The model's </a:t>
            </a:r>
            <a:r>
              <a:rPr lang="en-US" sz="2400" dirty="0" err="1">
                <a:latin typeface="Times New Roman" panose="02020603050405020304" pitchFamily="18" charset="0"/>
                <a:cs typeface="Times New Roman" panose="02020603050405020304" pitchFamily="18" charset="0"/>
              </a:rPr>
              <a:t>created_at</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updated_at</a:t>
            </a:r>
            <a:r>
              <a:rPr lang="en-US" sz="2400" dirty="0">
                <a:latin typeface="Times New Roman" panose="02020603050405020304" pitchFamily="18" charset="0"/>
                <a:cs typeface="Times New Roman" panose="02020603050405020304" pitchFamily="18" charset="0"/>
              </a:rPr>
              <a:t> timestamps will automatically be set when the save method is called, so there is no need to set them manually.</a:t>
            </a:r>
          </a:p>
        </p:txBody>
      </p:sp>
    </p:spTree>
    <p:extLst>
      <p:ext uri="{BB962C8B-B14F-4D97-AF65-F5344CB8AC3E}">
        <p14:creationId xmlns:p14="http://schemas.microsoft.com/office/powerpoint/2010/main" val="599738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Inserts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use the create method to "save" a new model using a single PHP statement. The inserted model instance will be returned to you by the create method.</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 = Student::create([</a:t>
            </a:r>
          </a:p>
          <a:p>
            <a:pPr marL="0" indent="0">
              <a:buNone/>
            </a:pPr>
            <a:r>
              <a:rPr lang="en-US" sz="2400" dirty="0">
                <a:cs typeface="Times New Roman" panose="02020603050405020304" pitchFamily="18" charset="0"/>
              </a:rPr>
              <a:t>    'name' =&gt; ‘Rahul',</a:t>
            </a:r>
          </a:p>
          <a:p>
            <a:pPr marL="0" indent="0">
              <a:buNone/>
            </a:pPr>
            <a:r>
              <a:rPr lang="en-US" sz="2400" dirty="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However, before using the create method, you will need to specify either a fillable or guarded property on your model class. These properties are required because all Eloquent models are protected against mass assignment vulnerabilities by default.</a:t>
            </a:r>
          </a:p>
          <a:p>
            <a:pPr marL="0" indent="0">
              <a:buNone/>
            </a:pPr>
            <a:r>
              <a:rPr lang="en-US" sz="2400" dirty="0">
                <a:latin typeface="Times New Roman" panose="02020603050405020304" pitchFamily="18" charset="0"/>
                <a:cs typeface="Times New Roman" panose="02020603050405020304" pitchFamily="18" charset="0"/>
              </a:rPr>
              <a:t>Example:-</a:t>
            </a:r>
            <a:r>
              <a:rPr lang="en-US" sz="2400" dirty="0">
                <a:cs typeface="Times New Roman" panose="02020603050405020304" pitchFamily="18" charset="0"/>
              </a:rPr>
              <a:t> protected $fillable = ['name'];</a:t>
            </a:r>
          </a:p>
        </p:txBody>
      </p:sp>
    </p:spTree>
    <p:extLst>
      <p:ext uri="{BB962C8B-B14F-4D97-AF65-F5344CB8AC3E}">
        <p14:creationId xmlns:p14="http://schemas.microsoft.com/office/powerpoint/2010/main" val="69094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Updates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update a model, you should retrieve it and set any attributes you wish to update. Then, you should call the model's save method. Again, the </a:t>
            </a:r>
            <a:r>
              <a:rPr lang="en-US" sz="2400" dirty="0" err="1">
                <a:latin typeface="Times New Roman" panose="02020603050405020304" pitchFamily="18" charset="0"/>
                <a:cs typeface="Times New Roman" panose="02020603050405020304" pitchFamily="18" charset="0"/>
              </a:rPr>
              <a:t>updated_at</a:t>
            </a:r>
            <a:r>
              <a:rPr lang="en-US" sz="2400" dirty="0">
                <a:latin typeface="Times New Roman" panose="02020603050405020304" pitchFamily="18" charset="0"/>
                <a:cs typeface="Times New Roman" panose="02020603050405020304" pitchFamily="18" charset="0"/>
              </a:rPr>
              <a:t> timestamp will automatically be updated, so there is no need to manually set its value.</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$student = Student::find(5);</a:t>
            </a:r>
          </a:p>
          <a:p>
            <a:pPr marL="0" indent="0">
              <a:buNone/>
            </a:pPr>
            <a:r>
              <a:rPr lang="en-US" sz="2400" dirty="0">
                <a:cs typeface="Times New Roman" panose="02020603050405020304" pitchFamily="18" charset="0"/>
              </a:rPr>
              <a:t>        $student-&gt;name = '</a:t>
            </a:r>
            <a:r>
              <a:rPr lang="en-US" sz="2400" dirty="0" err="1">
                <a:cs typeface="Times New Roman" panose="02020603050405020304" pitchFamily="18" charset="0"/>
              </a:rPr>
              <a:t>kunal</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$student-&gt;email = 'kunal@gmail.com';</a:t>
            </a:r>
          </a:p>
          <a:p>
            <a:pPr marL="0" indent="0">
              <a:buNone/>
            </a:pPr>
            <a:r>
              <a:rPr lang="en-US" sz="2400" dirty="0">
                <a:cs typeface="Times New Roman" panose="02020603050405020304" pitchFamily="18" charset="0"/>
              </a:rPr>
              <a:t>        $student-&gt;city = '</a:t>
            </a:r>
            <a:r>
              <a:rPr lang="en-US" sz="2400" dirty="0" err="1">
                <a:cs typeface="Times New Roman" panose="02020603050405020304" pitchFamily="18" charset="0"/>
              </a:rPr>
              <a:t>bokaro</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$student-&gt;marks = 80;</a:t>
            </a:r>
          </a:p>
          <a:p>
            <a:pPr marL="0" indent="0">
              <a:buNone/>
            </a:pPr>
            <a:r>
              <a:rPr lang="en-US" sz="2400" dirty="0">
                <a:cs typeface="Times New Roman" panose="02020603050405020304" pitchFamily="18" charset="0"/>
              </a:rPr>
              <a:t>        $student-&gt;save();</a:t>
            </a:r>
          </a:p>
        </p:txBody>
      </p:sp>
    </p:spTree>
    <p:extLst>
      <p:ext uri="{BB962C8B-B14F-4D97-AF65-F5344CB8AC3E}">
        <p14:creationId xmlns:p14="http://schemas.microsoft.com/office/powerpoint/2010/main" val="125985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Mass Updates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update method expects an array of column and value pairs representing the columns that should be updated</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Student::where('city', '</a:t>
            </a:r>
            <a:r>
              <a:rPr lang="en-US" sz="2400" dirty="0" err="1">
                <a:cs typeface="Times New Roman" panose="02020603050405020304" pitchFamily="18" charset="0"/>
              </a:rPr>
              <a:t>dhanbad</a:t>
            </a:r>
            <a:r>
              <a:rPr lang="en-US" sz="2400" dirty="0">
                <a:cs typeface="Times New Roman" panose="02020603050405020304" pitchFamily="18" charset="0"/>
              </a:rPr>
              <a:t>')-&gt;update(['marks'=&gt;100]);</a:t>
            </a:r>
          </a:p>
        </p:txBody>
      </p:sp>
    </p:spTree>
    <p:extLst>
      <p:ext uri="{BB962C8B-B14F-4D97-AF65-F5344CB8AC3E}">
        <p14:creationId xmlns:p14="http://schemas.microsoft.com/office/powerpoint/2010/main" val="83263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Updates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Occasionally, you may need to update an existing model or create a new model if no matching model exists. Like the </a:t>
            </a:r>
            <a:r>
              <a:rPr lang="en-US" sz="2400" dirty="0" err="1">
                <a:latin typeface="Times New Roman" panose="02020603050405020304" pitchFamily="18" charset="0"/>
                <a:cs typeface="Times New Roman" panose="02020603050405020304" pitchFamily="18" charset="0"/>
              </a:rPr>
              <a:t>firstOrCreate</a:t>
            </a:r>
            <a:r>
              <a:rPr lang="en-US" sz="2400" dirty="0">
                <a:latin typeface="Times New Roman" panose="02020603050405020304" pitchFamily="18" charset="0"/>
                <a:cs typeface="Times New Roman" panose="02020603050405020304" pitchFamily="18" charset="0"/>
              </a:rPr>
              <a:t> method, the </a:t>
            </a:r>
            <a:r>
              <a:rPr lang="en-US" sz="2400" dirty="0" err="1">
                <a:latin typeface="Times New Roman" panose="02020603050405020304" pitchFamily="18" charset="0"/>
                <a:cs typeface="Times New Roman" panose="02020603050405020304" pitchFamily="18" charset="0"/>
              </a:rPr>
              <a:t>updateOrCreate</a:t>
            </a:r>
            <a:r>
              <a:rPr lang="en-US" sz="2400" dirty="0">
                <a:latin typeface="Times New Roman" panose="02020603050405020304" pitchFamily="18" charset="0"/>
                <a:cs typeface="Times New Roman" panose="02020603050405020304" pitchFamily="18" charset="0"/>
              </a:rPr>
              <a:t> method persists the model, so there's no need to manually call the save method.</a:t>
            </a:r>
          </a:p>
          <a:p>
            <a:pPr marL="0" indent="0">
              <a:buNone/>
            </a:pPr>
            <a:r>
              <a:rPr lang="en-US" sz="2400" dirty="0">
                <a:cs typeface="Times New Roman" panose="02020603050405020304" pitchFamily="18" charset="0"/>
              </a:rPr>
              <a:t> $student = Student::</a:t>
            </a:r>
            <a:r>
              <a:rPr lang="en-US" sz="2400" dirty="0" err="1">
                <a:cs typeface="Times New Roman" panose="02020603050405020304" pitchFamily="18" charset="0"/>
              </a:rPr>
              <a:t>updateOrCreate</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['name'=&gt;'</a:t>
            </a:r>
            <a:r>
              <a:rPr lang="en-US" sz="2400" dirty="0" err="1">
                <a:cs typeface="Times New Roman" panose="02020603050405020304" pitchFamily="18" charset="0"/>
              </a:rPr>
              <a:t>sachin</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['email'=&gt;'sachin@gmail.com', 'city'=&gt;'</a:t>
            </a:r>
            <a:r>
              <a:rPr lang="en-US" sz="2400" dirty="0" err="1">
                <a:cs typeface="Times New Roman" panose="02020603050405020304" pitchFamily="18" charset="0"/>
              </a:rPr>
              <a:t>dhanbad</a:t>
            </a:r>
            <a:r>
              <a:rPr lang="en-US" sz="2400" dirty="0">
                <a:cs typeface="Times New Roman" panose="02020603050405020304" pitchFamily="18" charset="0"/>
              </a:rPr>
              <a:t>','marks'=&gt;80]</a:t>
            </a:r>
          </a:p>
          <a:p>
            <a:pPr marL="0" indent="0">
              <a:buNone/>
            </a:pPr>
            <a:r>
              <a:rPr lang="en-US" sz="2400" dirty="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if a student exists with a name of </a:t>
            </a:r>
            <a:r>
              <a:rPr lang="en-US" sz="2400" dirty="0" err="1">
                <a:latin typeface="Times New Roman" panose="02020603050405020304" pitchFamily="18" charset="0"/>
                <a:cs typeface="Times New Roman" panose="02020603050405020304" pitchFamily="18" charset="0"/>
              </a:rPr>
              <a:t>sachin</a:t>
            </a:r>
            <a:r>
              <a:rPr lang="en-US" sz="2400" dirty="0">
                <a:latin typeface="Times New Roman" panose="02020603050405020304" pitchFamily="18" charset="0"/>
                <a:cs typeface="Times New Roman" panose="02020603050405020304" pitchFamily="18" charset="0"/>
              </a:rPr>
              <a:t>, its email, city and marks columns will be updated. If no such student exists, a new student will be created which has the attributes resulting from merging the first argument array with the second argument array.</a:t>
            </a:r>
          </a:p>
        </p:txBody>
      </p:sp>
    </p:spTree>
    <p:extLst>
      <p:ext uri="{BB962C8B-B14F-4D97-AF65-F5344CB8AC3E}">
        <p14:creationId xmlns:p14="http://schemas.microsoft.com/office/powerpoint/2010/main" val="89378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Deleting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delete a model, you may call the delete method on the model instance.</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 = Student::find(1);</a:t>
            </a:r>
          </a:p>
          <a:p>
            <a:pPr marL="0" indent="0">
              <a:buNone/>
            </a:pPr>
            <a:r>
              <a:rPr lang="en-US" sz="2400" dirty="0">
                <a:cs typeface="Times New Roman" panose="02020603050405020304" pitchFamily="18" charset="0"/>
              </a:rPr>
              <a:t>$student-&gt;delete();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call the truncate method to delete all of the model's associated database records. </a:t>
            </a:r>
          </a:p>
          <a:p>
            <a:pPr marL="0" indent="0">
              <a:buNone/>
            </a:pPr>
            <a:r>
              <a:rPr lang="en-US" sz="2400" dirty="0">
                <a:latin typeface="Times New Roman" panose="02020603050405020304" pitchFamily="18" charset="0"/>
                <a:cs typeface="Times New Roman" panose="02020603050405020304" pitchFamily="18" charset="0"/>
              </a:rPr>
              <a:t>The truncate operation will also reset any auto-incrementing IDs on the model's associated table:</a:t>
            </a:r>
          </a:p>
          <a:p>
            <a:pPr marL="0" indent="0">
              <a:buNone/>
            </a:pPr>
            <a:r>
              <a:rPr lang="en-US" sz="2400" dirty="0">
                <a:latin typeface="Times New Roman" panose="02020603050405020304" pitchFamily="18" charset="0"/>
                <a:cs typeface="Times New Roman" panose="02020603050405020304" pitchFamily="18" charset="0"/>
              </a:rPr>
              <a:t>Example:- </a:t>
            </a:r>
            <a:r>
              <a:rPr lang="en-US" sz="2400" dirty="0">
                <a:cs typeface="Times New Roman" panose="02020603050405020304" pitchFamily="18" charset="0"/>
              </a:rPr>
              <a:t>Student::truncate();</a:t>
            </a:r>
          </a:p>
        </p:txBody>
      </p:sp>
    </p:spTree>
    <p:extLst>
      <p:ext uri="{BB962C8B-B14F-4D97-AF65-F5344CB8AC3E}">
        <p14:creationId xmlns:p14="http://schemas.microsoft.com/office/powerpoint/2010/main" val="43096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Deleting Models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If you know the primary key of the model, you may delete the model without explicitly retrieving it by calling the destroy method. In addition to accepting the single primary key, the destroy method will accept multiple primary keys, an array of primary keys, or a collection of primary keys.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Student::destroy(1);</a:t>
            </a:r>
          </a:p>
          <a:p>
            <a:pPr marL="0" indent="0">
              <a:buNone/>
            </a:pPr>
            <a:r>
              <a:rPr lang="en-US" sz="2400" dirty="0">
                <a:cs typeface="Times New Roman" panose="02020603050405020304" pitchFamily="18" charset="0"/>
              </a:rPr>
              <a:t>Student::destroy(1, 2, 3);</a:t>
            </a:r>
          </a:p>
          <a:p>
            <a:pPr marL="0" indent="0">
              <a:buNone/>
            </a:pPr>
            <a:r>
              <a:rPr lang="en-US" sz="2400" dirty="0">
                <a:cs typeface="Times New Roman" panose="02020603050405020304" pitchFamily="18" charset="0"/>
              </a:rPr>
              <a:t>Student::destroy([1, 2, 3]);</a:t>
            </a:r>
          </a:p>
          <a:p>
            <a:pPr marL="0" indent="0">
              <a:buNone/>
            </a:pPr>
            <a:r>
              <a:rPr lang="en-US" sz="2400" dirty="0">
                <a:cs typeface="Times New Roman" panose="02020603050405020304" pitchFamily="18" charset="0"/>
              </a:rPr>
              <a:t>Student::destroy(collect([1, 2, 3]));</a:t>
            </a:r>
          </a:p>
        </p:txBody>
      </p:sp>
    </p:spTree>
    <p:extLst>
      <p:ext uri="{BB962C8B-B14F-4D97-AF65-F5344CB8AC3E}">
        <p14:creationId xmlns:p14="http://schemas.microsoft.com/office/powerpoint/2010/main" val="73891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Deleting Models Using Queries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build an Eloquent query to delete all models matching your query's criteria. </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 $student = Student::where('city', '</a:t>
            </a:r>
            <a:r>
              <a:rPr lang="en-US" sz="2400" dirty="0" err="1">
                <a:cs typeface="Times New Roman" panose="02020603050405020304" pitchFamily="18" charset="0"/>
              </a:rPr>
              <a:t>dhanbad</a:t>
            </a:r>
            <a:r>
              <a:rPr lang="en-US" sz="2400" dirty="0">
                <a:cs typeface="Times New Roman" panose="02020603050405020304" pitchFamily="18" charset="0"/>
              </a:rPr>
              <a:t>')-&gt;delete();</a:t>
            </a:r>
          </a:p>
        </p:txBody>
      </p:sp>
    </p:spTree>
    <p:extLst>
      <p:ext uri="{BB962C8B-B14F-4D97-AF65-F5344CB8AC3E}">
        <p14:creationId xmlns:p14="http://schemas.microsoft.com/office/powerpoint/2010/main" val="106347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947</TotalTime>
  <Words>2282</Words>
  <Application>Microsoft Office PowerPoint</Application>
  <PresentationFormat>Widescreen</PresentationFormat>
  <Paragraphs>198</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Eloquent</vt:lpstr>
      <vt:lpstr>Generating Model Classes</vt:lpstr>
      <vt:lpstr>Generating Model Classes</vt:lpstr>
      <vt:lpstr>Generating Model Classes</vt:lpstr>
      <vt:lpstr>Model Class</vt:lpstr>
      <vt:lpstr>Table Name</vt:lpstr>
      <vt:lpstr>Primary Keys</vt:lpstr>
      <vt:lpstr>Primary Keys</vt:lpstr>
      <vt:lpstr>Timesamps</vt:lpstr>
      <vt:lpstr>Timesamps</vt:lpstr>
      <vt:lpstr>Database Connections</vt:lpstr>
      <vt:lpstr>Retrieving Models</vt:lpstr>
      <vt:lpstr>Building Queries</vt:lpstr>
      <vt:lpstr>Chunking Results</vt:lpstr>
      <vt:lpstr>Chunking Results</vt:lpstr>
      <vt:lpstr>Retrieving Single Models / Aggregates</vt:lpstr>
      <vt:lpstr>Retrieving Single Models / Aggregates</vt:lpstr>
      <vt:lpstr>Retrieving Or Creating Models</vt:lpstr>
      <vt:lpstr>Retrieving Or Creating Models</vt:lpstr>
      <vt:lpstr>Retrieving Or Creating Models</vt:lpstr>
      <vt:lpstr>Retrieving Or Creating Models</vt:lpstr>
      <vt:lpstr>Retrieving Aggregates</vt:lpstr>
      <vt:lpstr>Inserts</vt:lpstr>
      <vt:lpstr>Inserts</vt:lpstr>
      <vt:lpstr>Updates</vt:lpstr>
      <vt:lpstr>Mass Updates</vt:lpstr>
      <vt:lpstr>Updates</vt:lpstr>
      <vt:lpstr>Deleting Models</vt:lpstr>
      <vt:lpstr>Deleting Models</vt:lpstr>
      <vt:lpstr>Deleting Models Using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189</cp:revision>
  <dcterms:created xsi:type="dcterms:W3CDTF">2020-01-16T07:28:28Z</dcterms:created>
  <dcterms:modified xsi:type="dcterms:W3CDTF">2021-04-11T09:55:34Z</dcterms:modified>
</cp:coreProperties>
</file>