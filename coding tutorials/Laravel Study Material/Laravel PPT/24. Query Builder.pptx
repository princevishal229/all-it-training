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315"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4/4/2021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4/4/2021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Query Builder</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Laravel's database query builder provides a convenient, fluent interface to creating and running database queries. </a:t>
            </a:r>
          </a:p>
          <a:p>
            <a:pPr marL="0" indent="0">
              <a:buNone/>
            </a:pPr>
            <a:r>
              <a:rPr lang="en-US" sz="2400" dirty="0">
                <a:latin typeface="Times New Roman" panose="02020603050405020304" pitchFamily="18" charset="0"/>
                <a:cs typeface="Times New Roman" panose="02020603050405020304" pitchFamily="18" charset="0"/>
              </a:rPr>
              <a:t>It can be used to perform most database operations in your application and works perfectly with all of Laravel's supported database systems.</a:t>
            </a:r>
          </a:p>
          <a:p>
            <a:pPr marL="0" indent="0">
              <a:buNone/>
            </a:pPr>
            <a:r>
              <a:rPr lang="en-US" sz="2400" dirty="0">
                <a:latin typeface="Times New Roman" panose="02020603050405020304" pitchFamily="18" charset="0"/>
                <a:cs typeface="Times New Roman" panose="02020603050405020304" pitchFamily="18" charset="0"/>
              </a:rPr>
              <a:t>The Laravel query builder uses PDO parameter binding to protect your application against SQL injection attacks. </a:t>
            </a:r>
          </a:p>
          <a:p>
            <a:pPr marL="0" indent="0">
              <a:buNone/>
            </a:pPr>
            <a:r>
              <a:rPr lang="en-US" sz="2400" dirty="0">
                <a:latin typeface="Times New Roman" panose="02020603050405020304" pitchFamily="18" charset="0"/>
                <a:cs typeface="Times New Roman" panose="02020603050405020304" pitchFamily="18" charset="0"/>
              </a:rPr>
              <a:t>There is no need to clean or sanitize strings passed to the query builder as query bindings.</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4800" b="1" u="sng" dirty="0">
                <a:latin typeface="Times New Roman" panose="02020603050405020304" pitchFamily="18" charset="0"/>
                <a:cs typeface="Times New Roman" panose="02020603050405020304" pitchFamily="18" charset="0"/>
              </a:rPr>
              <a:t>Database Configuration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configuration for Laravel's database services is located in your application's config/</a:t>
            </a:r>
            <a:r>
              <a:rPr lang="en-US" sz="2400" dirty="0" err="1">
                <a:latin typeface="Times New Roman" panose="02020603050405020304" pitchFamily="18" charset="0"/>
                <a:cs typeface="Times New Roman" panose="02020603050405020304" pitchFamily="18" charset="0"/>
              </a:rPr>
              <a:t>database.php</a:t>
            </a:r>
            <a:r>
              <a:rPr lang="en-US" sz="2400" dirty="0">
                <a:latin typeface="Times New Roman" panose="02020603050405020304" pitchFamily="18" charset="0"/>
                <a:cs typeface="Times New Roman" panose="02020603050405020304" pitchFamily="18" charset="0"/>
              </a:rPr>
              <a:t> configuration file. </a:t>
            </a:r>
          </a:p>
          <a:p>
            <a:pPr marL="0" indent="0">
              <a:buNone/>
            </a:pPr>
            <a:r>
              <a:rPr lang="en-US" sz="2400" dirty="0">
                <a:latin typeface="Times New Roman" panose="02020603050405020304" pitchFamily="18" charset="0"/>
                <a:cs typeface="Times New Roman" panose="02020603050405020304" pitchFamily="18" charset="0"/>
              </a:rPr>
              <a:t>In this file, you may define all of your database connections, as well as specify which connection should be used by default. </a:t>
            </a:r>
          </a:p>
          <a:p>
            <a:pPr marL="0" indent="0">
              <a:buNone/>
            </a:pPr>
            <a:r>
              <a:rPr lang="en-US" sz="2400" dirty="0">
                <a:latin typeface="Times New Roman" panose="02020603050405020304" pitchFamily="18" charset="0"/>
                <a:cs typeface="Times New Roman" panose="02020603050405020304" pitchFamily="18" charset="0"/>
              </a:rPr>
              <a:t>Most of the configuration options within this file are driven by the values of your application's environment variables.</a:t>
            </a:r>
          </a:p>
        </p:txBody>
      </p:sp>
    </p:spTree>
    <p:extLst>
      <p:ext uri="{BB962C8B-B14F-4D97-AF65-F5344CB8AC3E}">
        <p14:creationId xmlns:p14="http://schemas.microsoft.com/office/powerpoint/2010/main" val="211982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All Rows from a Table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table () Method - You may use the table method provided by the DB facade to begin a query. The table method returns a fluent query builder instance for the given table, allowing you to chain more constraints onto the query and then finally retrieve the results of the query using the get method.</a:t>
            </a:r>
          </a:p>
          <a:p>
            <a:pPr marL="0" indent="0">
              <a:buNone/>
            </a:pPr>
            <a:r>
              <a:rPr lang="en-US" sz="2400" dirty="0">
                <a:latin typeface="Times New Roman" panose="02020603050405020304" pitchFamily="18" charset="0"/>
                <a:cs typeface="Times New Roman" panose="02020603050405020304" pitchFamily="18" charset="0"/>
              </a:rPr>
              <a:t>get () Method -  The get method returns an Illuminate\Support\Collection instance containing the results of the query where each result is an instance of the PHP </a:t>
            </a:r>
            <a:r>
              <a:rPr lang="en-US" sz="2400" dirty="0" err="1">
                <a:latin typeface="Times New Roman" panose="02020603050405020304" pitchFamily="18" charset="0"/>
                <a:cs typeface="Times New Roman" panose="02020603050405020304" pitchFamily="18" charset="0"/>
              </a:rPr>
              <a:t>stdClass</a:t>
            </a:r>
            <a:r>
              <a:rPr lang="en-US" sz="2400" dirty="0">
                <a:latin typeface="Times New Roman" panose="02020603050405020304" pitchFamily="18" charset="0"/>
                <a:cs typeface="Times New Roman" panose="02020603050405020304" pitchFamily="18" charset="0"/>
              </a:rPr>
              <a:t> object. </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DB::table(‘student’)-&gt;get();</a:t>
            </a:r>
          </a:p>
        </p:txBody>
      </p:sp>
    </p:spTree>
    <p:extLst>
      <p:ext uri="{BB962C8B-B14F-4D97-AF65-F5344CB8AC3E}">
        <p14:creationId xmlns:p14="http://schemas.microsoft.com/office/powerpoint/2010/main" val="41330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sz="4000" b="1" u="sng" dirty="0">
                <a:latin typeface="Times New Roman" panose="02020603050405020304" pitchFamily="18" charset="0"/>
                <a:cs typeface="Times New Roman" panose="02020603050405020304" pitchFamily="18" charset="0"/>
              </a:rPr>
              <a:t>Retrieving Single Row/Column from a Table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first () Method - If you just need to retrieve a single row from a database table, you may use the DB facade's first method. This method will return a single </a:t>
            </a:r>
            <a:r>
              <a:rPr lang="en-US" sz="2400" dirty="0" err="1">
                <a:latin typeface="Times New Roman" panose="02020603050405020304" pitchFamily="18" charset="0"/>
                <a:cs typeface="Times New Roman" panose="02020603050405020304" pitchFamily="18" charset="0"/>
              </a:rPr>
              <a:t>stdClass</a:t>
            </a:r>
            <a:r>
              <a:rPr lang="en-US" sz="2400" dirty="0">
                <a:latin typeface="Times New Roman" panose="02020603050405020304" pitchFamily="18" charset="0"/>
                <a:cs typeface="Times New Roman" panose="02020603050405020304" pitchFamily="18" charset="0"/>
              </a:rPr>
              <a:t> object</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DB::table(‘student’)-&gt;where(‘city’, ‘</a:t>
            </a:r>
            <a:r>
              <a:rPr lang="en-US" sz="2400" dirty="0" err="1">
                <a:cs typeface="Times New Roman" panose="02020603050405020304" pitchFamily="18" charset="0"/>
              </a:rPr>
              <a:t>bokaro</a:t>
            </a:r>
            <a:r>
              <a:rPr lang="en-US" sz="2400" dirty="0">
                <a:cs typeface="Times New Roman" panose="02020603050405020304" pitchFamily="18" charset="0"/>
              </a:rPr>
              <a:t>’)-&gt;first();</a:t>
            </a:r>
          </a:p>
          <a:p>
            <a:pPr marL="0" indent="0">
              <a:buNone/>
            </a:pPr>
            <a:endParaRPr lang="en-US" sz="2400" dirty="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value() Method - If you don't need an entire row, you may extract a single value from a record using the value method. This method will return the value of the column directly.</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DB::table(‘student’)-&gt;where(‘city’, ‘</a:t>
            </a:r>
            <a:r>
              <a:rPr lang="en-US" sz="2400" dirty="0" err="1">
                <a:cs typeface="Times New Roman" panose="02020603050405020304" pitchFamily="18" charset="0"/>
              </a:rPr>
              <a:t>bokaro</a:t>
            </a:r>
            <a:r>
              <a:rPr lang="en-US" sz="2400" dirty="0">
                <a:cs typeface="Times New Roman" panose="02020603050405020304" pitchFamily="18" charset="0"/>
              </a:rPr>
              <a:t>’)-&gt;value(‘email’);</a:t>
            </a:r>
          </a:p>
          <a:p>
            <a:pPr marL="0" indent="0">
              <a:buNone/>
            </a:pPr>
            <a:endParaRPr lang="en-US" sz="2400" dirty="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4641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sz="4000" b="1" u="sng" dirty="0">
                <a:latin typeface="Times New Roman" panose="02020603050405020304" pitchFamily="18" charset="0"/>
                <a:cs typeface="Times New Roman" panose="02020603050405020304" pitchFamily="18" charset="0"/>
              </a:rPr>
              <a:t>Retrieving Single Row/Column from a Table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find() Method - To retrieve a single row by its id column value, use the find method.</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DB::table(‘student’)-&gt;find(5);</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038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Retrieving a List of Column Values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pluck() Method - If you would like to retrieve an Illuminate\Support\Collection instance containing the values of a single column, you may use the pluck method. </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DB::table(‘student’)-&gt;pluck(‘name’);</a:t>
            </a:r>
          </a:p>
          <a:p>
            <a:pPr marL="0" indent="0">
              <a:buNone/>
            </a:pPr>
            <a:endParaRPr lang="en-US" sz="2400" dirty="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You may specify the column that the resulting collection should use as its keys by providing a second argument to the pluck method.</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DB::table(‘student’)-&gt;pluck(‘name’, ‘name’);</a:t>
            </a:r>
          </a:p>
        </p:txBody>
      </p:sp>
    </p:spTree>
    <p:extLst>
      <p:ext uri="{BB962C8B-B14F-4D97-AF65-F5344CB8AC3E}">
        <p14:creationId xmlns:p14="http://schemas.microsoft.com/office/powerpoint/2010/main" val="155076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Chunking Result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chunk() Method - If you need to work with thousands of database records, consider using the chunk method provided by the DB facade. This method retrieves a small chunk of results at a time and feeds each chunk into a closure for processing.</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DB::table(‘student’)-&gt;</a:t>
            </a:r>
            <a:r>
              <a:rPr lang="en-US" sz="2400" dirty="0" err="1">
                <a:cs typeface="Times New Roman" panose="02020603050405020304" pitchFamily="18" charset="0"/>
              </a:rPr>
              <a:t>orderBy</a:t>
            </a:r>
            <a:r>
              <a:rPr lang="en-US" sz="2400" dirty="0">
                <a:cs typeface="Times New Roman" panose="02020603050405020304" pitchFamily="18" charset="0"/>
              </a:rPr>
              <a:t>('id')-&gt;chunk(2, function($students){</a:t>
            </a:r>
          </a:p>
          <a:p>
            <a:pPr marL="0" indent="0">
              <a:buNone/>
            </a:pPr>
            <a:r>
              <a:rPr lang="en-US" sz="2400" dirty="0">
                <a:cs typeface="Times New Roman" panose="02020603050405020304" pitchFamily="18" charset="0"/>
              </a:rPr>
              <a:t>	foreach($students as $</a:t>
            </a:r>
            <a:r>
              <a:rPr lang="en-US" sz="2400" dirty="0" err="1">
                <a:cs typeface="Times New Roman" panose="02020603050405020304" pitchFamily="18" charset="0"/>
              </a:rPr>
              <a:t>stu</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16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Aggregates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query builder also provides a variety of methods for retrieving aggregate values like count, max, min, avg, and sum. You may call any of these methods after constructing your query.</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DB::table(‘student’)-&gt;count();</a:t>
            </a:r>
          </a:p>
          <a:p>
            <a:pPr marL="0" indent="0">
              <a:buNone/>
            </a:pPr>
            <a:r>
              <a:rPr lang="en-US" sz="2400" dirty="0">
                <a:cs typeface="Times New Roman" panose="02020603050405020304" pitchFamily="18" charset="0"/>
              </a:rPr>
              <a:t>$students = DB::table(‘student’)-&gt;max(‘marks’);</a:t>
            </a:r>
          </a:p>
          <a:p>
            <a:pPr marL="0" indent="0">
              <a:buNone/>
            </a:pPr>
            <a:r>
              <a:rPr lang="en-US" sz="2400" dirty="0">
                <a:cs typeface="Times New Roman" panose="02020603050405020304" pitchFamily="18" charset="0"/>
              </a:rPr>
              <a:t>$students = DB::table(‘student’)-&gt;min(‘marks’);</a:t>
            </a: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83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Determining If Records Exist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Instead of using the count method to determine if any records exist that match your query's constraints, you may use the exists and </a:t>
            </a:r>
            <a:r>
              <a:rPr lang="en-US" sz="2400" dirty="0" err="1">
                <a:latin typeface="Times New Roman" panose="02020603050405020304" pitchFamily="18" charset="0"/>
                <a:cs typeface="Times New Roman" panose="02020603050405020304" pitchFamily="18" charset="0"/>
              </a:rPr>
              <a:t>doesntExist</a:t>
            </a:r>
            <a:r>
              <a:rPr lang="en-US" sz="2400" dirty="0">
                <a:latin typeface="Times New Roman" panose="02020603050405020304" pitchFamily="18" charset="0"/>
                <a:cs typeface="Times New Roman" panose="02020603050405020304" pitchFamily="18" charset="0"/>
              </a:rPr>
              <a:t> methods.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if(</a:t>
            </a:r>
            <a:r>
              <a:rPr lang="en-US" sz="2400" dirty="0">
                <a:cs typeface="Times New Roman" panose="02020603050405020304" pitchFamily="18" charset="0"/>
              </a:rPr>
              <a:t>DB::table(‘student’)-&gt;where(‘id’, 2)-&gt;exists()</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if(</a:t>
            </a:r>
            <a:r>
              <a:rPr lang="en-US" sz="2400" dirty="0">
                <a:cs typeface="Times New Roman" panose="02020603050405020304" pitchFamily="18" charset="0"/>
              </a:rPr>
              <a:t>DB::table(‘student’)-&gt;where(‘id’, 2)-&gt;</a:t>
            </a:r>
            <a:r>
              <a:rPr lang="en-US" sz="2400" dirty="0" err="1">
                <a:cs typeface="Times New Roman" panose="02020603050405020304" pitchFamily="18" charset="0"/>
              </a:rPr>
              <a:t>doesntExist</a:t>
            </a:r>
            <a:r>
              <a:rPr lang="en-US" sz="2400" dirty="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7716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select (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select () Method - You may not always want to select all columns from a database table. Using the select method, you can specify a custom "select" clause for the query.</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DB::table(‘student’)-&gt;select(‘name’, ‘email as </a:t>
            </a:r>
            <a:r>
              <a:rPr lang="en-US" sz="2400" dirty="0" err="1">
                <a:cs typeface="Times New Roman" panose="02020603050405020304" pitchFamily="18" charset="0"/>
              </a:rPr>
              <a:t>stu_email</a:t>
            </a:r>
            <a:r>
              <a:rPr lang="en-US" sz="2400" dirty="0">
                <a:cs typeface="Times New Roman" panose="02020603050405020304" pitchFamily="18" charset="0"/>
              </a:rPr>
              <a:t>’)-&gt;get();</a:t>
            </a:r>
          </a:p>
        </p:txBody>
      </p:sp>
    </p:spTree>
    <p:extLst>
      <p:ext uri="{BB962C8B-B14F-4D97-AF65-F5344CB8AC3E}">
        <p14:creationId xmlns:p14="http://schemas.microsoft.com/office/powerpoint/2010/main" val="132555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distinct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distinct () Method - The distinct method allows you to force the query to return distinct results.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DB::table(‘student’)-&gt;distinct()-&gt;get();</a:t>
            </a:r>
          </a:p>
        </p:txBody>
      </p:sp>
    </p:spTree>
    <p:extLst>
      <p:ext uri="{BB962C8B-B14F-4D97-AF65-F5344CB8AC3E}">
        <p14:creationId xmlns:p14="http://schemas.microsoft.com/office/powerpoint/2010/main" val="288342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where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where () Method - You may use the query builder's where method to add "where" clauses to the query.</a:t>
            </a:r>
          </a:p>
          <a:p>
            <a:pPr marL="0" indent="0">
              <a:buNone/>
            </a:pPr>
            <a:r>
              <a:rPr lang="en-US" sz="2400" dirty="0">
                <a:latin typeface="Times New Roman" panose="02020603050405020304" pitchFamily="18" charset="0"/>
                <a:cs typeface="Times New Roman" panose="02020603050405020304" pitchFamily="18" charset="0"/>
              </a:rPr>
              <a:t>Syntax:- where(‘</a:t>
            </a:r>
            <a:r>
              <a:rPr lang="en-US" sz="2400" dirty="0" err="1">
                <a:latin typeface="Times New Roman" panose="02020603050405020304" pitchFamily="18" charset="0"/>
                <a:cs typeface="Times New Roman" panose="02020603050405020304" pitchFamily="18" charset="0"/>
              </a:rPr>
              <a:t>column_name</a:t>
            </a:r>
            <a:r>
              <a:rPr lang="en-US" sz="2400" dirty="0">
                <a:latin typeface="Times New Roman" panose="02020603050405020304" pitchFamily="18" charset="0"/>
                <a:cs typeface="Times New Roman" panose="02020603050405020304" pitchFamily="18" charset="0"/>
              </a:rPr>
              <a:t>’, ‘operator’, ‘value’)</a:t>
            </a:r>
          </a:p>
          <a:p>
            <a:pPr marL="0" indent="0">
              <a:buNone/>
            </a:pPr>
            <a:r>
              <a:rPr lang="en-US" sz="2400" dirty="0">
                <a:latin typeface="Times New Roman" panose="02020603050405020304" pitchFamily="18" charset="0"/>
                <a:cs typeface="Times New Roman" panose="02020603050405020304" pitchFamily="18" charset="0"/>
              </a:rPr>
              <a:t>The first argument is the name of the column. </a:t>
            </a:r>
          </a:p>
          <a:p>
            <a:pPr marL="0" indent="0">
              <a:buNone/>
            </a:pPr>
            <a:r>
              <a:rPr lang="en-US" sz="2400" dirty="0">
                <a:latin typeface="Times New Roman" panose="02020603050405020304" pitchFamily="18" charset="0"/>
                <a:cs typeface="Times New Roman" panose="02020603050405020304" pitchFamily="18" charset="0"/>
              </a:rPr>
              <a:t>The second argument is an operator, which can be any of the database's supported operators. </a:t>
            </a:r>
          </a:p>
          <a:p>
            <a:pPr marL="0" indent="0">
              <a:buNone/>
            </a:pPr>
            <a:r>
              <a:rPr lang="en-US" sz="2400" dirty="0">
                <a:latin typeface="Times New Roman" panose="02020603050405020304" pitchFamily="18" charset="0"/>
                <a:cs typeface="Times New Roman" panose="02020603050405020304" pitchFamily="18" charset="0"/>
              </a:rPr>
              <a:t>The third argument is the value to compare against the column's value.</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DB::table(‘student’)-&gt;where(‘id’, ‘=’, 4)-&gt;get();</a:t>
            </a:r>
          </a:p>
          <a:p>
            <a:pPr marL="0" indent="0">
              <a:buNone/>
            </a:pPr>
            <a:r>
              <a:rPr lang="en-US" sz="2400" dirty="0">
                <a:cs typeface="Times New Roman" panose="02020603050405020304" pitchFamily="18" charset="0"/>
              </a:rPr>
              <a:t>$students = DB::table(‘student’)-&gt;where(‘id’, 4)-&gt;get();</a:t>
            </a:r>
          </a:p>
          <a:p>
            <a:pPr marL="0" indent="0">
              <a:buNone/>
            </a:pPr>
            <a:r>
              <a:rPr lang="en-US" sz="2400" dirty="0">
                <a:cs typeface="Times New Roman" panose="02020603050405020304" pitchFamily="18" charset="0"/>
              </a:rPr>
              <a:t>$students = DB::table(‘student’)-&gt;where(‘id’, ‘&gt;’, 4)-&gt;get();</a:t>
            </a:r>
          </a:p>
          <a:p>
            <a:pPr marL="0" indent="0">
              <a:buNone/>
            </a:pPr>
            <a:r>
              <a:rPr lang="en-US" sz="2400" dirty="0">
                <a:cs typeface="Times New Roman" panose="02020603050405020304" pitchFamily="18" charset="0"/>
              </a:rPr>
              <a:t>$students = DB::table(‘student’)-&gt;where(‘name’, ‘like’, ‘s%’)-&gt;get();</a:t>
            </a:r>
          </a:p>
        </p:txBody>
      </p:sp>
    </p:spTree>
    <p:extLst>
      <p:ext uri="{BB962C8B-B14F-4D97-AF65-F5344CB8AC3E}">
        <p14:creationId xmlns:p14="http://schemas.microsoft.com/office/powerpoint/2010/main" val="280533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orWhere</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DB::table(‘student’)-&gt;where(‘id’, ‘=’, 4)-&gt;</a:t>
            </a:r>
            <a:r>
              <a:rPr lang="en-US" sz="2400" dirty="0" err="1">
                <a:cs typeface="Times New Roman" panose="02020603050405020304" pitchFamily="18" charset="0"/>
              </a:rPr>
              <a:t>orWhere</a:t>
            </a:r>
            <a:r>
              <a:rPr lang="en-US" sz="2400" dirty="0">
                <a:cs typeface="Times New Roman" panose="02020603050405020304" pitchFamily="18" charset="0"/>
              </a:rPr>
              <a:t>(‘name’, ‘</a:t>
            </a:r>
            <a:r>
              <a:rPr lang="en-US" sz="2400" dirty="0" err="1">
                <a:cs typeface="Times New Roman" panose="02020603050405020304" pitchFamily="18" charset="0"/>
              </a:rPr>
              <a:t>sonam</a:t>
            </a:r>
            <a:r>
              <a:rPr lang="en-US" sz="2400" dirty="0">
                <a:cs typeface="Times New Roman" panose="02020603050405020304" pitchFamily="18" charset="0"/>
              </a:rPr>
              <a:t>’)-&gt;get();</a:t>
            </a:r>
          </a:p>
        </p:txBody>
      </p:sp>
    </p:spTree>
    <p:extLst>
      <p:ext uri="{BB962C8B-B14F-4D97-AF65-F5344CB8AC3E}">
        <p14:creationId xmlns:p14="http://schemas.microsoft.com/office/powerpoint/2010/main" val="420071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whereBetween</a:t>
            </a:r>
            <a:r>
              <a:rPr lang="en-US" b="1" u="sng" dirty="0">
                <a:latin typeface="Times New Roman" panose="02020603050405020304" pitchFamily="18" charset="0"/>
                <a:cs typeface="Times New Roman" panose="02020603050405020304" pitchFamily="18" charset="0"/>
              </a:rPr>
              <a:t> / </a:t>
            </a:r>
            <a:r>
              <a:rPr lang="en-US" b="1" u="sng" dirty="0" err="1">
                <a:latin typeface="Times New Roman" panose="02020603050405020304" pitchFamily="18" charset="0"/>
                <a:cs typeface="Times New Roman" panose="02020603050405020304" pitchFamily="18" charset="0"/>
              </a:rPr>
              <a:t>orWhereBetween</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whereBetween</a:t>
            </a:r>
            <a:r>
              <a:rPr lang="en-US" sz="2400" dirty="0">
                <a:latin typeface="Times New Roman" panose="02020603050405020304" pitchFamily="18" charset="0"/>
                <a:cs typeface="Times New Roman" panose="02020603050405020304" pitchFamily="18" charset="0"/>
              </a:rPr>
              <a:t> method verifies that a column's value is between two values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whereBetween</a:t>
            </a:r>
            <a:r>
              <a:rPr lang="en-US" sz="2400" dirty="0">
                <a:cs typeface="Times New Roman" panose="02020603050405020304" pitchFamily="18" charset="0"/>
              </a:rPr>
              <a:t>(‘marks’, [10, 50])</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whereBetween</a:t>
            </a:r>
            <a:r>
              <a:rPr lang="en-US" sz="2400" dirty="0">
                <a:cs typeface="Times New Roman" panose="02020603050405020304" pitchFamily="18" charset="0"/>
              </a:rPr>
              <a:t>(‘marks’, [10, 50])</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orWhereBetween</a:t>
            </a:r>
            <a:r>
              <a:rPr lang="en-US" sz="2400" dirty="0">
                <a:cs typeface="Times New Roman" panose="02020603050405020304" pitchFamily="18" charset="0"/>
              </a:rPr>
              <a:t>(‘id’, [2, 5])</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4110087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sz="4000" b="1" u="sng" dirty="0" err="1">
                <a:latin typeface="Times New Roman" panose="02020603050405020304" pitchFamily="18" charset="0"/>
                <a:cs typeface="Times New Roman" panose="02020603050405020304" pitchFamily="18" charset="0"/>
              </a:rPr>
              <a:t>whereNotBetween</a:t>
            </a:r>
            <a:r>
              <a:rPr lang="en-US" sz="4000" b="1" u="sng" dirty="0">
                <a:latin typeface="Times New Roman" panose="02020603050405020304" pitchFamily="18" charset="0"/>
                <a:cs typeface="Times New Roman" panose="02020603050405020304" pitchFamily="18" charset="0"/>
              </a:rPr>
              <a:t> / </a:t>
            </a:r>
            <a:r>
              <a:rPr lang="en-US" sz="4000" b="1" u="sng" dirty="0" err="1">
                <a:latin typeface="Times New Roman" panose="02020603050405020304" pitchFamily="18" charset="0"/>
                <a:cs typeface="Times New Roman" panose="02020603050405020304" pitchFamily="18" charset="0"/>
              </a:rPr>
              <a:t>orWhereNotBetween</a:t>
            </a:r>
            <a:r>
              <a:rPr lang="en-US" sz="4000"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whereNotBetween</a:t>
            </a:r>
            <a:r>
              <a:rPr lang="en-US" sz="2400" dirty="0">
                <a:latin typeface="Times New Roman" panose="02020603050405020304" pitchFamily="18" charset="0"/>
                <a:cs typeface="Times New Roman" panose="02020603050405020304" pitchFamily="18" charset="0"/>
              </a:rPr>
              <a:t> method verifies that a column's value lies outside of two values.</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whereNotBetween</a:t>
            </a:r>
            <a:r>
              <a:rPr lang="en-US" sz="2400" dirty="0">
                <a:cs typeface="Times New Roman" panose="02020603050405020304" pitchFamily="18" charset="0"/>
              </a:rPr>
              <a:t>(‘marks’, [50, 90])</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whereNotBetween</a:t>
            </a:r>
            <a:r>
              <a:rPr lang="en-US" sz="2400" dirty="0">
                <a:cs typeface="Times New Roman" panose="02020603050405020304" pitchFamily="18" charset="0"/>
              </a:rPr>
              <a:t>(‘marks’, [50, 90])</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orWhereNotBetween</a:t>
            </a:r>
            <a:r>
              <a:rPr lang="en-US" sz="2400" dirty="0">
                <a:cs typeface="Times New Roman" panose="02020603050405020304" pitchFamily="18" charset="0"/>
              </a:rPr>
              <a:t>(‘id’, [2, 5])</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6351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whereIn</a:t>
            </a:r>
            <a:r>
              <a:rPr lang="en-US" b="1" u="sng" dirty="0">
                <a:latin typeface="Times New Roman" panose="02020603050405020304" pitchFamily="18" charset="0"/>
                <a:cs typeface="Times New Roman" panose="02020603050405020304" pitchFamily="18" charset="0"/>
              </a:rPr>
              <a:t> / </a:t>
            </a:r>
            <a:r>
              <a:rPr lang="en-US" b="1" u="sng" dirty="0" err="1">
                <a:latin typeface="Times New Roman" panose="02020603050405020304" pitchFamily="18" charset="0"/>
                <a:cs typeface="Times New Roman" panose="02020603050405020304" pitchFamily="18" charset="0"/>
              </a:rPr>
              <a:t>orWhereIn</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whereIn</a:t>
            </a:r>
            <a:r>
              <a:rPr lang="en-US" sz="2400" dirty="0">
                <a:latin typeface="Times New Roman" panose="02020603050405020304" pitchFamily="18" charset="0"/>
                <a:cs typeface="Times New Roman" panose="02020603050405020304" pitchFamily="18" charset="0"/>
              </a:rPr>
              <a:t> method verifies that a given column's value is contained within the given array.</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whereIn</a:t>
            </a:r>
            <a:r>
              <a:rPr lang="en-US" sz="2400" dirty="0">
                <a:cs typeface="Times New Roman" panose="02020603050405020304" pitchFamily="18" charset="0"/>
              </a:rPr>
              <a:t>(‘marks’, [50, 90])</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whereIn</a:t>
            </a:r>
            <a:r>
              <a:rPr lang="en-US" sz="2400" dirty="0">
                <a:cs typeface="Times New Roman" panose="02020603050405020304" pitchFamily="18" charset="0"/>
              </a:rPr>
              <a:t>(‘marks’, [50, 90])</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orWhereIn</a:t>
            </a:r>
            <a:r>
              <a:rPr lang="en-US" sz="2400" dirty="0">
                <a:cs typeface="Times New Roman" panose="02020603050405020304" pitchFamily="18" charset="0"/>
              </a:rPr>
              <a:t>(‘id’, [2, 5])</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75223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whereNotIn</a:t>
            </a:r>
            <a:r>
              <a:rPr lang="en-US" b="1" u="sng" dirty="0">
                <a:latin typeface="Times New Roman" panose="02020603050405020304" pitchFamily="18" charset="0"/>
                <a:cs typeface="Times New Roman" panose="02020603050405020304" pitchFamily="18" charset="0"/>
              </a:rPr>
              <a:t> / </a:t>
            </a:r>
            <a:r>
              <a:rPr lang="en-US" b="1" u="sng" dirty="0" err="1">
                <a:latin typeface="Times New Roman" panose="02020603050405020304" pitchFamily="18" charset="0"/>
                <a:cs typeface="Times New Roman" panose="02020603050405020304" pitchFamily="18" charset="0"/>
              </a:rPr>
              <a:t>orWhereNotIn</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whereIn</a:t>
            </a:r>
            <a:r>
              <a:rPr lang="en-US" sz="2400" dirty="0">
                <a:latin typeface="Times New Roman" panose="02020603050405020304" pitchFamily="18" charset="0"/>
                <a:cs typeface="Times New Roman" panose="02020603050405020304" pitchFamily="18" charset="0"/>
              </a:rPr>
              <a:t> method verifies that a given column's value is contained within the given array.</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whereNotIn</a:t>
            </a:r>
            <a:r>
              <a:rPr lang="en-US" sz="2400" dirty="0">
                <a:cs typeface="Times New Roman" panose="02020603050405020304" pitchFamily="18" charset="0"/>
              </a:rPr>
              <a:t>(‘marks’, [50, 90])</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whereNotIn</a:t>
            </a:r>
            <a:r>
              <a:rPr lang="en-US" sz="2400" dirty="0">
                <a:cs typeface="Times New Roman" panose="02020603050405020304" pitchFamily="18" charset="0"/>
              </a:rPr>
              <a:t>(‘marks’, [50, 90])</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orWhereNotIn</a:t>
            </a:r>
            <a:r>
              <a:rPr lang="en-US" sz="2400" dirty="0">
                <a:cs typeface="Times New Roman" panose="02020603050405020304" pitchFamily="18" charset="0"/>
              </a:rPr>
              <a:t>(‘id’, [2, 5])</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62769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whereNull</a:t>
            </a:r>
            <a:r>
              <a:rPr lang="en-US" b="1" u="sng" dirty="0">
                <a:latin typeface="Times New Roman" panose="02020603050405020304" pitchFamily="18" charset="0"/>
                <a:cs typeface="Times New Roman" panose="02020603050405020304" pitchFamily="18" charset="0"/>
              </a:rPr>
              <a:t> / </a:t>
            </a:r>
            <a:r>
              <a:rPr lang="en-US" b="1" u="sng" dirty="0" err="1">
                <a:latin typeface="Times New Roman" panose="02020603050405020304" pitchFamily="18" charset="0"/>
                <a:cs typeface="Times New Roman" panose="02020603050405020304" pitchFamily="18" charset="0"/>
              </a:rPr>
              <a:t>orWhereNull</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whereNull</a:t>
            </a:r>
            <a:r>
              <a:rPr lang="en-US" sz="2400" dirty="0">
                <a:latin typeface="Times New Roman" panose="02020603050405020304" pitchFamily="18" charset="0"/>
                <a:cs typeface="Times New Roman" panose="02020603050405020304" pitchFamily="18" charset="0"/>
              </a:rPr>
              <a:t> method verifies that the value of the given column is NULL.</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whereNull</a:t>
            </a:r>
            <a:r>
              <a:rPr lang="en-US" sz="2400" dirty="0">
                <a:cs typeface="Times New Roman" panose="02020603050405020304" pitchFamily="18" charset="0"/>
              </a:rPr>
              <a:t>(‘marks’)</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whereNull</a:t>
            </a:r>
            <a:r>
              <a:rPr lang="en-US" sz="2400" dirty="0">
                <a:cs typeface="Times New Roman" panose="02020603050405020304" pitchFamily="18" charset="0"/>
              </a:rPr>
              <a:t>(‘email’)</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orWhereNull</a:t>
            </a:r>
            <a:r>
              <a:rPr lang="en-US" sz="2400" dirty="0">
                <a:cs typeface="Times New Roman" panose="02020603050405020304" pitchFamily="18" charset="0"/>
              </a:rPr>
              <a:t>(‘name’)</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49389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whereNotNull</a:t>
            </a:r>
            <a:r>
              <a:rPr lang="en-US" b="1" u="sng" dirty="0">
                <a:latin typeface="Times New Roman" panose="02020603050405020304" pitchFamily="18" charset="0"/>
                <a:cs typeface="Times New Roman" panose="02020603050405020304" pitchFamily="18" charset="0"/>
              </a:rPr>
              <a:t> / </a:t>
            </a:r>
            <a:r>
              <a:rPr lang="en-US" b="1" u="sng" dirty="0" err="1">
                <a:latin typeface="Times New Roman" panose="02020603050405020304" pitchFamily="18" charset="0"/>
                <a:cs typeface="Times New Roman" panose="02020603050405020304" pitchFamily="18" charset="0"/>
              </a:rPr>
              <a:t>orWhereNotNull</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whereNotNull</a:t>
            </a:r>
            <a:r>
              <a:rPr lang="en-US" sz="2400" dirty="0">
                <a:latin typeface="Times New Roman" panose="02020603050405020304" pitchFamily="18" charset="0"/>
                <a:cs typeface="Times New Roman" panose="02020603050405020304" pitchFamily="18" charset="0"/>
              </a:rPr>
              <a:t> method verifies that the column's value is not NULL.</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whereNotNull</a:t>
            </a:r>
            <a:r>
              <a:rPr lang="en-US" sz="2400" dirty="0">
                <a:cs typeface="Times New Roman" panose="02020603050405020304" pitchFamily="18" charset="0"/>
              </a:rPr>
              <a:t>(‘marks’)</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whereNotNull</a:t>
            </a:r>
            <a:r>
              <a:rPr lang="en-US" sz="2400" dirty="0">
                <a:cs typeface="Times New Roman" panose="02020603050405020304" pitchFamily="18" charset="0"/>
              </a:rPr>
              <a:t>(‘email’)</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orWhereNotNull</a:t>
            </a:r>
            <a:r>
              <a:rPr lang="en-US" sz="2400" dirty="0">
                <a:cs typeface="Times New Roman" panose="02020603050405020304" pitchFamily="18" charset="0"/>
              </a:rPr>
              <a:t>(‘name’)</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59219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whereDate</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whereDate</a:t>
            </a:r>
            <a:r>
              <a:rPr lang="en-US" sz="2400" dirty="0">
                <a:latin typeface="Times New Roman" panose="02020603050405020304" pitchFamily="18" charset="0"/>
                <a:cs typeface="Times New Roman" panose="02020603050405020304" pitchFamily="18" charset="0"/>
              </a:rPr>
              <a:t> method may be used to compare a column's value against a date.</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whereDate</a:t>
            </a:r>
            <a:r>
              <a:rPr lang="en-US" sz="2400" dirty="0">
                <a:cs typeface="Times New Roman" panose="02020603050405020304" pitchFamily="18" charset="0"/>
              </a:rPr>
              <a:t>(‘</a:t>
            </a:r>
            <a:r>
              <a:rPr lang="en-US" sz="2400" dirty="0" err="1">
                <a:cs typeface="Times New Roman" panose="02020603050405020304" pitchFamily="18" charset="0"/>
              </a:rPr>
              <a:t>pass_date</a:t>
            </a:r>
            <a:r>
              <a:rPr lang="en-US" sz="2400" dirty="0">
                <a:cs typeface="Times New Roman" panose="02020603050405020304" pitchFamily="18" charset="0"/>
              </a:rPr>
              <a:t>’, ‘2021-01-30’)</a:t>
            </a:r>
          </a:p>
          <a:p>
            <a:pPr marL="461963" indent="0">
              <a:buNone/>
            </a:pPr>
            <a:r>
              <a:rPr lang="en-US" sz="2400" dirty="0">
                <a:cs typeface="Times New Roman" panose="02020603050405020304" pitchFamily="18" charset="0"/>
              </a:rPr>
              <a:t>-&gt;get();</a:t>
            </a:r>
          </a:p>
        </p:txBody>
      </p:sp>
    </p:spTree>
    <p:extLst>
      <p:ext uri="{BB962C8B-B14F-4D97-AF65-F5344CB8AC3E}">
        <p14:creationId xmlns:p14="http://schemas.microsoft.com/office/powerpoint/2010/main" val="208739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whereMonth</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whereMonth</a:t>
            </a:r>
            <a:r>
              <a:rPr lang="en-US" sz="2400" dirty="0">
                <a:latin typeface="Times New Roman" panose="02020603050405020304" pitchFamily="18" charset="0"/>
                <a:cs typeface="Times New Roman" panose="02020603050405020304" pitchFamily="18" charset="0"/>
              </a:rPr>
              <a:t> method may be used to compare a column's value against a specific month.</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whereMonth</a:t>
            </a:r>
            <a:r>
              <a:rPr lang="en-US" sz="2400" dirty="0">
                <a:cs typeface="Times New Roman" panose="02020603050405020304" pitchFamily="18" charset="0"/>
              </a:rPr>
              <a:t>(‘</a:t>
            </a:r>
            <a:r>
              <a:rPr lang="en-US" sz="2400" dirty="0" err="1">
                <a:cs typeface="Times New Roman" panose="02020603050405020304" pitchFamily="18" charset="0"/>
              </a:rPr>
              <a:t>pass_date</a:t>
            </a:r>
            <a:r>
              <a:rPr lang="en-US" sz="2400" dirty="0">
                <a:cs typeface="Times New Roman" panose="02020603050405020304" pitchFamily="18" charset="0"/>
              </a:rPr>
              <a:t>’, ‘01’)</a:t>
            </a:r>
          </a:p>
          <a:p>
            <a:pPr marL="461963" indent="0">
              <a:buNone/>
            </a:pPr>
            <a:r>
              <a:rPr lang="en-US" sz="2400" dirty="0">
                <a:cs typeface="Times New Roman" panose="02020603050405020304" pitchFamily="18" charset="0"/>
              </a:rPr>
              <a:t>-&gt;get();</a:t>
            </a:r>
          </a:p>
        </p:txBody>
      </p:sp>
    </p:spTree>
    <p:extLst>
      <p:ext uri="{BB962C8B-B14F-4D97-AF65-F5344CB8AC3E}">
        <p14:creationId xmlns:p14="http://schemas.microsoft.com/office/powerpoint/2010/main" val="336402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whereDay</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whereDay</a:t>
            </a:r>
            <a:r>
              <a:rPr lang="en-US" sz="2400" dirty="0">
                <a:latin typeface="Times New Roman" panose="02020603050405020304" pitchFamily="18" charset="0"/>
                <a:cs typeface="Times New Roman" panose="02020603050405020304" pitchFamily="18" charset="0"/>
              </a:rPr>
              <a:t> method may be used to compare a column's value against a specific day of the month.</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whereDay</a:t>
            </a:r>
            <a:r>
              <a:rPr lang="en-US" sz="2400" dirty="0">
                <a:cs typeface="Times New Roman" panose="02020603050405020304" pitchFamily="18" charset="0"/>
              </a:rPr>
              <a:t>(‘</a:t>
            </a:r>
            <a:r>
              <a:rPr lang="en-US" sz="2400" dirty="0" err="1">
                <a:cs typeface="Times New Roman" panose="02020603050405020304" pitchFamily="18" charset="0"/>
              </a:rPr>
              <a:t>pass_date</a:t>
            </a:r>
            <a:r>
              <a:rPr lang="en-US" sz="2400" dirty="0">
                <a:cs typeface="Times New Roman" panose="02020603050405020304" pitchFamily="18" charset="0"/>
              </a:rPr>
              <a:t>’, ‘30’)</a:t>
            </a:r>
          </a:p>
          <a:p>
            <a:pPr marL="461963" indent="0">
              <a:buNone/>
            </a:pPr>
            <a:r>
              <a:rPr lang="en-US" sz="2400" dirty="0">
                <a:cs typeface="Times New Roman" panose="02020603050405020304" pitchFamily="18" charset="0"/>
              </a:rPr>
              <a:t>-&gt;get();</a:t>
            </a:r>
          </a:p>
        </p:txBody>
      </p:sp>
    </p:spTree>
    <p:extLst>
      <p:ext uri="{BB962C8B-B14F-4D97-AF65-F5344CB8AC3E}">
        <p14:creationId xmlns:p14="http://schemas.microsoft.com/office/powerpoint/2010/main" val="241793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whereYear</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whereYear</a:t>
            </a:r>
            <a:r>
              <a:rPr lang="en-US" sz="2400" dirty="0">
                <a:latin typeface="Times New Roman" panose="02020603050405020304" pitchFamily="18" charset="0"/>
                <a:cs typeface="Times New Roman" panose="02020603050405020304" pitchFamily="18" charset="0"/>
              </a:rPr>
              <a:t> method may be used to compare a column's value against a specific year.</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whereYear</a:t>
            </a:r>
            <a:r>
              <a:rPr lang="en-US" sz="2400" dirty="0">
                <a:cs typeface="Times New Roman" panose="02020603050405020304" pitchFamily="18" charset="0"/>
              </a:rPr>
              <a:t>(‘</a:t>
            </a:r>
            <a:r>
              <a:rPr lang="en-US" sz="2400" dirty="0" err="1">
                <a:cs typeface="Times New Roman" panose="02020603050405020304" pitchFamily="18" charset="0"/>
              </a:rPr>
              <a:t>pass_date</a:t>
            </a:r>
            <a:r>
              <a:rPr lang="en-US" sz="2400" dirty="0">
                <a:cs typeface="Times New Roman" panose="02020603050405020304" pitchFamily="18" charset="0"/>
              </a:rPr>
              <a:t>’, ‘2021’)</a:t>
            </a:r>
          </a:p>
          <a:p>
            <a:pPr marL="461963" indent="0">
              <a:buNone/>
            </a:pPr>
            <a:r>
              <a:rPr lang="en-US" sz="2400" dirty="0">
                <a:cs typeface="Times New Roman" panose="02020603050405020304" pitchFamily="18" charset="0"/>
              </a:rPr>
              <a:t>-&gt;get();</a:t>
            </a:r>
          </a:p>
        </p:txBody>
      </p:sp>
    </p:spTree>
    <p:extLst>
      <p:ext uri="{BB962C8B-B14F-4D97-AF65-F5344CB8AC3E}">
        <p14:creationId xmlns:p14="http://schemas.microsoft.com/office/powerpoint/2010/main" val="363580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whereTime</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whereTime</a:t>
            </a:r>
            <a:r>
              <a:rPr lang="en-US" sz="2400" dirty="0">
                <a:latin typeface="Times New Roman" panose="02020603050405020304" pitchFamily="18" charset="0"/>
                <a:cs typeface="Times New Roman" panose="02020603050405020304" pitchFamily="18" charset="0"/>
              </a:rPr>
              <a:t> method may be used to compare a column's value against a specific time.</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whereTime</a:t>
            </a:r>
            <a:r>
              <a:rPr lang="en-US" sz="2400" dirty="0">
                <a:cs typeface="Times New Roman" panose="02020603050405020304" pitchFamily="18" charset="0"/>
              </a:rPr>
              <a:t>(‘</a:t>
            </a:r>
            <a:r>
              <a:rPr lang="en-US" sz="2400" dirty="0" err="1">
                <a:cs typeface="Times New Roman" panose="02020603050405020304" pitchFamily="18" charset="0"/>
              </a:rPr>
              <a:t>pass_date</a:t>
            </a:r>
            <a:r>
              <a:rPr lang="en-US" sz="2400" dirty="0">
                <a:cs typeface="Times New Roman" panose="02020603050405020304" pitchFamily="18" charset="0"/>
              </a:rPr>
              <a:t>’, ‘10:40:50’)</a:t>
            </a:r>
          </a:p>
          <a:p>
            <a:pPr marL="461963" indent="0">
              <a:buNone/>
            </a:pPr>
            <a:r>
              <a:rPr lang="en-US" sz="2400" dirty="0">
                <a:cs typeface="Times New Roman" panose="02020603050405020304" pitchFamily="18" charset="0"/>
              </a:rPr>
              <a:t>-&gt;get();</a:t>
            </a:r>
          </a:p>
        </p:txBody>
      </p:sp>
    </p:spTree>
    <p:extLst>
      <p:ext uri="{BB962C8B-B14F-4D97-AF65-F5344CB8AC3E}">
        <p14:creationId xmlns:p14="http://schemas.microsoft.com/office/powerpoint/2010/main" val="288282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whereColumn</a:t>
            </a:r>
            <a:r>
              <a:rPr lang="en-US" b="1" u="sng" dirty="0">
                <a:latin typeface="Times New Roman" panose="02020603050405020304" pitchFamily="18" charset="0"/>
                <a:cs typeface="Times New Roman" panose="02020603050405020304" pitchFamily="18" charset="0"/>
              </a:rPr>
              <a:t> / </a:t>
            </a:r>
            <a:r>
              <a:rPr lang="en-US" b="1" u="sng" dirty="0" err="1">
                <a:latin typeface="Times New Roman" panose="02020603050405020304" pitchFamily="18" charset="0"/>
                <a:cs typeface="Times New Roman" panose="02020603050405020304" pitchFamily="18" charset="0"/>
              </a:rPr>
              <a:t>orWhereColumn</a:t>
            </a:r>
            <a:r>
              <a:rPr lang="en-US" b="1" u="sng" dirty="0">
                <a:latin typeface="Times New Roman" panose="02020603050405020304" pitchFamily="18" charset="0"/>
                <a:cs typeface="Times New Roman" panose="02020603050405020304" pitchFamily="18" charset="0"/>
              </a:rPr>
              <a:t> Clause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whereColumn</a:t>
            </a:r>
            <a:r>
              <a:rPr lang="en-US" sz="2400" dirty="0">
                <a:latin typeface="Times New Roman" panose="02020603050405020304" pitchFamily="18" charset="0"/>
                <a:cs typeface="Times New Roman" panose="02020603050405020304" pitchFamily="18" charset="0"/>
              </a:rPr>
              <a:t> method may be used to verify that two columns are equal.</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whereColumn</a:t>
            </a:r>
            <a:r>
              <a:rPr lang="en-US" sz="2400" dirty="0">
                <a:cs typeface="Times New Roman" panose="02020603050405020304" pitchFamily="18" charset="0"/>
              </a:rPr>
              <a:t>(‘name’, ‘email’)</a:t>
            </a:r>
          </a:p>
          <a:p>
            <a:pPr marL="461963" indent="0">
              <a:buNone/>
            </a:pPr>
            <a:r>
              <a:rPr lang="en-US" sz="2400" dirty="0">
                <a:cs typeface="Times New Roman" panose="02020603050405020304" pitchFamily="18" charset="0"/>
              </a:rPr>
              <a:t>-&gt;get();</a:t>
            </a:r>
          </a:p>
          <a:p>
            <a:pPr marL="461963"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whereColumn</a:t>
            </a:r>
            <a:r>
              <a:rPr lang="en-US" sz="2400" dirty="0">
                <a:cs typeface="Times New Roman" panose="02020603050405020304" pitchFamily="18" charset="0"/>
              </a:rPr>
              <a:t>(‘name’, ‘email’)</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orWhereColumn</a:t>
            </a:r>
            <a:r>
              <a:rPr lang="en-US" sz="2400" dirty="0">
                <a:cs typeface="Times New Roman" panose="02020603050405020304" pitchFamily="18" charset="0"/>
              </a:rPr>
              <a:t>(‘name’, ‘marks’)</a:t>
            </a:r>
          </a:p>
          <a:p>
            <a:pPr marL="461963" indent="0">
              <a:buNone/>
            </a:pPr>
            <a:r>
              <a:rPr lang="en-US" sz="2400" dirty="0">
                <a:cs typeface="Times New Roman" panose="02020603050405020304" pitchFamily="18" charset="0"/>
              </a:rPr>
              <a:t>-&gt;get();</a:t>
            </a:r>
          </a:p>
          <a:p>
            <a:pPr marL="461963"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52457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orderBy</a:t>
            </a:r>
            <a:r>
              <a:rPr lang="en-US" b="1" u="sng" dirty="0">
                <a:latin typeface="Times New Roman" panose="02020603050405020304" pitchFamily="18" charset="0"/>
                <a:cs typeface="Times New Roman" panose="02020603050405020304" pitchFamily="18" charset="0"/>
              </a:rPr>
              <a:t>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err="1">
                <a:latin typeface="Times New Roman" panose="02020603050405020304" pitchFamily="18" charset="0"/>
                <a:cs typeface="Times New Roman" panose="02020603050405020304" pitchFamily="18" charset="0"/>
              </a:rPr>
              <a:t>orderBy</a:t>
            </a:r>
            <a:r>
              <a:rPr lang="en-US" sz="2400" dirty="0">
                <a:latin typeface="Times New Roman" panose="02020603050405020304" pitchFamily="18" charset="0"/>
                <a:cs typeface="Times New Roman" panose="02020603050405020304" pitchFamily="18" charset="0"/>
              </a:rPr>
              <a:t>() Method - The </a:t>
            </a:r>
            <a:r>
              <a:rPr lang="en-US" sz="2400" dirty="0" err="1">
                <a:latin typeface="Times New Roman" panose="02020603050405020304" pitchFamily="18" charset="0"/>
                <a:cs typeface="Times New Roman" panose="02020603050405020304" pitchFamily="18" charset="0"/>
              </a:rPr>
              <a:t>orderBy</a:t>
            </a:r>
            <a:r>
              <a:rPr lang="en-US" sz="2400" dirty="0">
                <a:latin typeface="Times New Roman" panose="02020603050405020304" pitchFamily="18" charset="0"/>
                <a:cs typeface="Times New Roman" panose="02020603050405020304" pitchFamily="18" charset="0"/>
              </a:rPr>
              <a:t> method allows you to sort the results of the query by a given column.</a:t>
            </a:r>
          </a:p>
          <a:p>
            <a:pPr marL="0" indent="0">
              <a:buNone/>
            </a:pPr>
            <a:r>
              <a:rPr lang="en-US" sz="2400" dirty="0">
                <a:latin typeface="Times New Roman" panose="02020603050405020304" pitchFamily="18" charset="0"/>
                <a:cs typeface="Times New Roman" panose="02020603050405020304" pitchFamily="18" charset="0"/>
              </a:rPr>
              <a:t>Syntax:- </a:t>
            </a:r>
          </a:p>
          <a:p>
            <a:pPr marL="0" indent="0">
              <a:buNone/>
            </a:pPr>
            <a:r>
              <a:rPr lang="en-US" sz="2400" dirty="0" err="1">
                <a:cs typeface="Times New Roman" panose="02020603050405020304" pitchFamily="18" charset="0"/>
              </a:rPr>
              <a:t>orderBy</a:t>
            </a:r>
            <a:r>
              <a:rPr lang="en-US" sz="2400" dirty="0">
                <a:cs typeface="Times New Roman" panose="02020603050405020304" pitchFamily="18" charset="0"/>
              </a:rPr>
              <a:t>(‘</a:t>
            </a:r>
            <a:r>
              <a:rPr lang="en-US" sz="2400" dirty="0" err="1">
                <a:cs typeface="Times New Roman" panose="02020603050405020304" pitchFamily="18" charset="0"/>
              </a:rPr>
              <a:t>column_name</a:t>
            </a:r>
            <a:r>
              <a:rPr lang="en-US" sz="2400" dirty="0">
                <a:cs typeface="Times New Roman" panose="02020603050405020304" pitchFamily="18" charset="0"/>
              </a:rPr>
              <a:t>’, ‘</a:t>
            </a:r>
            <a:r>
              <a:rPr lang="en-US" sz="2400" dirty="0" err="1">
                <a:cs typeface="Times New Roman" panose="02020603050405020304" pitchFamily="18" charset="0"/>
              </a:rPr>
              <a:t>asc</a:t>
            </a:r>
            <a:r>
              <a:rPr lang="en-US" sz="2400" dirty="0">
                <a:cs typeface="Times New Roman" panose="02020603050405020304" pitchFamily="18" charset="0"/>
              </a:rPr>
              <a:t>’/’desc’)</a:t>
            </a:r>
          </a:p>
          <a:p>
            <a:pPr marL="0" indent="0">
              <a:buNone/>
            </a:pPr>
            <a:r>
              <a:rPr lang="en-US" sz="2400" dirty="0">
                <a:cs typeface="Times New Roman" panose="02020603050405020304" pitchFamily="18" charset="0"/>
              </a:rPr>
              <a:t>The first argument accepted by the </a:t>
            </a:r>
            <a:r>
              <a:rPr lang="en-US" sz="2400" dirty="0" err="1">
                <a:cs typeface="Times New Roman" panose="02020603050405020304" pitchFamily="18" charset="0"/>
              </a:rPr>
              <a:t>orderBy</a:t>
            </a:r>
            <a:r>
              <a:rPr lang="en-US" sz="2400" dirty="0">
                <a:cs typeface="Times New Roman" panose="02020603050405020304" pitchFamily="18" charset="0"/>
              </a:rPr>
              <a:t> method should be the column you wish to sort by.</a:t>
            </a:r>
          </a:p>
          <a:p>
            <a:pPr marL="0" indent="0">
              <a:buNone/>
            </a:pPr>
            <a:r>
              <a:rPr lang="en-US" sz="2400" dirty="0">
                <a:cs typeface="Times New Roman" panose="02020603050405020304" pitchFamily="18" charset="0"/>
              </a:rPr>
              <a:t>The second argument determines the direction of the sort and may be either </a:t>
            </a:r>
            <a:r>
              <a:rPr lang="en-US" sz="2400" dirty="0" err="1">
                <a:cs typeface="Times New Roman" panose="02020603050405020304" pitchFamily="18" charset="0"/>
              </a:rPr>
              <a:t>asc</a:t>
            </a:r>
            <a:r>
              <a:rPr lang="en-US" sz="2400" dirty="0">
                <a:cs typeface="Times New Roman" panose="02020603050405020304" pitchFamily="18" charset="0"/>
              </a:rPr>
              <a:t> or desc.</a:t>
            </a:r>
          </a:p>
          <a:p>
            <a:pPr marL="0" indent="0">
              <a:buNone/>
            </a:pPr>
            <a:r>
              <a:rPr lang="en-US" sz="2400" dirty="0">
                <a:cs typeface="Times New Roman" panose="02020603050405020304" pitchFamily="18" charset="0"/>
              </a:rPr>
              <a:t>Example:-</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orderBy</a:t>
            </a:r>
            <a:r>
              <a:rPr lang="en-US" sz="2400" dirty="0">
                <a:cs typeface="Times New Roman" panose="02020603050405020304" pitchFamily="18" charset="0"/>
              </a:rPr>
              <a:t>(‘name’, ‘desc’)</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48615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orderBy</a:t>
            </a:r>
            <a:r>
              <a:rPr lang="en-US" b="1" u="sng" dirty="0">
                <a:latin typeface="Times New Roman" panose="02020603050405020304" pitchFamily="18" charset="0"/>
                <a:cs typeface="Times New Roman" panose="02020603050405020304" pitchFamily="18" charset="0"/>
              </a:rPr>
              <a:t>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To sort by multiple columns, you may simply invoke </a:t>
            </a:r>
            <a:r>
              <a:rPr lang="en-US" sz="2400" dirty="0" err="1">
                <a:latin typeface="Times New Roman" panose="02020603050405020304" pitchFamily="18" charset="0"/>
                <a:cs typeface="Times New Roman" panose="02020603050405020304" pitchFamily="18" charset="0"/>
              </a:rPr>
              <a:t>orderBy</a:t>
            </a:r>
            <a:r>
              <a:rPr lang="en-US" sz="2400" dirty="0">
                <a:latin typeface="Times New Roman" panose="02020603050405020304" pitchFamily="18" charset="0"/>
                <a:cs typeface="Times New Roman" panose="02020603050405020304" pitchFamily="18" charset="0"/>
              </a:rPr>
              <a:t> as many times as necessary.</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orderBy</a:t>
            </a:r>
            <a:r>
              <a:rPr lang="en-US" sz="2400" dirty="0">
                <a:cs typeface="Times New Roman" panose="02020603050405020304" pitchFamily="18" charset="0"/>
              </a:rPr>
              <a:t>(‘name’, ‘desc’)</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orderBy</a:t>
            </a:r>
            <a:r>
              <a:rPr lang="en-US" sz="2400" dirty="0">
                <a:cs typeface="Times New Roman" panose="02020603050405020304" pitchFamily="18" charset="0"/>
              </a:rPr>
              <a:t>(‘email’, ‘</a:t>
            </a:r>
            <a:r>
              <a:rPr lang="en-US" sz="2400" dirty="0" err="1">
                <a:cs typeface="Times New Roman" panose="02020603050405020304" pitchFamily="18" charset="0"/>
              </a:rPr>
              <a:t>asc</a:t>
            </a:r>
            <a:r>
              <a:rPr lang="en-US" sz="2400" dirty="0">
                <a:cs typeface="Times New Roman" panose="02020603050405020304" pitchFamily="18" charset="0"/>
              </a:rPr>
              <a:t>’)</a:t>
            </a:r>
          </a:p>
          <a:p>
            <a:pPr marL="461963" indent="0">
              <a:buNone/>
            </a:pPr>
            <a:r>
              <a:rPr lang="en-US" sz="2400" dirty="0">
                <a:cs typeface="Times New Roman" panose="02020603050405020304" pitchFamily="18" charset="0"/>
              </a:rPr>
              <a:t>-&gt;get();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66361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latest &amp; oldest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latest and oldest methods allow you to easily order results by date. By default, the result will be ordered by the table's </a:t>
            </a:r>
            <a:r>
              <a:rPr lang="en-US" sz="2400" dirty="0" err="1">
                <a:latin typeface="Times New Roman" panose="02020603050405020304" pitchFamily="18" charset="0"/>
                <a:cs typeface="Times New Roman" panose="02020603050405020304" pitchFamily="18" charset="0"/>
              </a:rPr>
              <a:t>created_at</a:t>
            </a:r>
            <a:r>
              <a:rPr lang="en-US" sz="2400" dirty="0">
                <a:latin typeface="Times New Roman" panose="02020603050405020304" pitchFamily="18" charset="0"/>
                <a:cs typeface="Times New Roman" panose="02020603050405020304" pitchFamily="18" charset="0"/>
              </a:rPr>
              <a:t> column. Or, you may pass the column name that you wish to sort by.</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-&gt;latest(‘</a:t>
            </a:r>
            <a:r>
              <a:rPr lang="en-US" sz="2400" dirty="0" err="1">
                <a:cs typeface="Times New Roman" panose="02020603050405020304" pitchFamily="18" charset="0"/>
              </a:rPr>
              <a:t>pass_date</a:t>
            </a:r>
            <a:r>
              <a:rPr lang="en-US" sz="2400" dirty="0">
                <a:cs typeface="Times New Roman" panose="02020603050405020304" pitchFamily="18" charset="0"/>
              </a:rPr>
              <a:t>’)</a:t>
            </a:r>
          </a:p>
          <a:p>
            <a:pPr marL="461963" indent="0">
              <a:buNone/>
            </a:pPr>
            <a:r>
              <a:rPr lang="en-US" sz="2400" dirty="0">
                <a:cs typeface="Times New Roman" panose="02020603050405020304" pitchFamily="18" charset="0"/>
              </a:rPr>
              <a:t>-&gt;first();</a:t>
            </a:r>
          </a:p>
          <a:p>
            <a:pPr marL="461963"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-&gt;oldest(‘</a:t>
            </a:r>
            <a:r>
              <a:rPr lang="en-US" sz="2400" dirty="0" err="1">
                <a:cs typeface="Times New Roman" panose="02020603050405020304" pitchFamily="18" charset="0"/>
              </a:rPr>
              <a:t>pass_date</a:t>
            </a:r>
            <a:r>
              <a:rPr lang="en-US" sz="2400" dirty="0">
                <a:cs typeface="Times New Roman" panose="02020603050405020304" pitchFamily="18" charset="0"/>
              </a:rPr>
              <a:t>’)</a:t>
            </a:r>
          </a:p>
          <a:p>
            <a:pPr marL="461963" indent="0">
              <a:buNone/>
            </a:pPr>
            <a:r>
              <a:rPr lang="en-US" sz="2400" dirty="0">
                <a:cs typeface="Times New Roman" panose="02020603050405020304" pitchFamily="18" charset="0"/>
              </a:rPr>
              <a:t>-&gt;first();</a:t>
            </a:r>
          </a:p>
          <a:p>
            <a:pPr marL="461963"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61883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inRandomOrder</a:t>
            </a:r>
            <a:r>
              <a:rPr lang="en-US" b="1" u="sng" dirty="0">
                <a:latin typeface="Times New Roman" panose="02020603050405020304" pitchFamily="18" charset="0"/>
                <a:cs typeface="Times New Roman" panose="02020603050405020304" pitchFamily="18" charset="0"/>
              </a:rPr>
              <a:t>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inRandomOrder</a:t>
            </a:r>
            <a:r>
              <a:rPr lang="en-US" sz="2400" dirty="0">
                <a:latin typeface="Times New Roman" panose="02020603050405020304" pitchFamily="18" charset="0"/>
                <a:cs typeface="Times New Roman" panose="02020603050405020304" pitchFamily="18" charset="0"/>
              </a:rPr>
              <a:t> method may be used to sort the query results randomly.</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a:t>
            </a:r>
            <a:r>
              <a:rPr lang="en-US" sz="2400" dirty="0" err="1">
                <a:cs typeface="Times New Roman" panose="02020603050405020304" pitchFamily="18" charset="0"/>
              </a:rPr>
              <a:t>inRandomOrder</a:t>
            </a:r>
            <a:r>
              <a:rPr lang="en-US" sz="2400" dirty="0">
                <a:cs typeface="Times New Roman" panose="02020603050405020304" pitchFamily="18" charset="0"/>
              </a:rPr>
              <a:t>()</a:t>
            </a:r>
          </a:p>
          <a:p>
            <a:pPr marL="461963" indent="0">
              <a:buNone/>
            </a:pPr>
            <a:r>
              <a:rPr lang="en-US" sz="2400" dirty="0">
                <a:cs typeface="Times New Roman" panose="02020603050405020304" pitchFamily="18" charset="0"/>
              </a:rPr>
              <a:t>-&gt;first();</a:t>
            </a:r>
          </a:p>
          <a:p>
            <a:pPr marL="461963"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710857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groupBy</a:t>
            </a:r>
            <a:r>
              <a:rPr lang="en-US" b="1" u="sng" dirty="0">
                <a:latin typeface="Times New Roman" panose="02020603050405020304" pitchFamily="18" charset="0"/>
                <a:cs typeface="Times New Roman" panose="02020603050405020304" pitchFamily="18" charset="0"/>
              </a:rPr>
              <a:t> &amp; having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As you might expect, the </a:t>
            </a:r>
            <a:r>
              <a:rPr lang="en-US" sz="2400" dirty="0" err="1">
                <a:latin typeface="Times New Roman" panose="02020603050405020304" pitchFamily="18" charset="0"/>
                <a:cs typeface="Times New Roman" panose="02020603050405020304" pitchFamily="18" charset="0"/>
              </a:rPr>
              <a:t>groupBy</a:t>
            </a:r>
            <a:r>
              <a:rPr lang="en-US" sz="2400" dirty="0">
                <a:latin typeface="Times New Roman" panose="02020603050405020304" pitchFamily="18" charset="0"/>
                <a:cs typeface="Times New Roman" panose="02020603050405020304" pitchFamily="18" charset="0"/>
              </a:rPr>
              <a:t> and having methods may be used to group the query results. The having method's signature is similar to that of the where method.</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DB::table('student')-&gt;</a:t>
            </a:r>
            <a:r>
              <a:rPr lang="en-US" sz="2400" dirty="0" err="1">
                <a:cs typeface="Times New Roman" panose="02020603050405020304" pitchFamily="18" charset="0"/>
              </a:rPr>
              <a:t>groupBy</a:t>
            </a:r>
            <a:r>
              <a:rPr lang="en-US" sz="2400" dirty="0">
                <a:cs typeface="Times New Roman" panose="02020603050405020304" pitchFamily="18" charset="0"/>
              </a:rPr>
              <a:t>('marks')-&gt;having('marks', '&gt;', 50)-&gt;get();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3149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skip &amp; take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use the skip and take methods to limit the number of results returned from the query or to skip a given number of results in the query.</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-&gt;skip(3)</a:t>
            </a:r>
          </a:p>
          <a:p>
            <a:pPr marL="461963" indent="0">
              <a:buNone/>
            </a:pPr>
            <a:r>
              <a:rPr lang="en-US" sz="2400" dirty="0">
                <a:cs typeface="Times New Roman" panose="02020603050405020304" pitchFamily="18" charset="0"/>
              </a:rPr>
              <a:t>-&gt;take(5)</a:t>
            </a:r>
          </a:p>
          <a:p>
            <a:pPr marL="461963" indent="0">
              <a:buNone/>
            </a:pPr>
            <a:r>
              <a:rPr lang="en-US" sz="2400" dirty="0">
                <a:cs typeface="Times New Roman" panose="02020603050405020304" pitchFamily="18" charset="0"/>
              </a:rPr>
              <a:t>-&gt;get();</a:t>
            </a:r>
          </a:p>
          <a:p>
            <a:pPr marL="461963"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36656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offset &amp; limit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These methods are functionally equivalent to the take and skip methods, respectively.</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$students = DB::table(‘student’)</a:t>
            </a:r>
          </a:p>
          <a:p>
            <a:pPr marL="461963" indent="0">
              <a:buNone/>
            </a:pPr>
            <a:r>
              <a:rPr lang="en-US" sz="2400" dirty="0">
                <a:cs typeface="Times New Roman" panose="02020603050405020304" pitchFamily="18" charset="0"/>
              </a:rPr>
              <a:t>-&gt;offset(3)</a:t>
            </a:r>
          </a:p>
          <a:p>
            <a:pPr marL="461963" indent="0">
              <a:buNone/>
            </a:pPr>
            <a:r>
              <a:rPr lang="en-US" sz="2400" dirty="0">
                <a:cs typeface="Times New Roman" panose="02020603050405020304" pitchFamily="18" charset="0"/>
              </a:rPr>
              <a:t>-&gt;limit(5)</a:t>
            </a:r>
          </a:p>
          <a:p>
            <a:pPr marL="461963" indent="0">
              <a:buNone/>
            </a:pPr>
            <a:r>
              <a:rPr lang="en-US" sz="2400" dirty="0">
                <a:cs typeface="Times New Roman" panose="02020603050405020304" pitchFamily="18" charset="0"/>
              </a:rPr>
              <a:t>-&gt;get();</a:t>
            </a:r>
          </a:p>
          <a:p>
            <a:pPr marL="461963"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91925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insert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query builder also provides an insert method that may be used to insert records into the database table. The insert method accepts an array of column names and values.</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DB::table(‘student’)-&gt;insert([</a:t>
            </a:r>
          </a:p>
          <a:p>
            <a:pPr marL="461963" indent="0">
              <a:buNone/>
            </a:pPr>
            <a:r>
              <a:rPr lang="en-US" sz="2400" dirty="0">
                <a:cs typeface="Times New Roman" panose="02020603050405020304" pitchFamily="18" charset="0"/>
              </a:rPr>
              <a:t>‘name’ =&gt; ‘Jack’,</a:t>
            </a:r>
          </a:p>
          <a:p>
            <a:pPr marL="461963" indent="0">
              <a:buNone/>
            </a:pPr>
            <a:r>
              <a:rPr lang="en-US" sz="2400" dirty="0">
                <a:cs typeface="Times New Roman" panose="02020603050405020304" pitchFamily="18" charset="0"/>
              </a:rPr>
              <a:t>‘email’ =&gt; ‘jack@gmail.com’,</a:t>
            </a:r>
          </a:p>
          <a:p>
            <a:pPr marL="461963" indent="0">
              <a:buNone/>
            </a:pPr>
            <a:r>
              <a:rPr lang="en-US" sz="2400" dirty="0">
                <a:cs typeface="Times New Roman" panose="02020603050405020304" pitchFamily="18" charset="0"/>
              </a:rPr>
              <a:t>‘marks’ =&gt; 70</a:t>
            </a:r>
          </a:p>
          <a:p>
            <a:pPr marL="461963"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45400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insert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You may insert several records at once by passing an array of arrays. Each array represents a record that should be inserted into the table.</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DB::table(‘student’)-&gt;insert([</a:t>
            </a:r>
          </a:p>
          <a:p>
            <a:pPr marL="461963" indent="0">
              <a:buNone/>
            </a:pPr>
            <a:r>
              <a:rPr lang="en-US" sz="2400" dirty="0">
                <a:cs typeface="Times New Roman" panose="02020603050405020304" pitchFamily="18" charset="0"/>
              </a:rPr>
              <a:t>[‘name’ =&gt; ‘Jack’, ‘email’ =&gt; ‘jack@gmail.com’, ‘marks’ =&gt; 70 ],</a:t>
            </a:r>
          </a:p>
          <a:p>
            <a:pPr marL="461963" indent="0">
              <a:buNone/>
            </a:pPr>
            <a:r>
              <a:rPr lang="en-US" sz="2400" dirty="0">
                <a:cs typeface="Times New Roman" panose="02020603050405020304" pitchFamily="18" charset="0"/>
              </a:rPr>
              <a:t>[‘name’ =&gt; ‘Suman’, ‘email’ =&gt; ‘suman@gmail.com’, ‘marks’ =&gt; 60 ],</a:t>
            </a:r>
          </a:p>
          <a:p>
            <a:pPr marL="461963"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76304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insertOrIgnore</a:t>
            </a:r>
            <a:r>
              <a:rPr lang="en-US" b="1" u="sng" dirty="0">
                <a:latin typeface="Times New Roman" panose="02020603050405020304" pitchFamily="18" charset="0"/>
                <a:cs typeface="Times New Roman" panose="02020603050405020304" pitchFamily="18" charset="0"/>
              </a:rPr>
              <a:t>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insertOrIgnore</a:t>
            </a:r>
            <a:r>
              <a:rPr lang="en-US" sz="2400" dirty="0">
                <a:latin typeface="Times New Roman" panose="02020603050405020304" pitchFamily="18" charset="0"/>
                <a:cs typeface="Times New Roman" panose="02020603050405020304" pitchFamily="18" charset="0"/>
              </a:rPr>
              <a:t> method will ignore duplicate record errors while inserting records into the database.</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DB::table(‘student’)-&gt;</a:t>
            </a:r>
            <a:r>
              <a:rPr lang="en-US" sz="2400" dirty="0" err="1">
                <a:cs typeface="Times New Roman" panose="02020603050405020304" pitchFamily="18" charset="0"/>
              </a:rPr>
              <a:t>insertOrIgnore</a:t>
            </a:r>
            <a:r>
              <a:rPr lang="en-US" sz="2400" dirty="0">
                <a:cs typeface="Times New Roman" panose="02020603050405020304" pitchFamily="18" charset="0"/>
              </a:rPr>
              <a:t>([</a:t>
            </a:r>
          </a:p>
          <a:p>
            <a:pPr marL="461963" indent="0">
              <a:buNone/>
            </a:pPr>
            <a:r>
              <a:rPr lang="en-US" sz="2400" dirty="0">
                <a:cs typeface="Times New Roman" panose="02020603050405020304" pitchFamily="18" charset="0"/>
              </a:rPr>
              <a:t>[‘id’=&gt; 1, ‘name’ =&gt; ‘Jack’, ‘email’ =&gt; ‘jack@gmail.com’, ‘marks’ =&gt; 70 ],</a:t>
            </a:r>
          </a:p>
          <a:p>
            <a:pPr marL="461963" indent="0">
              <a:buNone/>
            </a:pPr>
            <a:r>
              <a:rPr lang="en-US" sz="2400" dirty="0">
                <a:cs typeface="Times New Roman" panose="02020603050405020304" pitchFamily="18" charset="0"/>
              </a:rPr>
              <a:t>[‘id’=&gt; 3, ‘name’ =&gt; ‘Suman’, ‘email’ =&gt; ‘suman@gmail.com’, ‘marks’ =&gt; 60 ],</a:t>
            </a:r>
          </a:p>
          <a:p>
            <a:pPr marL="461963"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401674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insertGetId</a:t>
            </a:r>
            <a:r>
              <a:rPr lang="en-US" b="1" u="sng" dirty="0">
                <a:latin typeface="Times New Roman" panose="02020603050405020304" pitchFamily="18" charset="0"/>
                <a:cs typeface="Times New Roman" panose="02020603050405020304" pitchFamily="18" charset="0"/>
              </a:rPr>
              <a:t>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If the table has an auto-incrementing id, use the </a:t>
            </a:r>
            <a:r>
              <a:rPr lang="en-US" sz="2400" dirty="0" err="1">
                <a:latin typeface="Times New Roman" panose="02020603050405020304" pitchFamily="18" charset="0"/>
                <a:cs typeface="Times New Roman" panose="02020603050405020304" pitchFamily="18" charset="0"/>
              </a:rPr>
              <a:t>insertGetId</a:t>
            </a:r>
            <a:r>
              <a:rPr lang="en-US" sz="2400" dirty="0">
                <a:latin typeface="Times New Roman" panose="02020603050405020304" pitchFamily="18" charset="0"/>
                <a:cs typeface="Times New Roman" panose="02020603050405020304" pitchFamily="18" charset="0"/>
              </a:rPr>
              <a:t> method to insert a record and then retrieve the ID.</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$id = DB::table(‘student’)-&gt;</a:t>
            </a:r>
            <a:r>
              <a:rPr lang="en-US" sz="2400" dirty="0" err="1">
                <a:cs typeface="Times New Roman" panose="02020603050405020304" pitchFamily="18" charset="0"/>
              </a:rPr>
              <a:t>insertGetId</a:t>
            </a:r>
            <a:r>
              <a:rPr lang="en-US" sz="2400" dirty="0">
                <a:cs typeface="Times New Roman" panose="02020603050405020304" pitchFamily="18" charset="0"/>
              </a:rPr>
              <a:t>([</a:t>
            </a:r>
          </a:p>
          <a:p>
            <a:pPr marL="461963" indent="0">
              <a:buNone/>
            </a:pPr>
            <a:r>
              <a:rPr lang="en-US" sz="2400" dirty="0">
                <a:cs typeface="Times New Roman" panose="02020603050405020304" pitchFamily="18" charset="0"/>
              </a:rPr>
              <a:t>‘name’ =&gt; ‘Jack’, </a:t>
            </a:r>
          </a:p>
          <a:p>
            <a:pPr marL="461963" indent="0">
              <a:buNone/>
            </a:pPr>
            <a:r>
              <a:rPr lang="en-US" sz="2400" dirty="0">
                <a:cs typeface="Times New Roman" panose="02020603050405020304" pitchFamily="18" charset="0"/>
              </a:rPr>
              <a:t>‘email’ =&gt; ‘jack@gmail.com’, </a:t>
            </a:r>
          </a:p>
          <a:p>
            <a:pPr marL="461963" indent="0">
              <a:buNone/>
            </a:pPr>
            <a:r>
              <a:rPr lang="en-US" sz="2400" dirty="0">
                <a:cs typeface="Times New Roman" panose="02020603050405020304" pitchFamily="18" charset="0"/>
              </a:rPr>
              <a:t>‘marks’ =&gt; 70</a:t>
            </a:r>
          </a:p>
          <a:p>
            <a:pPr marL="461963"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49443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update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query builder can also update existing records using the update method. The update method, like the insert method, accepts an array of column and value pairs indicating the columns to be updated. You may constrain the update query using where clauses.</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$affected = DB::table(‘student’)-&gt;where(‘id’, 2)-&gt;update([</a:t>
            </a:r>
          </a:p>
          <a:p>
            <a:pPr marL="0" indent="0">
              <a:buNone/>
            </a:pPr>
            <a:r>
              <a:rPr lang="en-US" sz="2400" dirty="0">
                <a:cs typeface="Times New Roman" panose="02020603050405020304" pitchFamily="18" charset="0"/>
              </a:rPr>
              <a:t>	‘name’ =&gt; ‘Anu’,</a:t>
            </a:r>
          </a:p>
          <a:p>
            <a:pPr marL="0" indent="0">
              <a:buNone/>
            </a:pPr>
            <a:r>
              <a:rPr lang="en-US" sz="2400" dirty="0">
                <a:cs typeface="Times New Roman" panose="02020603050405020304" pitchFamily="18" charset="0"/>
              </a:rPr>
              <a:t>	‘email’ =&gt; ‘anu@gmail.com’</a:t>
            </a:r>
          </a:p>
          <a:p>
            <a:pPr marL="0"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60514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err="1">
                <a:latin typeface="Times New Roman" panose="02020603050405020304" pitchFamily="18" charset="0"/>
                <a:cs typeface="Times New Roman" panose="02020603050405020304" pitchFamily="18" charset="0"/>
              </a:rPr>
              <a:t>updateOrInsert</a:t>
            </a:r>
            <a:r>
              <a:rPr lang="en-US" b="1" u="sng" dirty="0">
                <a:latin typeface="Times New Roman" panose="02020603050405020304" pitchFamily="18" charset="0"/>
                <a:cs typeface="Times New Roman" panose="02020603050405020304" pitchFamily="18" charset="0"/>
              </a:rPr>
              <a:t>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Sometimes you may want to update an existing record in the database or create it if no matching record exists. </a:t>
            </a:r>
          </a:p>
          <a:p>
            <a:pPr marL="0" indent="0">
              <a:buNone/>
            </a:pPr>
            <a:r>
              <a:rPr lang="en-US" sz="2400" dirty="0">
                <a:latin typeface="Times New Roman" panose="02020603050405020304" pitchFamily="18" charset="0"/>
                <a:cs typeface="Times New Roman" panose="02020603050405020304" pitchFamily="18" charset="0"/>
              </a:rPr>
              <a:t>In this scenario, the </a:t>
            </a:r>
            <a:r>
              <a:rPr lang="en-US" sz="2400" dirty="0" err="1">
                <a:latin typeface="Times New Roman" panose="02020603050405020304" pitchFamily="18" charset="0"/>
                <a:cs typeface="Times New Roman" panose="02020603050405020304" pitchFamily="18" charset="0"/>
              </a:rPr>
              <a:t>updateOrInsert</a:t>
            </a:r>
            <a:r>
              <a:rPr lang="en-US" sz="2400" dirty="0">
                <a:latin typeface="Times New Roman" panose="02020603050405020304" pitchFamily="18" charset="0"/>
                <a:cs typeface="Times New Roman" panose="02020603050405020304" pitchFamily="18" charset="0"/>
              </a:rPr>
              <a:t> method may be used. The </a:t>
            </a:r>
            <a:r>
              <a:rPr lang="en-US" sz="2400" dirty="0" err="1">
                <a:latin typeface="Times New Roman" panose="02020603050405020304" pitchFamily="18" charset="0"/>
                <a:cs typeface="Times New Roman" panose="02020603050405020304" pitchFamily="18" charset="0"/>
              </a:rPr>
              <a:t>updateOrInsert</a:t>
            </a:r>
            <a:r>
              <a:rPr lang="en-US" sz="2400" dirty="0">
                <a:latin typeface="Times New Roman" panose="02020603050405020304" pitchFamily="18" charset="0"/>
                <a:cs typeface="Times New Roman" panose="02020603050405020304" pitchFamily="18" charset="0"/>
              </a:rPr>
              <a:t> method accepts two arguments: an array of conditions by which to find the record, and an array of column and value pairs indicating the columns to be updated.</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DB::table(‘student’)-&gt;</a:t>
            </a:r>
            <a:r>
              <a:rPr lang="en-US" sz="2400" dirty="0" err="1">
                <a:cs typeface="Times New Roman" panose="02020603050405020304" pitchFamily="18" charset="0"/>
              </a:rPr>
              <a:t>updateOrInsert</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[‘name’ =&gt; ‘Anu’,]</a:t>
            </a:r>
          </a:p>
          <a:p>
            <a:pPr marL="0" indent="0">
              <a:buNone/>
            </a:pPr>
            <a:r>
              <a:rPr lang="en-US" sz="2400" dirty="0">
                <a:cs typeface="Times New Roman" panose="02020603050405020304" pitchFamily="18" charset="0"/>
              </a:rPr>
              <a:t>	[‘email’ =&gt; ‘anu@gmail.com’]</a:t>
            </a:r>
          </a:p>
          <a:p>
            <a:pPr marL="0"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7525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delete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The query builder's delete method may be used to delete records from the table. You may constrain delete statements by adding "where" clauses before calling the delete method.</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DB::table(‘student’)-&gt;where(‘id’, 2)-&gt;delete();</a:t>
            </a:r>
          </a:p>
        </p:txBody>
      </p:sp>
    </p:spTree>
    <p:extLst>
      <p:ext uri="{BB962C8B-B14F-4D97-AF65-F5344CB8AC3E}">
        <p14:creationId xmlns:p14="http://schemas.microsoft.com/office/powerpoint/2010/main" val="277878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truncate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23470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If you wish to truncate an entire table, which will remove all records from the table and reset the auto-incrementing ID to zero, you may use the truncate method.</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DB::table(‘student’)-&gt;truncate();</a:t>
            </a:r>
          </a:p>
        </p:txBody>
      </p:sp>
    </p:spTree>
    <p:extLst>
      <p:ext uri="{BB962C8B-B14F-4D97-AF65-F5344CB8AC3E}">
        <p14:creationId xmlns:p14="http://schemas.microsoft.com/office/powerpoint/2010/main" val="46489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TotalTime>
  <Words>2675</Words>
  <Application>Microsoft Office PowerPoint</Application>
  <PresentationFormat>Widescreen</PresentationFormat>
  <Paragraphs>292</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Times New Roman</vt:lpstr>
      <vt:lpstr>Office Theme</vt:lpstr>
      <vt:lpstr>Query Builder</vt:lpstr>
      <vt:lpstr>Database Configuration</vt:lpstr>
      <vt:lpstr>Retrieving All Rows from a Table</vt:lpstr>
      <vt:lpstr>Retrieving Single Row/Column from a Table</vt:lpstr>
      <vt:lpstr>Retrieving Single Row/Column from a Table</vt:lpstr>
      <vt:lpstr>Retrieving a List of Column Values</vt:lpstr>
      <vt:lpstr>Chunking Result</vt:lpstr>
      <vt:lpstr>Aggregates</vt:lpstr>
      <vt:lpstr>Determining If Records Exist</vt:lpstr>
      <vt:lpstr>select ( ) Method</vt:lpstr>
      <vt:lpstr>distinct () Method</vt:lpstr>
      <vt:lpstr>where () Method</vt:lpstr>
      <vt:lpstr>orWhere Clause</vt:lpstr>
      <vt:lpstr>whereBetween / orWhereBetween Clause</vt:lpstr>
      <vt:lpstr>whereNotBetween / orWhereNotBetween Clause</vt:lpstr>
      <vt:lpstr>whereIn / orWhereIn Clause</vt:lpstr>
      <vt:lpstr>whereNotIn / orWhereNotIn Clause</vt:lpstr>
      <vt:lpstr>whereNull / orWhereNull Clause</vt:lpstr>
      <vt:lpstr>whereNotNull / orWhereNotNull Clause</vt:lpstr>
      <vt:lpstr>whereDate Clause</vt:lpstr>
      <vt:lpstr>whereMonth Clause</vt:lpstr>
      <vt:lpstr>whereDay Clause</vt:lpstr>
      <vt:lpstr>whereYear Clause</vt:lpstr>
      <vt:lpstr>whereTime Clause</vt:lpstr>
      <vt:lpstr>whereColumn / orWhereColumn Clause</vt:lpstr>
      <vt:lpstr>orderBy Method</vt:lpstr>
      <vt:lpstr>orderBy Method</vt:lpstr>
      <vt:lpstr>latest &amp; oldest Method</vt:lpstr>
      <vt:lpstr>inRandomOrder Method</vt:lpstr>
      <vt:lpstr>groupBy &amp; having Method</vt:lpstr>
      <vt:lpstr>skip &amp; take Method</vt:lpstr>
      <vt:lpstr>offset &amp; limit Method</vt:lpstr>
      <vt:lpstr>insert () Method</vt:lpstr>
      <vt:lpstr>insert () Method</vt:lpstr>
      <vt:lpstr>insertOrIgnore () Method</vt:lpstr>
      <vt:lpstr>insertGetId () Method</vt:lpstr>
      <vt:lpstr>update () Method</vt:lpstr>
      <vt:lpstr>updateOrInsert () Method</vt:lpstr>
      <vt:lpstr>delete () Method</vt:lpstr>
      <vt:lpstr>truncate ()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173</cp:revision>
  <dcterms:created xsi:type="dcterms:W3CDTF">2020-01-16T07:28:28Z</dcterms:created>
  <dcterms:modified xsi:type="dcterms:W3CDTF">2021-04-04T17:16:15Z</dcterms:modified>
</cp:coreProperties>
</file>